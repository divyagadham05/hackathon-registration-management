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Backend engineering is the server-side work that accepts requests, applies business rules, stores data, and connects to other systems. System design is the planning of how these pieces work together. In this example, a search travels from the shopper’s browser through an API to a backend service. The service can use a cache for a quick answer or read the product database, then return results to the browser. The arrows show request and response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monolith packages most application capabilities into one deployment. That makes early development easier, but the whole application is typically released and scaled together. Microservices split capabilities into independently operated services; they can scale and change separately, but communication and operations become harder. Serverless means the cloud provider manages the servers beneath functions or managed services. Servers still exist; the team simply manages less of them directly. Many small applications should begin with a well-structured monolith and split only when there is a clear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gateway is an entry point that routes requests and can apply shared controls such as authentication checks or rate limits. The order service handles the order rules and uses databases for durable records. Synchronous HTTP is useful when the shopper needs an answer immediately. A queue decouples the request from work that can happen later, such as a confirmation email or fulfilment task. Separation of concerns keeps each component focused, while security and reliability must be designed into every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Vertical scaling gives one server more resources, while horizontal scaling adds more servers. A load balancer routes requests to healthy application copies. A cache stores frequently used data close to the application, reducing repeat database reads. SQL is a good fit for relational data and transaction requirements; NoSQL can fit flexible records or access patterns that need horizontal distribution. Queues absorb bursts so background work can catch up. Replicas help availability and read scale, but backups are still necessary. Timeouts and careful retries prevent one slow dependency from consuming all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online shop needs a catalogue to describe items, search to find them, inventory to know what can be sold, a cart to remember the shopper’s intent, checkout to validate and collect payment, and order management to track what happens next. External payment and delivery providers connect through APIs. A queue lets work such as fulfilment and notifications continue after the customer receives an immediate confirmation. This diagram is intentionally illustrative: it is not an assertion about Amazon’s internal service boundaries or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begins with product discovery and moves to cart and checkout. The backend must validate price and inventory again at checkout because either may have changed since the product page loaded. An idempotency key identifies a logical checkout attempt, so repeating the same request after a timeout does not accidentally create another order or charge. Payment can be declined or become uncertain if a provider times out, so the system must check the result before repeating a side effect. After the order is recorded, events can trigger fulfilment and customer updates.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 sales events create sudden bursts of requests, but static product images and application code do not need to be served by the same backend path as checkout. A CDN caches eligible static assets near users, which can reduce origin traffic and improve response time. Load balancing and horizontal scaling add capacity to application services. Caches reduce repeated reads; indexes and replicas can help databases; queues buffer work that does not need to complete before the customer gets a response. Rate limiting and backpressure protect overloaded services. This is a conceptual design, not a claim about Amazon’s private implementation or event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distributed system can keep working when it has redundant healthy instances, clear health checks, and a way to isolate dependencies that are slow or unavailable. Timeouts stop requests from waiting forever. Retries should be bounded and spaced out with backoff; circuit breakers temporarily stop calls to a failing dependency. Monitoring helps teams detect and recover from incidents, and disaster recovery should be practiced. The Amazon Builders’ Library publicly describes guidance on timeouts, retries, backoff, and idempotency; Amazon’s 2007 Dynamo paper is a historical published design. Neither source verifies that the illustrative diagrams in this deck match Amazon’s current private production architecture. The main lesson is to choose the simplest design that meets the requirements, then make its failure modes understandable and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8F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ws.amazon.com/builders-library/timeouts-retries-and-backoff-with-jitter/" TargetMode="External"/><Relationship Id="rId2" Type="http://schemas.openxmlformats.org/officeDocument/2006/relationships/hyperlink" Target="https://aws.amazon.com/builders-library/timeouts-retries-and-backoff-with-jitter/" TargetMode="External"/><Relationship Id="rId3" Type="http://schemas.openxmlformats.org/officeDocument/2006/relationships/hyperlink" Target="https://docs.aws.amazon.com/wellarchitected/latest/reliability-pillar/welcome.html" TargetMode="External"/><Relationship Id="rId4" Type="http://schemas.openxmlformats.org/officeDocument/2006/relationships/hyperlink" Target="https://docs.aws.amazon.com/wellarchitected/latest/reliability-pillar/welcome.html" TargetMode="External"/><Relationship Id="rId5" Type="http://schemas.openxmlformats.org/officeDocument/2006/relationships/hyperlink" Target="https://www.allthingsdistributed.com/files/amazon-dynamo-sosp2007.pdf" TargetMode="External"/><Relationship Id="rId6" Type="http://schemas.openxmlformats.org/officeDocument/2006/relationships/hyperlink" Target="https://www.allthingsdistributed.com/files/amazon-dynamo-sosp2007.pdf" TargetMode="External"/><Relationship Id="rId7" Type="http://schemas.openxmlformats.org/officeDocument/2006/relationships/hyperlink" Target="https://docs.aws.amazon.com/AmazonCloudFront/latest/DeveloperGuide/Introduction.html" TargetMode="External"/><Relationship Id="rId8" Type="http://schemas.openxmlformats.org/officeDocument/2006/relationships/hyperlink" Target="https://docs.aws.amazon.com/AmazonCloudFront/latest/DeveloperGuide/Introduction.html" TargetMode="External"/><Relationship Id="rId9" Type="http://schemas.openxmlformats.org/officeDocument/2006/relationships/hyperlink" Target="https://docs.aws.amazon.com/AWSSimpleQueueService/latest/SQSDeveloperGuide/welcome.html" TargetMode="External"/><Relationship Id="rId10" Type="http://schemas.openxmlformats.org/officeDocument/2006/relationships/hyperlink" Target="https://docs.aws.amazon.com/AWSSimpleQueueService/latest/SQSDeveloperGuide/welcome.html" TargetMode="External"/><Relationship Id="rId11" Type="http://schemas.openxmlformats.org/officeDocument/2006/relationships/slideLayout" Target="../slideLayouts/slideLayout2.xml"/><Relationship Id="rId1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INTRODUCTION  •  BEGINNER GUIDE</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1850" b="1" dirty="0">
                <a:solidFill>
                  <a:srgbClr val="14253D"/>
                </a:solidFill>
                <a:latin typeface="Aptos" pitchFamily="34" charset="0"/>
                <a:ea typeface="Aptos" pitchFamily="34" charset="-122"/>
                <a:cs typeface="Aptos" pitchFamily="34" charset="-120"/>
              </a:rPr>
              <a:t>Backend Architecture and System Design: An Amazon E-Commerce Case Study</a:t>
            </a:r>
            <a:endParaRPr lang="en-US" sz="185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01  /  Backend architecture: what happens after a customer taps Search?</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01 / 08</a:t>
            </a:r>
            <a:endParaRPr lang="en-US" sz="760" dirty="0"/>
          </a:p>
        </p:txBody>
      </p:sp>
      <p:sp>
        <p:nvSpPr>
          <p:cNvPr id="9" name="Shape 7"/>
          <p:cNvSpPr/>
          <p:nvPr/>
        </p:nvSpPr>
        <p:spPr>
          <a:xfrm>
            <a:off x="566928" y="1444752"/>
            <a:ext cx="3675888" cy="2048256"/>
          </a:xfrm>
          <a:prstGeom prst="roundRect">
            <a:avLst>
              <a:gd name="adj" fmla="val 3571"/>
            </a:avLst>
          </a:prstGeom>
          <a:solidFill>
            <a:srgbClr val="FFFFFF"/>
          </a:solidFill>
          <a:ln w="10160">
            <a:solidFill>
              <a:srgbClr val="D7E0EC"/>
            </a:solidFill>
            <a:prstDash val="solid"/>
          </a:ln>
        </p:spPr>
      </p:sp>
      <p:sp>
        <p:nvSpPr>
          <p:cNvPr id="10" name="Shape 8"/>
          <p:cNvSpPr/>
          <p:nvPr/>
        </p:nvSpPr>
        <p:spPr>
          <a:xfrm>
            <a:off x="576072" y="1554480"/>
            <a:ext cx="41148" cy="1828800"/>
          </a:xfrm>
          <a:prstGeom prst="rect">
            <a:avLst/>
          </a:prstGeom>
          <a:solidFill>
            <a:srgbClr val="2367D1"/>
          </a:solidFill>
          <a:ln w="12700">
            <a:solidFill>
              <a:srgbClr val="2367D1">
                <a:alpha val="0"/>
              </a:srgbClr>
            </a:solidFill>
            <a:prstDash val="solid"/>
          </a:ln>
        </p:spPr>
      </p:sp>
      <p:sp>
        <p:nvSpPr>
          <p:cNvPr id="11" name="Text 9"/>
          <p:cNvSpPr txBox="1"/>
          <p:nvPr/>
        </p:nvSpPr>
        <p:spPr>
          <a:xfrm>
            <a:off x="722376" y="1536192"/>
            <a:ext cx="3383280" cy="274320"/>
          </a:xfrm>
          <a:prstGeom prst="rect">
            <a:avLst/>
          </a:prstGeom>
          <a:noFill/>
          <a:ln/>
        </p:spPr>
        <p:txBody>
          <a:bodyPr wrap="square" lIns="508" tIns="508" rIns="508" bIns="508" rtlCol="0" anchor="ctr">
            <a:normAutofit/>
          </a:bodyPr>
          <a:lstStyle/>
          <a:p>
            <a:pPr algn="l" indent="0" marL="0">
              <a:buNone/>
            </a:pPr>
            <a:r>
              <a:rPr lang="en-US" sz="1200" b="1" dirty="0">
                <a:solidFill>
                  <a:srgbClr val="14253D"/>
                </a:solidFill>
                <a:latin typeface="Aptos" pitchFamily="34" charset="0"/>
                <a:ea typeface="Aptos" pitchFamily="34" charset="-122"/>
                <a:cs typeface="Aptos" pitchFamily="34" charset="-120"/>
              </a:rPr>
              <a:t>Two ideas, one system</a:t>
            </a:r>
            <a:endParaRPr lang="en-US" sz="1200" dirty="0"/>
          </a:p>
        </p:txBody>
      </p:sp>
      <p:sp>
        <p:nvSpPr>
          <p:cNvPr id="12" name="Text 10"/>
          <p:cNvSpPr txBox="1"/>
          <p:nvPr/>
        </p:nvSpPr>
        <p:spPr>
          <a:xfrm>
            <a:off x="722376" y="1883664"/>
            <a:ext cx="3383280" cy="1499616"/>
          </a:xfrm>
          <a:prstGeom prst="rect">
            <a:avLst/>
          </a:prstGeom>
          <a:noFill/>
          <a:ln/>
        </p:spPr>
        <p:txBody>
          <a:bodyPr wrap="square" lIns="254" tIns="254" rIns="254" bIns="254" rtlCol="0" anchor="t">
            <a:normAutofit/>
          </a:bodyPr>
          <a:lstStyle/>
          <a:p>
            <a:pPr algn="l" indent="0" marL="0">
              <a:buNone/>
            </a:pPr>
            <a:r>
              <a:rPr lang="en-US" sz="1120" dirty="0">
                <a:solidFill>
                  <a:srgbClr val="566A83"/>
                </a:solidFill>
                <a:latin typeface="Aptos" pitchFamily="34" charset="0"/>
                <a:ea typeface="Aptos" pitchFamily="34" charset="-122"/>
                <a:cs typeface="Aptos" pitchFamily="34" charset="-120"/>
              </a:rPr>
              <a:t>•  Backend engineering builds the server-side logic, data access, and integrations.</a:t>
            </a:r>
            <a:endParaRPr lang="en-US" sz="1120" dirty="0"/>
          </a:p>
          <a:p>
            <a:pPr algn="l" indent="0" marL="0">
              <a:buNone/>
            </a:pPr>
            <a:r>
              <a:rPr lang="en-US" sz="1120" dirty="0">
                <a:solidFill>
                  <a:srgbClr val="566A83"/>
                </a:solidFill>
                <a:latin typeface="Aptos" pitchFamily="34" charset="0"/>
                <a:ea typeface="Aptos" pitchFamily="34" charset="-122"/>
                <a:cs typeface="Aptos" pitchFamily="34" charset="-120"/>
              </a:rPr>
              <a:t>•  System design decides how parts fit together to meet goals such as speed, safety, and growth.</a:t>
            </a:r>
            <a:endParaRPr lang="en-US" sz="1120" dirty="0"/>
          </a:p>
        </p:txBody>
      </p:sp>
      <p:sp>
        <p:nvSpPr>
          <p:cNvPr id="13" name="Shape 11"/>
          <p:cNvSpPr/>
          <p:nvPr/>
        </p:nvSpPr>
        <p:spPr>
          <a:xfrm>
            <a:off x="566928" y="3657600"/>
            <a:ext cx="3675888" cy="2331720"/>
          </a:xfrm>
          <a:prstGeom prst="roundRect">
            <a:avLst>
              <a:gd name="adj" fmla="val 3137"/>
            </a:avLst>
          </a:prstGeom>
          <a:solidFill>
            <a:srgbClr val="FFF3E2"/>
          </a:solidFill>
          <a:ln w="10160">
            <a:solidFill>
              <a:srgbClr val="D7E0EC"/>
            </a:solidFill>
            <a:prstDash val="solid"/>
          </a:ln>
        </p:spPr>
      </p:sp>
      <p:sp>
        <p:nvSpPr>
          <p:cNvPr id="14" name="Shape 12"/>
          <p:cNvSpPr/>
          <p:nvPr/>
        </p:nvSpPr>
        <p:spPr>
          <a:xfrm>
            <a:off x="576072" y="3767328"/>
            <a:ext cx="41148" cy="2112264"/>
          </a:xfrm>
          <a:prstGeom prst="rect">
            <a:avLst/>
          </a:prstGeom>
          <a:solidFill>
            <a:srgbClr val="F2A341"/>
          </a:solidFill>
          <a:ln w="12700">
            <a:solidFill>
              <a:srgbClr val="F2A341">
                <a:alpha val="0"/>
              </a:srgbClr>
            </a:solidFill>
            <a:prstDash val="solid"/>
          </a:ln>
        </p:spPr>
      </p:sp>
      <p:sp>
        <p:nvSpPr>
          <p:cNvPr id="15" name="Text 13"/>
          <p:cNvSpPr txBox="1"/>
          <p:nvPr/>
        </p:nvSpPr>
        <p:spPr>
          <a:xfrm>
            <a:off x="722376" y="3749040"/>
            <a:ext cx="3383280" cy="274320"/>
          </a:xfrm>
          <a:prstGeom prst="rect">
            <a:avLst/>
          </a:prstGeom>
          <a:noFill/>
          <a:ln/>
        </p:spPr>
        <p:txBody>
          <a:bodyPr wrap="square" lIns="508" tIns="508" rIns="508" bIns="508" rtlCol="0" anchor="ctr">
            <a:normAutofit/>
          </a:bodyPr>
          <a:lstStyle/>
          <a:p>
            <a:pPr algn="l" indent="0" marL="0">
              <a:buNone/>
            </a:pPr>
            <a:r>
              <a:rPr lang="en-US" sz="1200" b="1" dirty="0">
                <a:solidFill>
                  <a:srgbClr val="14253D"/>
                </a:solidFill>
                <a:latin typeface="Aptos" pitchFamily="34" charset="0"/>
                <a:ea typeface="Aptos" pitchFamily="34" charset="-122"/>
                <a:cs typeface="Aptos" pitchFamily="34" charset="-120"/>
              </a:rPr>
              <a:t>Search example</a:t>
            </a:r>
            <a:endParaRPr lang="en-US" sz="1200" dirty="0"/>
          </a:p>
        </p:txBody>
      </p:sp>
      <p:sp>
        <p:nvSpPr>
          <p:cNvPr id="16" name="Text 14"/>
          <p:cNvSpPr txBox="1"/>
          <p:nvPr/>
        </p:nvSpPr>
        <p:spPr>
          <a:xfrm>
            <a:off x="722376" y="4114800"/>
            <a:ext cx="3383280" cy="1764792"/>
          </a:xfrm>
          <a:prstGeom prst="rect">
            <a:avLst/>
          </a:prstGeom>
          <a:noFill/>
          <a:ln/>
        </p:spPr>
        <p:txBody>
          <a:bodyPr wrap="square" lIns="254" tIns="254" rIns="254" bIns="254" rtlCol="0" anchor="t">
            <a:normAutofit/>
          </a:bodyPr>
          <a:lstStyle/>
          <a:p>
            <a:pPr algn="l" indent="0" marL="0">
              <a:buNone/>
            </a:pPr>
            <a:r>
              <a:rPr lang="en-US" sz="1100" dirty="0">
                <a:solidFill>
                  <a:srgbClr val="566A83"/>
                </a:solidFill>
                <a:latin typeface="Aptos" pitchFamily="34" charset="0"/>
                <a:ea typeface="Aptos" pitchFamily="34" charset="-122"/>
                <a:cs typeface="Aptos" pitchFamily="34" charset="-120"/>
              </a:rPr>
              <a:t>A shopper searches “wireless headphones”. The browser sends a request to an API; backend code checks cached or stored product data, then returns matching results as JSON.</a:t>
            </a:r>
            <a:endParaRPr lang="en-US" sz="1100" dirty="0"/>
          </a:p>
        </p:txBody>
      </p:sp>
      <p:sp>
        <p:nvSpPr>
          <p:cNvPr id="17" name="Shape 15"/>
          <p:cNvSpPr/>
          <p:nvPr/>
        </p:nvSpPr>
        <p:spPr>
          <a:xfrm>
            <a:off x="4462272" y="1463040"/>
            <a:ext cx="7159752" cy="4544568"/>
          </a:xfrm>
          <a:prstGeom prst="roundRect">
            <a:avLst>
              <a:gd name="adj" fmla="val 1610"/>
            </a:avLst>
          </a:prstGeom>
          <a:solidFill>
            <a:srgbClr val="FFFFFF"/>
          </a:solidFill>
          <a:ln w="10160">
            <a:solidFill>
              <a:srgbClr val="D7E0EC"/>
            </a:solidFill>
            <a:prstDash val="solid"/>
          </a:ln>
        </p:spPr>
      </p:sp>
      <p:sp>
        <p:nvSpPr>
          <p:cNvPr id="18" name="Text 16"/>
          <p:cNvSpPr txBox="1"/>
          <p:nvPr/>
        </p:nvSpPr>
        <p:spPr>
          <a:xfrm>
            <a:off x="4709160" y="1664208"/>
            <a:ext cx="1143000" cy="201168"/>
          </a:xfrm>
          <a:prstGeom prst="rect">
            <a:avLst/>
          </a:prstGeom>
          <a:noFill/>
          <a:ln/>
        </p:spPr>
        <p:txBody>
          <a:bodyPr wrap="square" lIns="508" tIns="508" rIns="508" bIns="508" rtlCol="0" anchor="ctr">
            <a:normAutofit/>
          </a:bodyPr>
          <a:lstStyle/>
          <a:p>
            <a:pPr algn="l" indent="0" marL="0">
              <a:buNone/>
            </a:pPr>
            <a:r>
              <a:rPr lang="en-US" sz="850" b="1" dirty="0">
                <a:solidFill>
                  <a:srgbClr val="2367D1"/>
                </a:solidFill>
                <a:latin typeface="Aptos" pitchFamily="34" charset="0"/>
                <a:ea typeface="Aptos" pitchFamily="34" charset="-122"/>
                <a:cs typeface="Aptos" pitchFamily="34" charset="-120"/>
              </a:rPr>
              <a:t>REQUEST →</a:t>
            </a:r>
            <a:endParaRPr lang="en-US" sz="850" dirty="0"/>
          </a:p>
        </p:txBody>
      </p:sp>
      <p:sp>
        <p:nvSpPr>
          <p:cNvPr id="19" name="Text 17"/>
          <p:cNvSpPr txBox="1"/>
          <p:nvPr/>
        </p:nvSpPr>
        <p:spPr>
          <a:xfrm>
            <a:off x="5879592" y="1664208"/>
            <a:ext cx="2697480" cy="201168"/>
          </a:xfrm>
          <a:prstGeom prst="rect">
            <a:avLst/>
          </a:prstGeom>
          <a:noFill/>
          <a:ln/>
        </p:spPr>
        <p:txBody>
          <a:bodyPr wrap="square" lIns="508" tIns="508" rIns="508" bIns="508" rtlCol="0" anchor="ctr">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GET /products?q=headphones</a:t>
            </a:r>
            <a:endParaRPr lang="en-US" sz="850" dirty="0"/>
          </a:p>
        </p:txBody>
      </p:sp>
      <p:sp>
        <p:nvSpPr>
          <p:cNvPr id="20" name="Shape 18"/>
          <p:cNvSpPr/>
          <p:nvPr/>
        </p:nvSpPr>
        <p:spPr>
          <a:xfrm>
            <a:off x="5605272" y="2871216"/>
            <a:ext cx="173736" cy="914"/>
          </a:xfrm>
          <a:prstGeom prst="line">
            <a:avLst/>
          </a:prstGeom>
          <a:noFill/>
          <a:ln w="17780">
            <a:solidFill>
              <a:srgbClr val="2367D1"/>
            </a:solidFill>
            <a:prstDash val="solid"/>
            <a:headEnd type="none"/>
            <a:tailEnd type="triangle"/>
          </a:ln>
        </p:spPr>
      </p:sp>
      <p:sp>
        <p:nvSpPr>
          <p:cNvPr id="21" name="Shape 19"/>
          <p:cNvSpPr/>
          <p:nvPr/>
        </p:nvSpPr>
        <p:spPr>
          <a:xfrm>
            <a:off x="6885432" y="2871216"/>
            <a:ext cx="210312" cy="914"/>
          </a:xfrm>
          <a:prstGeom prst="line">
            <a:avLst/>
          </a:prstGeom>
          <a:noFill/>
          <a:ln w="17780">
            <a:solidFill>
              <a:srgbClr val="2367D1"/>
            </a:solidFill>
            <a:prstDash val="solid"/>
            <a:headEnd type="none"/>
            <a:tailEnd type="triangle"/>
          </a:ln>
        </p:spPr>
      </p:sp>
      <p:sp>
        <p:nvSpPr>
          <p:cNvPr id="22" name="Shape 20"/>
          <p:cNvSpPr/>
          <p:nvPr/>
        </p:nvSpPr>
        <p:spPr>
          <a:xfrm>
            <a:off x="7955280" y="2871216"/>
            <a:ext cx="219456" cy="914"/>
          </a:xfrm>
          <a:prstGeom prst="line">
            <a:avLst/>
          </a:prstGeom>
          <a:noFill/>
          <a:ln w="17780">
            <a:solidFill>
              <a:srgbClr val="2367D1"/>
            </a:solidFill>
            <a:prstDash val="solid"/>
            <a:headEnd type="none"/>
            <a:tailEnd type="triangle"/>
          </a:ln>
        </p:spPr>
      </p:sp>
      <p:sp>
        <p:nvSpPr>
          <p:cNvPr id="23" name="Shape 21"/>
          <p:cNvSpPr/>
          <p:nvPr/>
        </p:nvSpPr>
        <p:spPr>
          <a:xfrm>
            <a:off x="9482328" y="2871216"/>
            <a:ext cx="274320" cy="914"/>
          </a:xfrm>
          <a:prstGeom prst="line">
            <a:avLst/>
          </a:prstGeom>
          <a:noFill/>
          <a:ln w="17780">
            <a:solidFill>
              <a:srgbClr val="2367D1"/>
            </a:solidFill>
            <a:prstDash val="solid"/>
            <a:headEnd type="none"/>
            <a:tailEnd type="triangle"/>
          </a:ln>
        </p:spPr>
      </p:sp>
      <p:sp>
        <p:nvSpPr>
          <p:cNvPr id="24" name="Text 22"/>
          <p:cNvSpPr txBox="1"/>
          <p:nvPr/>
        </p:nvSpPr>
        <p:spPr>
          <a:xfrm>
            <a:off x="9180576" y="2633472"/>
            <a:ext cx="932688" cy="201168"/>
          </a:xfrm>
          <a:prstGeom prst="rect">
            <a:avLst/>
          </a:prstGeom>
          <a:noFill/>
          <a:ln/>
        </p:spPr>
        <p:txBody>
          <a:bodyPr wrap="square" lIns="508" tIns="508" rIns="508" bIns="508" rtlCol="0" anchor="ctr">
            <a:normAutofit/>
          </a:bodyPr>
          <a:lstStyle/>
          <a:p>
            <a:pPr algn="ctr" indent="0" marL="0">
              <a:buNone/>
            </a:pPr>
            <a:r>
              <a:rPr lang="en-US" sz="770" dirty="0">
                <a:solidFill>
                  <a:srgbClr val="566A83"/>
                </a:solidFill>
                <a:latin typeface="Aptos" pitchFamily="34" charset="0"/>
                <a:ea typeface="Aptos" pitchFamily="34" charset="-122"/>
                <a:cs typeface="Aptos" pitchFamily="34" charset="-120"/>
              </a:rPr>
              <a:t>optional call</a:t>
            </a:r>
            <a:endParaRPr lang="en-US" sz="770" dirty="0"/>
          </a:p>
        </p:txBody>
      </p:sp>
      <p:sp>
        <p:nvSpPr>
          <p:cNvPr id="25" name="Shape 23"/>
          <p:cNvSpPr/>
          <p:nvPr/>
        </p:nvSpPr>
        <p:spPr>
          <a:xfrm>
            <a:off x="4736592" y="2377440"/>
            <a:ext cx="868680" cy="978408"/>
          </a:xfrm>
          <a:prstGeom prst="roundRect">
            <a:avLst>
              <a:gd name="adj" fmla="val 8421"/>
            </a:avLst>
          </a:prstGeom>
          <a:solidFill>
            <a:srgbClr val="E8F0FE"/>
          </a:solidFill>
          <a:ln w="10160">
            <a:solidFill>
              <a:srgbClr val="D7E0EC"/>
            </a:solidFill>
            <a:prstDash val="solid"/>
          </a:ln>
        </p:spPr>
      </p:sp>
      <p:sp>
        <p:nvSpPr>
          <p:cNvPr id="26" name="Shape 24"/>
          <p:cNvSpPr/>
          <p:nvPr/>
        </p:nvSpPr>
        <p:spPr>
          <a:xfrm>
            <a:off x="4754880" y="2468880"/>
            <a:ext cx="41148" cy="795528"/>
          </a:xfrm>
          <a:prstGeom prst="rect">
            <a:avLst/>
          </a:prstGeom>
          <a:solidFill>
            <a:srgbClr val="31445D"/>
          </a:solidFill>
          <a:ln w="12700">
            <a:solidFill>
              <a:srgbClr val="31445D">
                <a:alpha val="0"/>
              </a:srgbClr>
            </a:solidFill>
            <a:prstDash val="solid"/>
          </a:ln>
        </p:spPr>
      </p:sp>
      <p:sp>
        <p:nvSpPr>
          <p:cNvPr id="27" name="Text 25"/>
          <p:cNvSpPr txBox="1"/>
          <p:nvPr/>
        </p:nvSpPr>
        <p:spPr>
          <a:xfrm>
            <a:off x="4855464" y="2450592"/>
            <a:ext cx="66751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Customer</a:t>
            </a:r>
            <a:endParaRPr lang="en-US" sz="1030" dirty="0"/>
          </a:p>
        </p:txBody>
      </p:sp>
      <p:sp>
        <p:nvSpPr>
          <p:cNvPr id="28" name="Text 26"/>
          <p:cNvSpPr txBox="1"/>
          <p:nvPr/>
        </p:nvSpPr>
        <p:spPr>
          <a:xfrm>
            <a:off x="4855464" y="2724912"/>
            <a:ext cx="667512" cy="56692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Browser / app</a:t>
            </a:r>
            <a:endParaRPr lang="en-US" sz="850" dirty="0"/>
          </a:p>
        </p:txBody>
      </p:sp>
      <p:sp>
        <p:nvSpPr>
          <p:cNvPr id="29" name="Shape 27"/>
          <p:cNvSpPr/>
          <p:nvPr/>
        </p:nvSpPr>
        <p:spPr>
          <a:xfrm>
            <a:off x="5779008" y="2377440"/>
            <a:ext cx="1106424" cy="978408"/>
          </a:xfrm>
          <a:prstGeom prst="roundRect">
            <a:avLst>
              <a:gd name="adj" fmla="val 7477"/>
            </a:avLst>
          </a:prstGeom>
          <a:solidFill>
            <a:srgbClr val="E5F6F8"/>
          </a:solidFill>
          <a:ln w="10160">
            <a:solidFill>
              <a:srgbClr val="D7E0EC"/>
            </a:solidFill>
            <a:prstDash val="solid"/>
          </a:ln>
        </p:spPr>
      </p:sp>
      <p:sp>
        <p:nvSpPr>
          <p:cNvPr id="30" name="Shape 28"/>
          <p:cNvSpPr/>
          <p:nvPr/>
        </p:nvSpPr>
        <p:spPr>
          <a:xfrm>
            <a:off x="5797296" y="2468880"/>
            <a:ext cx="41148" cy="795528"/>
          </a:xfrm>
          <a:prstGeom prst="rect">
            <a:avLst/>
          </a:prstGeom>
          <a:solidFill>
            <a:srgbClr val="27A9C2"/>
          </a:solidFill>
          <a:ln w="12700">
            <a:solidFill>
              <a:srgbClr val="27A9C2">
                <a:alpha val="0"/>
              </a:srgbClr>
            </a:solidFill>
            <a:prstDash val="solid"/>
          </a:ln>
        </p:spPr>
      </p:sp>
      <p:sp>
        <p:nvSpPr>
          <p:cNvPr id="31" name="Text 29"/>
          <p:cNvSpPr txBox="1"/>
          <p:nvPr/>
        </p:nvSpPr>
        <p:spPr>
          <a:xfrm>
            <a:off x="5897880" y="2450592"/>
            <a:ext cx="90525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Frontend</a:t>
            </a:r>
            <a:endParaRPr lang="en-US" sz="1030" dirty="0"/>
          </a:p>
        </p:txBody>
      </p:sp>
      <p:sp>
        <p:nvSpPr>
          <p:cNvPr id="32" name="Text 30"/>
          <p:cNvSpPr txBox="1"/>
          <p:nvPr/>
        </p:nvSpPr>
        <p:spPr>
          <a:xfrm>
            <a:off x="5897880" y="2724912"/>
            <a:ext cx="905256" cy="56692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Search page</a:t>
            </a:r>
            <a:endParaRPr lang="en-US" sz="850" dirty="0"/>
          </a:p>
        </p:txBody>
      </p:sp>
      <p:sp>
        <p:nvSpPr>
          <p:cNvPr id="33" name="Shape 31"/>
          <p:cNvSpPr/>
          <p:nvPr/>
        </p:nvSpPr>
        <p:spPr>
          <a:xfrm>
            <a:off x="7095744" y="2377440"/>
            <a:ext cx="859536" cy="978408"/>
          </a:xfrm>
          <a:prstGeom prst="roundRect">
            <a:avLst>
              <a:gd name="adj" fmla="val 8511"/>
            </a:avLst>
          </a:prstGeom>
          <a:solidFill>
            <a:srgbClr val="FFF3E2"/>
          </a:solidFill>
          <a:ln w="10160">
            <a:solidFill>
              <a:srgbClr val="D7E0EC"/>
            </a:solidFill>
            <a:prstDash val="solid"/>
          </a:ln>
        </p:spPr>
      </p:sp>
      <p:sp>
        <p:nvSpPr>
          <p:cNvPr id="34" name="Shape 32"/>
          <p:cNvSpPr/>
          <p:nvPr/>
        </p:nvSpPr>
        <p:spPr>
          <a:xfrm>
            <a:off x="7114032" y="2468880"/>
            <a:ext cx="41148" cy="795528"/>
          </a:xfrm>
          <a:prstGeom prst="rect">
            <a:avLst/>
          </a:prstGeom>
          <a:solidFill>
            <a:srgbClr val="F2A341"/>
          </a:solidFill>
          <a:ln w="12700">
            <a:solidFill>
              <a:srgbClr val="F2A341">
                <a:alpha val="0"/>
              </a:srgbClr>
            </a:solidFill>
            <a:prstDash val="solid"/>
          </a:ln>
        </p:spPr>
      </p:sp>
      <p:sp>
        <p:nvSpPr>
          <p:cNvPr id="35" name="Text 33"/>
          <p:cNvSpPr txBox="1"/>
          <p:nvPr/>
        </p:nvSpPr>
        <p:spPr>
          <a:xfrm>
            <a:off x="7214616" y="2450592"/>
            <a:ext cx="65836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API</a:t>
            </a:r>
            <a:endParaRPr lang="en-US" sz="1030" dirty="0"/>
          </a:p>
        </p:txBody>
      </p:sp>
      <p:sp>
        <p:nvSpPr>
          <p:cNvPr id="36" name="Text 34"/>
          <p:cNvSpPr txBox="1"/>
          <p:nvPr/>
        </p:nvSpPr>
        <p:spPr>
          <a:xfrm>
            <a:off x="7214616" y="2724912"/>
            <a:ext cx="658368" cy="56692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Request contract</a:t>
            </a:r>
            <a:endParaRPr lang="en-US" sz="850" dirty="0"/>
          </a:p>
        </p:txBody>
      </p:sp>
      <p:sp>
        <p:nvSpPr>
          <p:cNvPr id="37" name="Shape 35"/>
          <p:cNvSpPr/>
          <p:nvPr/>
        </p:nvSpPr>
        <p:spPr>
          <a:xfrm>
            <a:off x="8174736" y="2377440"/>
            <a:ext cx="1307592" cy="978408"/>
          </a:xfrm>
          <a:prstGeom prst="roundRect">
            <a:avLst>
              <a:gd name="adj" fmla="val 7477"/>
            </a:avLst>
          </a:prstGeom>
          <a:solidFill>
            <a:srgbClr val="E8F0FE"/>
          </a:solidFill>
          <a:ln w="10160">
            <a:solidFill>
              <a:srgbClr val="D7E0EC"/>
            </a:solidFill>
            <a:prstDash val="solid"/>
          </a:ln>
        </p:spPr>
      </p:sp>
      <p:sp>
        <p:nvSpPr>
          <p:cNvPr id="38" name="Shape 36"/>
          <p:cNvSpPr/>
          <p:nvPr/>
        </p:nvSpPr>
        <p:spPr>
          <a:xfrm>
            <a:off x="8193024" y="2468880"/>
            <a:ext cx="41148" cy="795528"/>
          </a:xfrm>
          <a:prstGeom prst="rect">
            <a:avLst/>
          </a:prstGeom>
          <a:solidFill>
            <a:srgbClr val="2367D1"/>
          </a:solidFill>
          <a:ln w="12700">
            <a:solidFill>
              <a:srgbClr val="2367D1">
                <a:alpha val="0"/>
              </a:srgbClr>
            </a:solidFill>
            <a:prstDash val="solid"/>
          </a:ln>
        </p:spPr>
      </p:sp>
      <p:sp>
        <p:nvSpPr>
          <p:cNvPr id="39" name="Text 37"/>
          <p:cNvSpPr txBox="1"/>
          <p:nvPr/>
        </p:nvSpPr>
        <p:spPr>
          <a:xfrm>
            <a:off x="8293608" y="2450592"/>
            <a:ext cx="110642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Backend service</a:t>
            </a:r>
            <a:endParaRPr lang="en-US" sz="1030" dirty="0"/>
          </a:p>
        </p:txBody>
      </p:sp>
      <p:sp>
        <p:nvSpPr>
          <p:cNvPr id="40" name="Text 38"/>
          <p:cNvSpPr txBox="1"/>
          <p:nvPr/>
        </p:nvSpPr>
        <p:spPr>
          <a:xfrm>
            <a:off x="8293608" y="2724912"/>
            <a:ext cx="1106424" cy="56692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Search + business rules</a:t>
            </a:r>
            <a:endParaRPr lang="en-US" sz="850" dirty="0"/>
          </a:p>
        </p:txBody>
      </p:sp>
      <p:sp>
        <p:nvSpPr>
          <p:cNvPr id="41" name="Shape 39"/>
          <p:cNvSpPr/>
          <p:nvPr/>
        </p:nvSpPr>
        <p:spPr>
          <a:xfrm>
            <a:off x="9756648" y="2377440"/>
            <a:ext cx="1417320" cy="978408"/>
          </a:xfrm>
          <a:prstGeom prst="roundRect">
            <a:avLst>
              <a:gd name="adj" fmla="val 7477"/>
            </a:avLst>
          </a:prstGeom>
          <a:solidFill>
            <a:srgbClr val="FFF3E2"/>
          </a:solidFill>
          <a:ln w="10160">
            <a:solidFill>
              <a:srgbClr val="D7E0EC"/>
            </a:solidFill>
            <a:prstDash val="solid"/>
          </a:ln>
        </p:spPr>
      </p:sp>
      <p:sp>
        <p:nvSpPr>
          <p:cNvPr id="42" name="Shape 40"/>
          <p:cNvSpPr/>
          <p:nvPr/>
        </p:nvSpPr>
        <p:spPr>
          <a:xfrm>
            <a:off x="9774936" y="2468880"/>
            <a:ext cx="41148" cy="795528"/>
          </a:xfrm>
          <a:prstGeom prst="rect">
            <a:avLst/>
          </a:prstGeom>
          <a:solidFill>
            <a:srgbClr val="D65D5D"/>
          </a:solidFill>
          <a:ln w="12700">
            <a:solidFill>
              <a:srgbClr val="D65D5D">
                <a:alpha val="0"/>
              </a:srgbClr>
            </a:solidFill>
            <a:prstDash val="solid"/>
          </a:ln>
        </p:spPr>
      </p:sp>
      <p:sp>
        <p:nvSpPr>
          <p:cNvPr id="43" name="Text 41"/>
          <p:cNvSpPr txBox="1"/>
          <p:nvPr/>
        </p:nvSpPr>
        <p:spPr>
          <a:xfrm>
            <a:off x="9875520" y="2450592"/>
            <a:ext cx="121615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External service</a:t>
            </a:r>
            <a:endParaRPr lang="en-US" sz="1030" dirty="0"/>
          </a:p>
        </p:txBody>
      </p:sp>
      <p:sp>
        <p:nvSpPr>
          <p:cNvPr id="44" name="Text 42"/>
          <p:cNvSpPr txBox="1"/>
          <p:nvPr/>
        </p:nvSpPr>
        <p:spPr>
          <a:xfrm>
            <a:off x="9875520" y="2724912"/>
            <a:ext cx="1216152" cy="56692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Partner / payment APIs</a:t>
            </a:r>
            <a:endParaRPr lang="en-US" sz="850" dirty="0"/>
          </a:p>
        </p:txBody>
      </p:sp>
      <p:sp>
        <p:nvSpPr>
          <p:cNvPr id="45" name="Shape 43"/>
          <p:cNvSpPr/>
          <p:nvPr/>
        </p:nvSpPr>
        <p:spPr>
          <a:xfrm flipH="1">
            <a:off x="8741664" y="3364992"/>
            <a:ext cx="91440" cy="612648"/>
          </a:xfrm>
          <a:prstGeom prst="line">
            <a:avLst/>
          </a:prstGeom>
          <a:noFill/>
          <a:ln w="17780">
            <a:solidFill>
              <a:srgbClr val="27A9C2"/>
            </a:solidFill>
            <a:prstDash val="solid"/>
            <a:headEnd type="triangle"/>
            <a:tailEnd type="none"/>
          </a:ln>
        </p:spPr>
      </p:sp>
      <p:sp>
        <p:nvSpPr>
          <p:cNvPr id="46" name="Text 44"/>
          <p:cNvSpPr txBox="1"/>
          <p:nvPr/>
        </p:nvSpPr>
        <p:spPr>
          <a:xfrm>
            <a:off x="8924544" y="3584448"/>
            <a:ext cx="685800" cy="201168"/>
          </a:xfrm>
          <a:prstGeom prst="rect">
            <a:avLst/>
          </a:prstGeom>
          <a:noFill/>
          <a:ln/>
        </p:spPr>
        <p:txBody>
          <a:bodyPr wrap="square" lIns="508" tIns="508" rIns="508" bIns="508" rtlCol="0" anchor="ctr">
            <a:normAutofit/>
          </a:bodyPr>
          <a:lstStyle/>
          <a:p>
            <a:pPr algn="ctr" indent="0" marL="0">
              <a:buNone/>
            </a:pPr>
            <a:r>
              <a:rPr lang="en-US" sz="770" dirty="0">
                <a:solidFill>
                  <a:srgbClr val="27A9C2"/>
                </a:solidFill>
                <a:latin typeface="Aptos" pitchFamily="34" charset="0"/>
                <a:ea typeface="Aptos" pitchFamily="34" charset="-122"/>
                <a:cs typeface="Aptos" pitchFamily="34" charset="-120"/>
              </a:rPr>
              <a:t>lookup</a:t>
            </a:r>
            <a:endParaRPr lang="en-US" sz="770" dirty="0"/>
          </a:p>
        </p:txBody>
      </p:sp>
      <p:sp>
        <p:nvSpPr>
          <p:cNvPr id="47" name="Shape 45"/>
          <p:cNvSpPr/>
          <p:nvPr/>
        </p:nvSpPr>
        <p:spPr>
          <a:xfrm>
            <a:off x="8741664" y="4489704"/>
            <a:ext cx="886968" cy="914"/>
          </a:xfrm>
          <a:prstGeom prst="line">
            <a:avLst/>
          </a:prstGeom>
          <a:noFill/>
          <a:ln w="17780">
            <a:solidFill>
              <a:srgbClr val="329879"/>
            </a:solidFill>
            <a:prstDash val="solid"/>
            <a:headEnd type="none"/>
            <a:tailEnd type="triangle"/>
          </a:ln>
        </p:spPr>
      </p:sp>
      <p:sp>
        <p:nvSpPr>
          <p:cNvPr id="48" name="Shape 46"/>
          <p:cNvSpPr/>
          <p:nvPr/>
        </p:nvSpPr>
        <p:spPr>
          <a:xfrm>
            <a:off x="9628632" y="3977640"/>
            <a:ext cx="1188720" cy="969264"/>
          </a:xfrm>
          <a:prstGeom prst="roundRect">
            <a:avLst>
              <a:gd name="adj" fmla="val 7547"/>
            </a:avLst>
          </a:prstGeom>
          <a:solidFill>
            <a:srgbClr val="E8F5EF"/>
          </a:solidFill>
          <a:ln w="10160">
            <a:solidFill>
              <a:srgbClr val="D7E0EC"/>
            </a:solidFill>
            <a:prstDash val="solid"/>
          </a:ln>
        </p:spPr>
      </p:sp>
      <p:sp>
        <p:nvSpPr>
          <p:cNvPr id="49" name="Shape 47"/>
          <p:cNvSpPr/>
          <p:nvPr/>
        </p:nvSpPr>
        <p:spPr>
          <a:xfrm>
            <a:off x="9646920" y="4069080"/>
            <a:ext cx="41148" cy="786384"/>
          </a:xfrm>
          <a:prstGeom prst="rect">
            <a:avLst/>
          </a:prstGeom>
          <a:solidFill>
            <a:srgbClr val="329879"/>
          </a:solidFill>
          <a:ln w="12700">
            <a:solidFill>
              <a:srgbClr val="329879">
                <a:alpha val="0"/>
              </a:srgbClr>
            </a:solidFill>
            <a:prstDash val="solid"/>
          </a:ln>
        </p:spPr>
      </p:sp>
      <p:sp>
        <p:nvSpPr>
          <p:cNvPr id="50" name="Text 48"/>
          <p:cNvSpPr txBox="1"/>
          <p:nvPr/>
        </p:nvSpPr>
        <p:spPr>
          <a:xfrm>
            <a:off x="9747504" y="4050792"/>
            <a:ext cx="98755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Database</a:t>
            </a:r>
            <a:endParaRPr lang="en-US" sz="1030" dirty="0"/>
          </a:p>
        </p:txBody>
      </p:sp>
      <p:sp>
        <p:nvSpPr>
          <p:cNvPr id="51" name="Text 49"/>
          <p:cNvSpPr txBox="1"/>
          <p:nvPr/>
        </p:nvSpPr>
        <p:spPr>
          <a:xfrm>
            <a:off x="9747504" y="4325112"/>
            <a:ext cx="987552" cy="557784"/>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Products + prices</a:t>
            </a:r>
            <a:endParaRPr lang="en-US" sz="850" dirty="0"/>
          </a:p>
        </p:txBody>
      </p:sp>
      <p:sp>
        <p:nvSpPr>
          <p:cNvPr id="52" name="Shape 50"/>
          <p:cNvSpPr/>
          <p:nvPr/>
        </p:nvSpPr>
        <p:spPr>
          <a:xfrm>
            <a:off x="8119872" y="3977640"/>
            <a:ext cx="1243584" cy="969264"/>
          </a:xfrm>
          <a:prstGeom prst="roundRect">
            <a:avLst>
              <a:gd name="adj" fmla="val 7547"/>
            </a:avLst>
          </a:prstGeom>
          <a:solidFill>
            <a:srgbClr val="E5F6F8"/>
          </a:solidFill>
          <a:ln w="10160">
            <a:solidFill>
              <a:srgbClr val="D7E0EC"/>
            </a:solidFill>
            <a:prstDash val="solid"/>
          </a:ln>
        </p:spPr>
      </p:sp>
      <p:sp>
        <p:nvSpPr>
          <p:cNvPr id="53" name="Shape 51"/>
          <p:cNvSpPr/>
          <p:nvPr/>
        </p:nvSpPr>
        <p:spPr>
          <a:xfrm>
            <a:off x="8138160" y="4069080"/>
            <a:ext cx="41148" cy="786384"/>
          </a:xfrm>
          <a:prstGeom prst="rect">
            <a:avLst/>
          </a:prstGeom>
          <a:solidFill>
            <a:srgbClr val="27A9C2"/>
          </a:solidFill>
          <a:ln w="12700">
            <a:solidFill>
              <a:srgbClr val="27A9C2">
                <a:alpha val="0"/>
              </a:srgbClr>
            </a:solidFill>
            <a:prstDash val="solid"/>
          </a:ln>
        </p:spPr>
      </p:sp>
      <p:sp>
        <p:nvSpPr>
          <p:cNvPr id="54" name="Text 52"/>
          <p:cNvSpPr txBox="1"/>
          <p:nvPr/>
        </p:nvSpPr>
        <p:spPr>
          <a:xfrm>
            <a:off x="8238744" y="4050792"/>
            <a:ext cx="104241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Cache</a:t>
            </a:r>
            <a:endParaRPr lang="en-US" sz="1030" dirty="0"/>
          </a:p>
        </p:txBody>
      </p:sp>
      <p:sp>
        <p:nvSpPr>
          <p:cNvPr id="55" name="Text 53"/>
          <p:cNvSpPr txBox="1"/>
          <p:nvPr/>
        </p:nvSpPr>
        <p:spPr>
          <a:xfrm>
            <a:off x="8238744" y="4325112"/>
            <a:ext cx="1042416" cy="557784"/>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Fast repeat reads</a:t>
            </a:r>
            <a:endParaRPr lang="en-US" sz="850" dirty="0"/>
          </a:p>
        </p:txBody>
      </p:sp>
      <p:sp>
        <p:nvSpPr>
          <p:cNvPr id="56" name="Shape 54"/>
          <p:cNvSpPr/>
          <p:nvPr/>
        </p:nvSpPr>
        <p:spPr>
          <a:xfrm flipH="1">
            <a:off x="5504688" y="5340096"/>
            <a:ext cx="4681728" cy="914"/>
          </a:xfrm>
          <a:prstGeom prst="line">
            <a:avLst/>
          </a:prstGeom>
          <a:noFill/>
          <a:ln w="13970">
            <a:solidFill>
              <a:srgbClr val="329879"/>
            </a:solidFill>
            <a:prstDash val="solid"/>
            <a:headEnd type="triangle"/>
            <a:tailEnd type="none"/>
          </a:ln>
        </p:spPr>
      </p:sp>
      <p:sp>
        <p:nvSpPr>
          <p:cNvPr id="57" name="Text 55"/>
          <p:cNvSpPr txBox="1"/>
          <p:nvPr/>
        </p:nvSpPr>
        <p:spPr>
          <a:xfrm>
            <a:off x="5715000" y="5404104"/>
            <a:ext cx="4389120" cy="274320"/>
          </a:xfrm>
          <a:prstGeom prst="rect">
            <a:avLst/>
          </a:prstGeom>
          <a:noFill/>
          <a:ln/>
        </p:spPr>
        <p:txBody>
          <a:bodyPr wrap="square" lIns="508" tIns="508" rIns="508" bIns="508" rtlCol="0" anchor="ctr">
            <a:normAutofit/>
          </a:bodyPr>
          <a:lstStyle/>
          <a:p>
            <a:pPr algn="ctr" indent="0" marL="0">
              <a:buNone/>
            </a:pPr>
            <a:r>
              <a:rPr lang="en-US" sz="860" dirty="0">
                <a:solidFill>
                  <a:srgbClr val="329879"/>
                </a:solidFill>
                <a:latin typeface="Aptos" pitchFamily="34" charset="0"/>
                <a:ea typeface="Aptos" pitchFamily="34" charset="-122"/>
                <a:cs typeface="Aptos" pitchFamily="34" charset="-120"/>
              </a:rPr>
              <a:t>←  JSON response returns to the frontend and is rendered for the shopper</a:t>
            </a:r>
            <a:endParaRPr lang="en-US" sz="860" dirty="0"/>
          </a:p>
        </p:txBody>
      </p:sp>
      <p:sp>
        <p:nvSpPr>
          <p:cNvPr id="58" name="Text 56"/>
          <p:cNvSpPr txBox="1"/>
          <p:nvPr/>
        </p:nvSpPr>
        <p:spPr>
          <a:xfrm>
            <a:off x="4754880" y="5760720"/>
            <a:ext cx="6446520" cy="182880"/>
          </a:xfrm>
          <a:prstGeom prst="rect">
            <a:avLst/>
          </a:prstGeom>
          <a:noFill/>
          <a:ln/>
        </p:spPr>
        <p:txBody>
          <a:bodyPr wrap="square" lIns="508" tIns="508" rIns="508" bIns="508" rtlCol="0" anchor="ctr">
            <a:normAutofit/>
          </a:bodyPr>
          <a:lstStyle/>
          <a:p>
            <a:pPr algn="ctr" indent="0" marL="0">
              <a:buNone/>
            </a:pPr>
            <a:r>
              <a:rPr lang="en-US" sz="850" dirty="0">
                <a:solidFill>
                  <a:srgbClr val="566A83"/>
                </a:solidFill>
                <a:latin typeface="Aptos" pitchFamily="34" charset="0"/>
                <a:ea typeface="Aptos" pitchFamily="34" charset="-122"/>
                <a:cs typeface="Aptos" pitchFamily="34" charset="-120"/>
              </a:rPr>
              <a:t>External services (for example, payment or delivery providers) are called only when the use case needs them.</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ARCHITECTURE CHOICES</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2200" b="1" dirty="0">
                <a:solidFill>
                  <a:srgbClr val="14253D"/>
                </a:solidFill>
                <a:latin typeface="Aptos" pitchFamily="34" charset="0"/>
                <a:ea typeface="Aptos" pitchFamily="34" charset="-122"/>
                <a:cs typeface="Aptos" pitchFamily="34" charset="-120"/>
              </a:rPr>
              <a:t>Backend Architectural Patterns</a:t>
            </a:r>
            <a:endParaRPr lang="en-US" sz="220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There is no universally best pattern: choose the simplest fit for today, then evolve deliberately.</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02 / 08</a:t>
            </a:r>
            <a:endParaRPr lang="en-US" sz="760" dirty="0"/>
          </a:p>
        </p:txBody>
      </p:sp>
      <p:sp>
        <p:nvSpPr>
          <p:cNvPr id="9" name="Shape 7"/>
          <p:cNvSpPr/>
          <p:nvPr/>
        </p:nvSpPr>
        <p:spPr>
          <a:xfrm>
            <a:off x="566928" y="1481328"/>
            <a:ext cx="3575304" cy="4498848"/>
          </a:xfrm>
          <a:prstGeom prst="roundRect">
            <a:avLst>
              <a:gd name="adj" fmla="val 2046"/>
            </a:avLst>
          </a:prstGeom>
          <a:solidFill>
            <a:srgbClr val="FFFFFF"/>
          </a:solidFill>
          <a:ln w="10160">
            <a:solidFill>
              <a:srgbClr val="D7E0EC"/>
            </a:solidFill>
            <a:prstDash val="solid"/>
          </a:ln>
        </p:spPr>
      </p:sp>
      <p:sp>
        <p:nvSpPr>
          <p:cNvPr id="10" name="Text 8"/>
          <p:cNvSpPr txBox="1"/>
          <p:nvPr/>
        </p:nvSpPr>
        <p:spPr>
          <a:xfrm>
            <a:off x="749808" y="1627632"/>
            <a:ext cx="3227832" cy="301752"/>
          </a:xfrm>
          <a:prstGeom prst="rect">
            <a:avLst/>
          </a:prstGeom>
          <a:noFill/>
          <a:ln/>
        </p:spPr>
        <p:txBody>
          <a:bodyPr wrap="square" lIns="508" tIns="508" rIns="508" bIns="508" rtlCol="0" anchor="ctr">
            <a:normAutofit/>
          </a:bodyPr>
          <a:lstStyle/>
          <a:p>
            <a:pPr algn="l" indent="0" marL="0">
              <a:buNone/>
            </a:pPr>
            <a:r>
              <a:rPr lang="en-US" sz="1550" b="1" dirty="0">
                <a:solidFill>
                  <a:srgbClr val="2367D1"/>
                </a:solidFill>
                <a:latin typeface="Aptos" pitchFamily="34" charset="0"/>
                <a:ea typeface="Aptos" pitchFamily="34" charset="-122"/>
                <a:cs typeface="Aptos" pitchFamily="34" charset="-120"/>
              </a:rPr>
              <a:t>Monolith</a:t>
            </a:r>
            <a:endParaRPr lang="en-US" sz="1550" dirty="0"/>
          </a:p>
        </p:txBody>
      </p:sp>
      <p:sp>
        <p:nvSpPr>
          <p:cNvPr id="11" name="Shape 9"/>
          <p:cNvSpPr/>
          <p:nvPr/>
        </p:nvSpPr>
        <p:spPr>
          <a:xfrm>
            <a:off x="722376" y="2029968"/>
            <a:ext cx="3264408" cy="1207008"/>
          </a:xfrm>
          <a:prstGeom prst="roundRect">
            <a:avLst>
              <a:gd name="adj" fmla="val 6061"/>
            </a:avLst>
          </a:prstGeom>
          <a:solidFill>
            <a:srgbClr val="E8F0FE"/>
          </a:solidFill>
          <a:ln w="10160">
            <a:solidFill>
              <a:srgbClr val="E8F0FE"/>
            </a:solidFill>
            <a:prstDash val="solid"/>
          </a:ln>
        </p:spPr>
      </p:sp>
      <p:sp>
        <p:nvSpPr>
          <p:cNvPr id="12" name="Text 10"/>
          <p:cNvSpPr txBox="1"/>
          <p:nvPr/>
        </p:nvSpPr>
        <p:spPr>
          <a:xfrm>
            <a:off x="832104" y="2139696"/>
            <a:ext cx="3044952" cy="969264"/>
          </a:xfrm>
          <a:prstGeom prst="rect">
            <a:avLst/>
          </a:prstGeom>
          <a:noFill/>
          <a:ln/>
        </p:spPr>
        <p:txBody>
          <a:bodyPr wrap="square" lIns="508" tIns="508" rIns="508" bIns="508" rtlCol="0" anchor="ctr">
            <a:normAutofit/>
          </a:bodyPr>
          <a:lstStyle/>
          <a:p>
            <a:pPr algn="ctr" indent="0" marL="0">
              <a:buNone/>
            </a:pPr>
            <a:r>
              <a:rPr lang="en-US" sz="920" b="1" dirty="0">
                <a:solidFill>
                  <a:srgbClr val="31445D"/>
                </a:solidFill>
                <a:latin typeface="Aptos" pitchFamily="34" charset="0"/>
                <a:ea typeface="Aptos" pitchFamily="34" charset="-122"/>
                <a:cs typeface="Aptos" pitchFamily="34" charset="-120"/>
              </a:rPr>
              <a:t>UI / API  →  One application</a:t>
            </a:r>
            <a:endParaRPr lang="en-US" sz="920" dirty="0"/>
          </a:p>
          <a:p>
            <a:pPr algn="ctr" indent="0" marL="0">
              <a:buNone/>
            </a:pPr>
            <a:r>
              <a:rPr lang="en-US" sz="920" b="1" dirty="0">
                <a:solidFill>
                  <a:srgbClr val="31445D"/>
                </a:solidFill>
                <a:latin typeface="Aptos" pitchFamily="34" charset="0"/>
                <a:ea typeface="Aptos" pitchFamily="34" charset="-122"/>
                <a:cs typeface="Aptos" pitchFamily="34" charset="-120"/>
              </a:rPr>
              <a:t>[Catalog | Cart | Orders]</a:t>
            </a:r>
            <a:endParaRPr lang="en-US" sz="920" dirty="0"/>
          </a:p>
          <a:p>
            <a:pPr algn="ctr" indent="0" marL="0">
              <a:buNone/>
            </a:pPr>
            <a:r>
              <a:rPr lang="en-US" sz="920" b="1" dirty="0">
                <a:solidFill>
                  <a:srgbClr val="31445D"/>
                </a:solidFill>
                <a:latin typeface="Aptos" pitchFamily="34" charset="0"/>
                <a:ea typeface="Aptos" pitchFamily="34" charset="-122"/>
                <a:cs typeface="Aptos" pitchFamily="34" charset="-120"/>
              </a:rPr>
              <a:t>                 ↓  One main data store</a:t>
            </a:r>
            <a:endParaRPr lang="en-US" sz="920" dirty="0"/>
          </a:p>
        </p:txBody>
      </p:sp>
      <p:sp>
        <p:nvSpPr>
          <p:cNvPr id="13" name="Text 11"/>
          <p:cNvSpPr txBox="1"/>
          <p:nvPr/>
        </p:nvSpPr>
        <p:spPr>
          <a:xfrm>
            <a:off x="768096" y="3401568"/>
            <a:ext cx="3172968" cy="2377440"/>
          </a:xfrm>
          <a:prstGeom prst="rect">
            <a:avLst/>
          </a:prstGeom>
          <a:noFill/>
          <a:ln/>
        </p:spPr>
        <p:txBody>
          <a:bodyPr wrap="square" lIns="254" tIns="254" rIns="254" bIns="254" rtlCol="0" anchor="t">
            <a:normAutofit/>
          </a:bodyPr>
          <a:lstStyle/>
          <a:p>
            <a:pPr algn="l" indent="0" marL="0">
              <a:buNone/>
            </a:pPr>
            <a:r>
              <a:rPr lang="en-US" sz="910" dirty="0">
                <a:solidFill>
                  <a:srgbClr val="566A83"/>
                </a:solidFill>
                <a:latin typeface="Aptos" pitchFamily="34" charset="0"/>
                <a:ea typeface="Aptos" pitchFamily="34" charset="-122"/>
                <a:cs typeface="Aptos" pitchFamily="34" charset="-120"/>
              </a:rPr>
              <a:t>STRUCTURE  One deployable app; modules share a codebase.</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DEPLOY / SCALE  Release together; scale the whole app.</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UPSIDE  Simple to build, test, and run early on.</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TRADE-OFF  Tight coupling; one hot area may need more capacity.</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GOOD FIT  Small team, early product, modest complexity.</a:t>
            </a:r>
            <a:endParaRPr lang="en-US" sz="910" dirty="0"/>
          </a:p>
        </p:txBody>
      </p:sp>
      <p:sp>
        <p:nvSpPr>
          <p:cNvPr id="14" name="Shape 12"/>
          <p:cNvSpPr/>
          <p:nvPr/>
        </p:nvSpPr>
        <p:spPr>
          <a:xfrm>
            <a:off x="4306824" y="1481328"/>
            <a:ext cx="3575304" cy="4498848"/>
          </a:xfrm>
          <a:prstGeom prst="roundRect">
            <a:avLst>
              <a:gd name="adj" fmla="val 2046"/>
            </a:avLst>
          </a:prstGeom>
          <a:solidFill>
            <a:srgbClr val="FFFFFF"/>
          </a:solidFill>
          <a:ln w="10160">
            <a:solidFill>
              <a:srgbClr val="D7E0EC"/>
            </a:solidFill>
            <a:prstDash val="solid"/>
          </a:ln>
        </p:spPr>
      </p:sp>
      <p:sp>
        <p:nvSpPr>
          <p:cNvPr id="15" name="Text 13"/>
          <p:cNvSpPr txBox="1"/>
          <p:nvPr/>
        </p:nvSpPr>
        <p:spPr>
          <a:xfrm>
            <a:off x="4489704" y="1627632"/>
            <a:ext cx="3227832" cy="301752"/>
          </a:xfrm>
          <a:prstGeom prst="rect">
            <a:avLst/>
          </a:prstGeom>
          <a:noFill/>
          <a:ln/>
        </p:spPr>
        <p:txBody>
          <a:bodyPr wrap="square" lIns="508" tIns="508" rIns="508" bIns="508" rtlCol="0" anchor="ctr">
            <a:normAutofit/>
          </a:bodyPr>
          <a:lstStyle/>
          <a:p>
            <a:pPr algn="l" indent="0" marL="0">
              <a:buNone/>
            </a:pPr>
            <a:r>
              <a:rPr lang="en-US" sz="1550" b="1" dirty="0">
                <a:solidFill>
                  <a:srgbClr val="27A9C2"/>
                </a:solidFill>
                <a:latin typeface="Aptos" pitchFamily="34" charset="0"/>
                <a:ea typeface="Aptos" pitchFamily="34" charset="-122"/>
                <a:cs typeface="Aptos" pitchFamily="34" charset="-120"/>
              </a:rPr>
              <a:t>Microservices</a:t>
            </a:r>
            <a:endParaRPr lang="en-US" sz="1550" dirty="0"/>
          </a:p>
        </p:txBody>
      </p:sp>
      <p:sp>
        <p:nvSpPr>
          <p:cNvPr id="16" name="Shape 14"/>
          <p:cNvSpPr/>
          <p:nvPr/>
        </p:nvSpPr>
        <p:spPr>
          <a:xfrm>
            <a:off x="4462272" y="2029968"/>
            <a:ext cx="3264408" cy="1207008"/>
          </a:xfrm>
          <a:prstGeom prst="roundRect">
            <a:avLst>
              <a:gd name="adj" fmla="val 6061"/>
            </a:avLst>
          </a:prstGeom>
          <a:solidFill>
            <a:srgbClr val="E5F6F8"/>
          </a:solidFill>
          <a:ln w="10160">
            <a:solidFill>
              <a:srgbClr val="E5F6F8"/>
            </a:solidFill>
            <a:prstDash val="solid"/>
          </a:ln>
        </p:spPr>
      </p:sp>
      <p:sp>
        <p:nvSpPr>
          <p:cNvPr id="17" name="Text 15"/>
          <p:cNvSpPr txBox="1"/>
          <p:nvPr/>
        </p:nvSpPr>
        <p:spPr>
          <a:xfrm>
            <a:off x="4572000" y="2139696"/>
            <a:ext cx="3044952" cy="969264"/>
          </a:xfrm>
          <a:prstGeom prst="rect">
            <a:avLst/>
          </a:prstGeom>
          <a:noFill/>
          <a:ln/>
        </p:spPr>
        <p:txBody>
          <a:bodyPr wrap="square" lIns="508" tIns="508" rIns="508" bIns="508" rtlCol="0" anchor="ctr">
            <a:normAutofit/>
          </a:bodyPr>
          <a:lstStyle/>
          <a:p>
            <a:pPr algn="ctr" indent="0" marL="0">
              <a:buNone/>
            </a:pPr>
            <a:r>
              <a:rPr lang="en-US" sz="920" b="1" dirty="0">
                <a:solidFill>
                  <a:srgbClr val="31445D"/>
                </a:solidFill>
                <a:latin typeface="Aptos" pitchFamily="34" charset="0"/>
                <a:ea typeface="Aptos" pitchFamily="34" charset="-122"/>
                <a:cs typeface="Aptos" pitchFamily="34" charset="-120"/>
              </a:rPr>
              <a:t>API gateway  →  Catalog service → DB</a:t>
            </a:r>
            <a:endParaRPr lang="en-US" sz="920" dirty="0"/>
          </a:p>
          <a:p>
            <a:pPr algn="ctr" indent="0" marL="0">
              <a:buNone/>
            </a:pPr>
            <a:r>
              <a:rPr lang="en-US" sz="920" b="1" dirty="0">
                <a:solidFill>
                  <a:srgbClr val="31445D"/>
                </a:solidFill>
                <a:latin typeface="Aptos" pitchFamily="34" charset="0"/>
                <a:ea typeface="Aptos" pitchFamily="34" charset="-122"/>
                <a:cs typeface="Aptos" pitchFamily="34" charset="-120"/>
              </a:rPr>
              <a:t>                      ├→ Cart service → DB</a:t>
            </a:r>
            <a:endParaRPr lang="en-US" sz="920" dirty="0"/>
          </a:p>
          <a:p>
            <a:pPr algn="ctr" indent="0" marL="0">
              <a:buNone/>
            </a:pPr>
            <a:r>
              <a:rPr lang="en-US" sz="920" b="1" dirty="0">
                <a:solidFill>
                  <a:srgbClr val="31445D"/>
                </a:solidFill>
                <a:latin typeface="Aptos" pitchFamily="34" charset="0"/>
                <a:ea typeface="Aptos" pitchFamily="34" charset="-122"/>
                <a:cs typeface="Aptos" pitchFamily="34" charset="-120"/>
              </a:rPr>
              <a:t>                      └→ Order service → DB</a:t>
            </a:r>
            <a:endParaRPr lang="en-US" sz="920" dirty="0"/>
          </a:p>
        </p:txBody>
      </p:sp>
      <p:sp>
        <p:nvSpPr>
          <p:cNvPr id="18" name="Text 16"/>
          <p:cNvSpPr txBox="1"/>
          <p:nvPr/>
        </p:nvSpPr>
        <p:spPr>
          <a:xfrm>
            <a:off x="4507992" y="3401568"/>
            <a:ext cx="3172968" cy="2377440"/>
          </a:xfrm>
          <a:prstGeom prst="rect">
            <a:avLst/>
          </a:prstGeom>
          <a:noFill/>
          <a:ln/>
        </p:spPr>
        <p:txBody>
          <a:bodyPr wrap="square" lIns="254" tIns="254" rIns="254" bIns="254" rtlCol="0" anchor="t">
            <a:normAutofit/>
          </a:bodyPr>
          <a:lstStyle/>
          <a:p>
            <a:pPr algn="l" indent="0" marL="0">
              <a:buNone/>
            </a:pPr>
            <a:r>
              <a:rPr lang="en-US" sz="910" dirty="0">
                <a:solidFill>
                  <a:srgbClr val="566A83"/>
                </a:solidFill>
                <a:latin typeface="Aptos" pitchFamily="34" charset="0"/>
                <a:ea typeface="Aptos" pitchFamily="34" charset="-122"/>
                <a:cs typeface="Aptos" pitchFamily="34" charset="-120"/>
              </a:rPr>
              <a:t>STRUCTURE  Small services own clear capabilities.</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DEPLOY / SCALE  Release and scale services separately.</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UPSIDE  Team autonomy; isolate workload growth.</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TRADE-OFF  Network calls, operations, and data consistency add complexity.</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GOOD FIT  Larger domains and teams with mature operations.</a:t>
            </a:r>
            <a:endParaRPr lang="en-US" sz="910" dirty="0"/>
          </a:p>
        </p:txBody>
      </p:sp>
      <p:sp>
        <p:nvSpPr>
          <p:cNvPr id="19" name="Shape 17"/>
          <p:cNvSpPr/>
          <p:nvPr/>
        </p:nvSpPr>
        <p:spPr>
          <a:xfrm>
            <a:off x="8046720" y="1481328"/>
            <a:ext cx="3575304" cy="4498848"/>
          </a:xfrm>
          <a:prstGeom prst="roundRect">
            <a:avLst>
              <a:gd name="adj" fmla="val 2046"/>
            </a:avLst>
          </a:prstGeom>
          <a:solidFill>
            <a:srgbClr val="FFFFFF"/>
          </a:solidFill>
          <a:ln w="10160">
            <a:solidFill>
              <a:srgbClr val="D7E0EC"/>
            </a:solidFill>
            <a:prstDash val="solid"/>
          </a:ln>
        </p:spPr>
      </p:sp>
      <p:sp>
        <p:nvSpPr>
          <p:cNvPr id="20" name="Text 18"/>
          <p:cNvSpPr txBox="1"/>
          <p:nvPr/>
        </p:nvSpPr>
        <p:spPr>
          <a:xfrm>
            <a:off x="8229600" y="1627632"/>
            <a:ext cx="3227832" cy="301752"/>
          </a:xfrm>
          <a:prstGeom prst="rect">
            <a:avLst/>
          </a:prstGeom>
          <a:noFill/>
          <a:ln/>
        </p:spPr>
        <p:txBody>
          <a:bodyPr wrap="square" lIns="508" tIns="508" rIns="508" bIns="508" rtlCol="0" anchor="ctr">
            <a:normAutofit/>
          </a:bodyPr>
          <a:lstStyle/>
          <a:p>
            <a:pPr algn="l" indent="0" marL="0">
              <a:buNone/>
            </a:pPr>
            <a:r>
              <a:rPr lang="en-US" sz="1550" b="1" dirty="0">
                <a:solidFill>
                  <a:srgbClr val="F2A341"/>
                </a:solidFill>
                <a:latin typeface="Aptos" pitchFamily="34" charset="0"/>
                <a:ea typeface="Aptos" pitchFamily="34" charset="-122"/>
                <a:cs typeface="Aptos" pitchFamily="34" charset="-120"/>
              </a:rPr>
              <a:t>Serverless</a:t>
            </a:r>
            <a:endParaRPr lang="en-US" sz="1550" dirty="0"/>
          </a:p>
        </p:txBody>
      </p:sp>
      <p:sp>
        <p:nvSpPr>
          <p:cNvPr id="21" name="Shape 19"/>
          <p:cNvSpPr/>
          <p:nvPr/>
        </p:nvSpPr>
        <p:spPr>
          <a:xfrm>
            <a:off x="8202168" y="2029968"/>
            <a:ext cx="3264408" cy="1207008"/>
          </a:xfrm>
          <a:prstGeom prst="roundRect">
            <a:avLst>
              <a:gd name="adj" fmla="val 6061"/>
            </a:avLst>
          </a:prstGeom>
          <a:solidFill>
            <a:srgbClr val="FFF3E2"/>
          </a:solidFill>
          <a:ln w="10160">
            <a:solidFill>
              <a:srgbClr val="FFF3E2"/>
            </a:solidFill>
            <a:prstDash val="solid"/>
          </a:ln>
        </p:spPr>
      </p:sp>
      <p:sp>
        <p:nvSpPr>
          <p:cNvPr id="22" name="Text 20"/>
          <p:cNvSpPr txBox="1"/>
          <p:nvPr/>
        </p:nvSpPr>
        <p:spPr>
          <a:xfrm>
            <a:off x="8311896" y="2139696"/>
            <a:ext cx="3044952" cy="969264"/>
          </a:xfrm>
          <a:prstGeom prst="rect">
            <a:avLst/>
          </a:prstGeom>
          <a:noFill/>
          <a:ln/>
        </p:spPr>
        <p:txBody>
          <a:bodyPr wrap="square" lIns="508" tIns="508" rIns="508" bIns="508" rtlCol="0" anchor="ctr">
            <a:normAutofit/>
          </a:bodyPr>
          <a:lstStyle/>
          <a:p>
            <a:pPr algn="ctr" indent="0" marL="0">
              <a:buNone/>
            </a:pPr>
            <a:r>
              <a:rPr lang="en-US" sz="920" b="1" dirty="0">
                <a:solidFill>
                  <a:srgbClr val="31445D"/>
                </a:solidFill>
                <a:latin typeface="Aptos" pitchFamily="34" charset="0"/>
                <a:ea typeface="Aptos" pitchFamily="34" charset="-122"/>
                <a:cs typeface="Aptos" pitchFamily="34" charset="-120"/>
              </a:rPr>
              <a:t>HTTP / event  →  Cloud function</a:t>
            </a:r>
            <a:endParaRPr lang="en-US" sz="920" dirty="0"/>
          </a:p>
          <a:p>
            <a:pPr algn="ctr" indent="0" marL="0">
              <a:buNone/>
            </a:pPr>
            <a:r>
              <a:rPr lang="en-US" sz="920" b="1" dirty="0">
                <a:solidFill>
                  <a:srgbClr val="31445D"/>
                </a:solidFill>
                <a:latin typeface="Aptos" pitchFamily="34" charset="0"/>
                <a:ea typeface="Aptos" pitchFamily="34" charset="-122"/>
                <a:cs typeface="Aptos" pitchFamily="34" charset="-120"/>
              </a:rPr>
              <a:t>                         ↓</a:t>
            </a:r>
            <a:endParaRPr lang="en-US" sz="920" dirty="0"/>
          </a:p>
          <a:p>
            <a:pPr algn="ctr" indent="0" marL="0">
              <a:buNone/>
            </a:pPr>
            <a:r>
              <a:rPr lang="en-US" sz="920" b="1" dirty="0">
                <a:solidFill>
                  <a:srgbClr val="31445D"/>
                </a:solidFill>
                <a:latin typeface="Aptos" pitchFamily="34" charset="0"/>
                <a:ea typeface="Aptos" pitchFamily="34" charset="-122"/>
                <a:cs typeface="Aptos" pitchFamily="34" charset="-120"/>
              </a:rPr>
              <a:t>                  Managed data / queue</a:t>
            </a:r>
            <a:endParaRPr lang="en-US" sz="920" dirty="0"/>
          </a:p>
        </p:txBody>
      </p:sp>
      <p:sp>
        <p:nvSpPr>
          <p:cNvPr id="23" name="Text 21"/>
          <p:cNvSpPr txBox="1"/>
          <p:nvPr/>
        </p:nvSpPr>
        <p:spPr>
          <a:xfrm>
            <a:off x="8247888" y="3401568"/>
            <a:ext cx="3172968" cy="2377440"/>
          </a:xfrm>
          <a:prstGeom prst="rect">
            <a:avLst/>
          </a:prstGeom>
          <a:noFill/>
          <a:ln/>
        </p:spPr>
        <p:txBody>
          <a:bodyPr wrap="square" lIns="254" tIns="254" rIns="254" bIns="254" rtlCol="0" anchor="t">
            <a:normAutofit/>
          </a:bodyPr>
          <a:lstStyle/>
          <a:p>
            <a:pPr algn="l" indent="0" marL="0">
              <a:buNone/>
            </a:pPr>
            <a:r>
              <a:rPr lang="en-US" sz="910" dirty="0">
                <a:solidFill>
                  <a:srgbClr val="566A83"/>
                </a:solidFill>
                <a:latin typeface="Aptos" pitchFamily="34" charset="0"/>
                <a:ea typeface="Aptos" pitchFamily="34" charset="-122"/>
                <a:cs typeface="Aptos" pitchFamily="34" charset="-120"/>
              </a:rPr>
              <a:t>STRUCTURE  Functions run in response to requests/events.</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DEPLOY / SCALE  Provider runs infrastructure; functions scale on demand.</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UPSIDE  Less server management; pay by use in many models.</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TRADE-OFF  Limits, cold starts, and provider-specific design can matter.</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GOOD FIT  Event-driven tasks, APIs, and uneven workloads.</a:t>
            </a:r>
            <a:endParaRPr lang="en-US" sz="910" dirty="0"/>
          </a:p>
        </p:txBody>
      </p:sp>
      <p:sp>
        <p:nvSpPr>
          <p:cNvPr id="24" name="Shape 22"/>
          <p:cNvSpPr/>
          <p:nvPr/>
        </p:nvSpPr>
        <p:spPr>
          <a:xfrm>
            <a:off x="566928" y="6108192"/>
            <a:ext cx="11055096" cy="228600"/>
          </a:xfrm>
          <a:prstGeom prst="roundRect">
            <a:avLst>
              <a:gd name="adj" fmla="val 32000"/>
            </a:avLst>
          </a:prstGeom>
          <a:solidFill>
            <a:srgbClr val="E8F5EF"/>
          </a:solidFill>
          <a:ln w="10160">
            <a:solidFill>
              <a:srgbClr val="E8F5EF"/>
            </a:solidFill>
            <a:prstDash val="solid"/>
          </a:ln>
        </p:spPr>
      </p:sp>
      <p:sp>
        <p:nvSpPr>
          <p:cNvPr id="25" name="Text 23"/>
          <p:cNvSpPr txBox="1"/>
          <p:nvPr/>
        </p:nvSpPr>
        <p:spPr>
          <a:xfrm>
            <a:off x="749808" y="6126480"/>
            <a:ext cx="10716768" cy="182880"/>
          </a:xfrm>
          <a:prstGeom prst="rect">
            <a:avLst/>
          </a:prstGeom>
          <a:noFill/>
          <a:ln/>
        </p:spPr>
        <p:txBody>
          <a:bodyPr wrap="square" lIns="508" tIns="508" rIns="508" bIns="508" rtlCol="0" anchor="ctr">
            <a:normAutofit/>
          </a:bodyPr>
          <a:lstStyle/>
          <a:p>
            <a:pPr algn="ctr" indent="0" marL="0">
              <a:buNone/>
            </a:pPr>
            <a:r>
              <a:rPr lang="en-US" sz="860" b="1" dirty="0">
                <a:solidFill>
                  <a:srgbClr val="286C55"/>
                </a:solidFill>
                <a:latin typeface="Aptos" pitchFamily="34" charset="0"/>
                <a:ea typeface="Aptos" pitchFamily="34" charset="-122"/>
                <a:cs typeface="Aptos" pitchFamily="34" charset="-120"/>
              </a:rPr>
              <a:t>A sensible path: start with a modular monolith; split services when independent scaling, ownership, or release cadence justifies the added distributed-systems cost.</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HOW PARTS WORK TOGETHER</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2200" b="1" dirty="0">
                <a:solidFill>
                  <a:srgbClr val="14253D"/>
                </a:solidFill>
                <a:latin typeface="Aptos" pitchFamily="34" charset="0"/>
                <a:ea typeface="Aptos" pitchFamily="34" charset="-122"/>
                <a:cs typeface="Aptos" pitchFamily="34" charset="-120"/>
              </a:rPr>
              <a:t>Essential Components and Communication</a:t>
            </a:r>
            <a:endParaRPr lang="en-US" sz="220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Order example: authenticate the shopper, validate the request, then coordinate work across services.</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03 / 08</a:t>
            </a:r>
            <a:endParaRPr lang="en-US" sz="760" dirty="0"/>
          </a:p>
        </p:txBody>
      </p:sp>
      <p:sp>
        <p:nvSpPr>
          <p:cNvPr id="9" name="Shape 7"/>
          <p:cNvSpPr/>
          <p:nvPr/>
        </p:nvSpPr>
        <p:spPr>
          <a:xfrm>
            <a:off x="566928" y="1508760"/>
            <a:ext cx="3337560" cy="2176272"/>
          </a:xfrm>
          <a:prstGeom prst="roundRect">
            <a:avLst>
              <a:gd name="adj" fmla="val 3361"/>
            </a:avLst>
          </a:prstGeom>
          <a:solidFill>
            <a:srgbClr val="FFFFFF"/>
          </a:solidFill>
          <a:ln w="10160">
            <a:solidFill>
              <a:srgbClr val="D7E0EC"/>
            </a:solidFill>
            <a:prstDash val="solid"/>
          </a:ln>
        </p:spPr>
      </p:sp>
      <p:sp>
        <p:nvSpPr>
          <p:cNvPr id="10" name="Shape 8"/>
          <p:cNvSpPr/>
          <p:nvPr/>
        </p:nvSpPr>
        <p:spPr>
          <a:xfrm>
            <a:off x="576072" y="1618488"/>
            <a:ext cx="41148" cy="1956816"/>
          </a:xfrm>
          <a:prstGeom prst="rect">
            <a:avLst/>
          </a:prstGeom>
          <a:solidFill>
            <a:srgbClr val="2367D1"/>
          </a:solidFill>
          <a:ln w="12700">
            <a:solidFill>
              <a:srgbClr val="2367D1">
                <a:alpha val="0"/>
              </a:srgbClr>
            </a:solidFill>
            <a:prstDash val="solid"/>
          </a:ln>
        </p:spPr>
      </p:sp>
      <p:sp>
        <p:nvSpPr>
          <p:cNvPr id="11" name="Text 9"/>
          <p:cNvSpPr txBox="1"/>
          <p:nvPr/>
        </p:nvSpPr>
        <p:spPr>
          <a:xfrm>
            <a:off x="722376" y="1600200"/>
            <a:ext cx="3044952" cy="274320"/>
          </a:xfrm>
          <a:prstGeom prst="rect">
            <a:avLst/>
          </a:prstGeom>
          <a:noFill/>
          <a:ln/>
        </p:spPr>
        <p:txBody>
          <a:bodyPr wrap="square" lIns="508" tIns="508" rIns="508" bIns="508" rtlCol="0" anchor="ctr">
            <a:normAutofit/>
          </a:bodyPr>
          <a:lstStyle/>
          <a:p>
            <a:pPr algn="l" indent="0" marL="0">
              <a:buNone/>
            </a:pPr>
            <a:r>
              <a:rPr lang="en-US" sz="1200" b="1" dirty="0">
                <a:solidFill>
                  <a:srgbClr val="14253D"/>
                </a:solidFill>
                <a:latin typeface="Aptos" pitchFamily="34" charset="0"/>
                <a:ea typeface="Aptos" pitchFamily="34" charset="-122"/>
                <a:cs typeface="Aptos" pitchFamily="34" charset="-120"/>
              </a:rPr>
              <a:t>Two communication styles</a:t>
            </a:r>
            <a:endParaRPr lang="en-US" sz="1200" dirty="0"/>
          </a:p>
        </p:txBody>
      </p:sp>
      <p:sp>
        <p:nvSpPr>
          <p:cNvPr id="12" name="Text 10"/>
          <p:cNvSpPr txBox="1"/>
          <p:nvPr/>
        </p:nvSpPr>
        <p:spPr>
          <a:xfrm>
            <a:off x="722376" y="1947672"/>
            <a:ext cx="3044952" cy="1627632"/>
          </a:xfrm>
          <a:prstGeom prst="rect">
            <a:avLst/>
          </a:prstGeom>
          <a:noFill/>
          <a:ln/>
        </p:spPr>
        <p:txBody>
          <a:bodyPr wrap="square" lIns="254" tIns="254" rIns="254" bIns="254" rtlCol="0" anchor="t">
            <a:normAutofit/>
          </a:bodyPr>
          <a:lstStyle/>
          <a:p>
            <a:pPr algn="l" indent="0" marL="0">
              <a:buNone/>
            </a:pPr>
            <a:r>
              <a:rPr lang="en-US" sz="980" dirty="0">
                <a:solidFill>
                  <a:srgbClr val="566A83"/>
                </a:solidFill>
                <a:latin typeface="Aptos" pitchFamily="34" charset="0"/>
                <a:ea typeface="Aptos" pitchFamily="34" charset="-122"/>
                <a:cs typeface="Aptos" pitchFamily="34" charset="-120"/>
              </a:rPr>
              <a:t>SYNC  HTTP / REST request waits for a response. Use it when the customer needs an immediate answer, such as “is this item in my cart?”</a:t>
            </a:r>
            <a:endParaRPr lang="en-US" sz="980" dirty="0"/>
          </a:p>
          <a:p>
            <a:pPr algn="l" indent="0" marL="0">
              <a:buNone/>
            </a:pPr>
            <a:endParaRPr lang="en-US" sz="980" dirty="0"/>
          </a:p>
          <a:p>
            <a:pPr algn="l" indent="0" marL="0">
              <a:buNone/>
            </a:pPr>
            <a:r>
              <a:rPr lang="en-US" sz="980" dirty="0">
                <a:solidFill>
                  <a:srgbClr val="566A83"/>
                </a:solidFill>
                <a:latin typeface="Aptos" pitchFamily="34" charset="0"/>
                <a:ea typeface="Aptos" pitchFamily="34" charset="-122"/>
                <a:cs typeface="Aptos" pitchFamily="34" charset="-120"/>
              </a:rPr>
              <a:t>ASYNC  A message or event is stored for later work. Use it for tasks such as sending receipts or starting fulfilment.</a:t>
            </a:r>
            <a:endParaRPr lang="en-US" sz="980" dirty="0"/>
          </a:p>
        </p:txBody>
      </p:sp>
      <p:sp>
        <p:nvSpPr>
          <p:cNvPr id="13" name="Shape 11"/>
          <p:cNvSpPr/>
          <p:nvPr/>
        </p:nvSpPr>
        <p:spPr>
          <a:xfrm>
            <a:off x="566928" y="3822192"/>
            <a:ext cx="3337560" cy="2176272"/>
          </a:xfrm>
          <a:prstGeom prst="roundRect">
            <a:avLst>
              <a:gd name="adj" fmla="val 3361"/>
            </a:avLst>
          </a:prstGeom>
          <a:solidFill>
            <a:srgbClr val="FFF3E2"/>
          </a:solidFill>
          <a:ln w="10160">
            <a:solidFill>
              <a:srgbClr val="D7E0EC"/>
            </a:solidFill>
            <a:prstDash val="solid"/>
          </a:ln>
        </p:spPr>
      </p:sp>
      <p:sp>
        <p:nvSpPr>
          <p:cNvPr id="14" name="Shape 12"/>
          <p:cNvSpPr/>
          <p:nvPr/>
        </p:nvSpPr>
        <p:spPr>
          <a:xfrm>
            <a:off x="576072" y="3931920"/>
            <a:ext cx="41148" cy="1956816"/>
          </a:xfrm>
          <a:prstGeom prst="rect">
            <a:avLst/>
          </a:prstGeom>
          <a:solidFill>
            <a:srgbClr val="F2A341"/>
          </a:solidFill>
          <a:ln w="12700">
            <a:solidFill>
              <a:srgbClr val="F2A341">
                <a:alpha val="0"/>
              </a:srgbClr>
            </a:solidFill>
            <a:prstDash val="solid"/>
          </a:ln>
        </p:spPr>
      </p:sp>
      <p:sp>
        <p:nvSpPr>
          <p:cNvPr id="15" name="Text 13"/>
          <p:cNvSpPr txBox="1"/>
          <p:nvPr/>
        </p:nvSpPr>
        <p:spPr>
          <a:xfrm>
            <a:off x="722376" y="3913632"/>
            <a:ext cx="3044952" cy="274320"/>
          </a:xfrm>
          <a:prstGeom prst="rect">
            <a:avLst/>
          </a:prstGeom>
          <a:noFill/>
          <a:ln/>
        </p:spPr>
        <p:txBody>
          <a:bodyPr wrap="square" lIns="508" tIns="508" rIns="508" bIns="508" rtlCol="0" anchor="ctr">
            <a:normAutofit/>
          </a:bodyPr>
          <a:lstStyle/>
          <a:p>
            <a:pPr algn="l" indent="0" marL="0">
              <a:buNone/>
            </a:pPr>
            <a:r>
              <a:rPr lang="en-US" sz="1200" b="1" dirty="0">
                <a:solidFill>
                  <a:srgbClr val="14253D"/>
                </a:solidFill>
                <a:latin typeface="Aptos" pitchFamily="34" charset="0"/>
                <a:ea typeface="Aptos" pitchFamily="34" charset="-122"/>
                <a:cs typeface="Aptos" pitchFamily="34" charset="-120"/>
              </a:rPr>
              <a:t>Design principles</a:t>
            </a:r>
            <a:endParaRPr lang="en-US" sz="1200" dirty="0"/>
          </a:p>
        </p:txBody>
      </p:sp>
      <p:sp>
        <p:nvSpPr>
          <p:cNvPr id="16" name="Text 14"/>
          <p:cNvSpPr txBox="1"/>
          <p:nvPr/>
        </p:nvSpPr>
        <p:spPr>
          <a:xfrm>
            <a:off x="722376" y="4261104"/>
            <a:ext cx="3044952" cy="1627632"/>
          </a:xfrm>
          <a:prstGeom prst="rect">
            <a:avLst/>
          </a:prstGeom>
          <a:noFill/>
          <a:ln/>
        </p:spPr>
        <p:txBody>
          <a:bodyPr wrap="square" lIns="254" tIns="254" rIns="254" bIns="254" rtlCol="0" anchor="t">
            <a:normAutofit/>
          </a:bodyPr>
          <a:lstStyle/>
          <a:p>
            <a:pPr algn="l" indent="0" marL="0">
              <a:buNone/>
            </a:pPr>
            <a:r>
              <a:rPr lang="en-US" sz="930" dirty="0">
                <a:solidFill>
                  <a:srgbClr val="566A83"/>
                </a:solidFill>
                <a:latin typeface="Aptos" pitchFamily="34" charset="0"/>
                <a:ea typeface="Aptos" pitchFamily="34" charset="-122"/>
                <a:cs typeface="Aptos" pitchFamily="34" charset="-120"/>
              </a:rPr>
              <a:t>•  Separation of concerns: each part has a clear job.</a:t>
            </a:r>
            <a:endParaRPr lang="en-US" sz="930" dirty="0"/>
          </a:p>
          <a:p>
            <a:pPr algn="l" indent="0" marL="0">
              <a:buNone/>
            </a:pPr>
            <a:r>
              <a:rPr lang="en-US" sz="930" dirty="0">
                <a:solidFill>
                  <a:srgbClr val="566A83"/>
                </a:solidFill>
                <a:latin typeface="Aptos" pitchFamily="34" charset="0"/>
                <a:ea typeface="Aptos" pitchFamily="34" charset="-122"/>
                <a:cs typeface="Aptos" pitchFamily="34" charset="-120"/>
              </a:rPr>
              <a:t>•  Modularity: change one capability without rewriting all.</a:t>
            </a:r>
            <a:endParaRPr lang="en-US" sz="930" dirty="0"/>
          </a:p>
          <a:p>
            <a:pPr algn="l" indent="0" marL="0">
              <a:buNone/>
            </a:pPr>
            <a:r>
              <a:rPr lang="en-US" sz="930" dirty="0">
                <a:solidFill>
                  <a:srgbClr val="566A83"/>
                </a:solidFill>
                <a:latin typeface="Aptos" pitchFamily="34" charset="0"/>
                <a:ea typeface="Aptos" pitchFamily="34" charset="-122"/>
                <a:cs typeface="Aptos" pitchFamily="34" charset="-120"/>
              </a:rPr>
              <a:t>•  Security: authenticate, authorize, validate, protect data.</a:t>
            </a:r>
            <a:endParaRPr lang="en-US" sz="930" dirty="0"/>
          </a:p>
          <a:p>
            <a:pPr algn="l" indent="0" marL="0">
              <a:buNone/>
            </a:pPr>
            <a:r>
              <a:rPr lang="en-US" sz="930" dirty="0">
                <a:solidFill>
                  <a:srgbClr val="566A83"/>
                </a:solidFill>
                <a:latin typeface="Aptos" pitchFamily="34" charset="0"/>
                <a:ea typeface="Aptos" pitchFamily="34" charset="-122"/>
                <a:cs typeface="Aptos" pitchFamily="34" charset="-120"/>
              </a:rPr>
              <a:t>•  Reliability + maintainability: handle failures and keep code understandable.</a:t>
            </a:r>
            <a:endParaRPr lang="en-US" sz="930" dirty="0"/>
          </a:p>
        </p:txBody>
      </p:sp>
      <p:sp>
        <p:nvSpPr>
          <p:cNvPr id="17" name="Shape 15"/>
          <p:cNvSpPr/>
          <p:nvPr/>
        </p:nvSpPr>
        <p:spPr>
          <a:xfrm>
            <a:off x="4160520" y="1508760"/>
            <a:ext cx="7461504" cy="4489704"/>
          </a:xfrm>
          <a:prstGeom prst="roundRect">
            <a:avLst>
              <a:gd name="adj" fmla="val 1629"/>
            </a:avLst>
          </a:prstGeom>
          <a:solidFill>
            <a:srgbClr val="FFFFFF"/>
          </a:solidFill>
          <a:ln w="10160">
            <a:solidFill>
              <a:srgbClr val="D7E0EC"/>
            </a:solidFill>
            <a:prstDash val="solid"/>
          </a:ln>
        </p:spPr>
      </p:sp>
      <p:sp>
        <p:nvSpPr>
          <p:cNvPr id="18" name="Text 16"/>
          <p:cNvSpPr txBox="1"/>
          <p:nvPr/>
        </p:nvSpPr>
        <p:spPr>
          <a:xfrm>
            <a:off x="4407408" y="1700784"/>
            <a:ext cx="2880360" cy="210312"/>
          </a:xfrm>
          <a:prstGeom prst="rect">
            <a:avLst/>
          </a:prstGeom>
          <a:noFill/>
          <a:ln/>
        </p:spPr>
        <p:txBody>
          <a:bodyPr wrap="square" lIns="508" tIns="508" rIns="508" bIns="508" rtlCol="0" anchor="ctr">
            <a:normAutofit/>
          </a:bodyPr>
          <a:lstStyle/>
          <a:p>
            <a:pPr algn="l" indent="0" marL="0">
              <a:buNone/>
            </a:pPr>
            <a:r>
              <a:rPr lang="en-US" sz="830" b="1" dirty="0">
                <a:solidFill>
                  <a:srgbClr val="2367D1"/>
                </a:solidFill>
                <a:latin typeface="Aptos" pitchFamily="34" charset="0"/>
                <a:ea typeface="Aptos" pitchFamily="34" charset="-122"/>
                <a:cs typeface="Aptos" pitchFamily="34" charset="-120"/>
              </a:rPr>
              <a:t>CUSTOMER PLACES AN ORDER</a:t>
            </a:r>
            <a:endParaRPr lang="en-US" sz="830" dirty="0"/>
          </a:p>
        </p:txBody>
      </p:sp>
      <p:sp>
        <p:nvSpPr>
          <p:cNvPr id="19" name="Shape 17"/>
          <p:cNvSpPr/>
          <p:nvPr/>
        </p:nvSpPr>
        <p:spPr>
          <a:xfrm>
            <a:off x="5559552" y="2752344"/>
            <a:ext cx="420624" cy="914"/>
          </a:xfrm>
          <a:prstGeom prst="line">
            <a:avLst/>
          </a:prstGeom>
          <a:noFill/>
          <a:ln w="17780">
            <a:solidFill>
              <a:srgbClr val="2367D1"/>
            </a:solidFill>
            <a:prstDash val="solid"/>
            <a:headEnd type="none"/>
            <a:tailEnd type="triangle"/>
          </a:ln>
        </p:spPr>
      </p:sp>
      <p:sp>
        <p:nvSpPr>
          <p:cNvPr id="20" name="Text 18"/>
          <p:cNvSpPr txBox="1"/>
          <p:nvPr/>
        </p:nvSpPr>
        <p:spPr>
          <a:xfrm>
            <a:off x="5330952" y="2505456"/>
            <a:ext cx="1051560" cy="201168"/>
          </a:xfrm>
          <a:prstGeom prst="rect">
            <a:avLst/>
          </a:prstGeom>
          <a:noFill/>
          <a:ln/>
        </p:spPr>
        <p:txBody>
          <a:bodyPr wrap="square" lIns="508" tIns="508" rIns="508" bIns="508" rtlCol="0" anchor="ctr">
            <a:normAutofit/>
          </a:bodyPr>
          <a:lstStyle/>
          <a:p>
            <a:pPr algn="ctr" indent="0" marL="0">
              <a:buNone/>
            </a:pPr>
            <a:r>
              <a:rPr lang="en-US" sz="770" dirty="0">
                <a:solidFill>
                  <a:srgbClr val="566A83"/>
                </a:solidFill>
                <a:latin typeface="Aptos" pitchFamily="34" charset="0"/>
                <a:ea typeface="Aptos" pitchFamily="34" charset="-122"/>
                <a:cs typeface="Aptos" pitchFamily="34" charset="-120"/>
              </a:rPr>
              <a:t>HTTPS</a:t>
            </a:r>
            <a:endParaRPr lang="en-US" sz="770" dirty="0"/>
          </a:p>
        </p:txBody>
      </p:sp>
      <p:sp>
        <p:nvSpPr>
          <p:cNvPr id="21" name="Shape 19"/>
          <p:cNvSpPr/>
          <p:nvPr/>
        </p:nvSpPr>
        <p:spPr>
          <a:xfrm>
            <a:off x="7333488" y="2752344"/>
            <a:ext cx="429768" cy="914"/>
          </a:xfrm>
          <a:prstGeom prst="line">
            <a:avLst/>
          </a:prstGeom>
          <a:noFill/>
          <a:ln w="17780">
            <a:solidFill>
              <a:srgbClr val="2367D1"/>
            </a:solidFill>
            <a:prstDash val="solid"/>
            <a:headEnd type="none"/>
            <a:tailEnd type="triangle"/>
          </a:ln>
        </p:spPr>
      </p:sp>
      <p:sp>
        <p:nvSpPr>
          <p:cNvPr id="22" name="Text 20"/>
          <p:cNvSpPr txBox="1"/>
          <p:nvPr/>
        </p:nvSpPr>
        <p:spPr>
          <a:xfrm>
            <a:off x="7109460" y="2505456"/>
            <a:ext cx="1051560" cy="201168"/>
          </a:xfrm>
          <a:prstGeom prst="rect">
            <a:avLst/>
          </a:prstGeom>
          <a:noFill/>
          <a:ln/>
        </p:spPr>
        <p:txBody>
          <a:bodyPr wrap="square" lIns="508" tIns="508" rIns="508" bIns="508" rtlCol="0" anchor="ctr">
            <a:normAutofit/>
          </a:bodyPr>
          <a:lstStyle/>
          <a:p>
            <a:pPr algn="ctr" indent="0" marL="0">
              <a:buNone/>
            </a:pPr>
            <a:r>
              <a:rPr lang="en-US" sz="770" dirty="0">
                <a:solidFill>
                  <a:srgbClr val="566A83"/>
                </a:solidFill>
                <a:latin typeface="Aptos" pitchFamily="34" charset="0"/>
                <a:ea typeface="Aptos" pitchFamily="34" charset="-122"/>
                <a:cs typeface="Aptos" pitchFamily="34" charset="-120"/>
              </a:rPr>
              <a:t>sync API</a:t>
            </a:r>
            <a:endParaRPr lang="en-US" sz="770" dirty="0"/>
          </a:p>
        </p:txBody>
      </p:sp>
      <p:sp>
        <p:nvSpPr>
          <p:cNvPr id="23" name="Shape 21"/>
          <p:cNvSpPr/>
          <p:nvPr/>
        </p:nvSpPr>
        <p:spPr>
          <a:xfrm>
            <a:off x="9089136" y="2752344"/>
            <a:ext cx="512064" cy="914"/>
          </a:xfrm>
          <a:prstGeom prst="line">
            <a:avLst/>
          </a:prstGeom>
          <a:noFill/>
          <a:ln w="17780">
            <a:solidFill>
              <a:srgbClr val="2367D1"/>
            </a:solidFill>
            <a:prstDash val="solid"/>
            <a:headEnd type="none"/>
            <a:tailEnd type="triangle"/>
          </a:ln>
        </p:spPr>
      </p:sp>
      <p:sp>
        <p:nvSpPr>
          <p:cNvPr id="24" name="Text 22"/>
          <p:cNvSpPr txBox="1"/>
          <p:nvPr/>
        </p:nvSpPr>
        <p:spPr>
          <a:xfrm>
            <a:off x="8906256" y="2505456"/>
            <a:ext cx="1051560" cy="201168"/>
          </a:xfrm>
          <a:prstGeom prst="rect">
            <a:avLst/>
          </a:prstGeom>
          <a:noFill/>
          <a:ln/>
        </p:spPr>
        <p:txBody>
          <a:bodyPr wrap="square" lIns="508" tIns="508" rIns="508" bIns="508" rtlCol="0" anchor="ctr">
            <a:normAutofit/>
          </a:bodyPr>
          <a:lstStyle/>
          <a:p>
            <a:pPr algn="ctr" indent="0" marL="0">
              <a:buNone/>
            </a:pPr>
            <a:r>
              <a:rPr lang="en-US" sz="770" dirty="0">
                <a:solidFill>
                  <a:srgbClr val="566A83"/>
                </a:solidFill>
                <a:latin typeface="Aptos" pitchFamily="34" charset="0"/>
                <a:ea typeface="Aptos" pitchFamily="34" charset="-122"/>
                <a:cs typeface="Aptos" pitchFamily="34" charset="-120"/>
              </a:rPr>
              <a:t>validate</a:t>
            </a:r>
            <a:endParaRPr lang="en-US" sz="770" dirty="0"/>
          </a:p>
        </p:txBody>
      </p:sp>
      <p:sp>
        <p:nvSpPr>
          <p:cNvPr id="25" name="Shape 23"/>
          <p:cNvSpPr/>
          <p:nvPr/>
        </p:nvSpPr>
        <p:spPr>
          <a:xfrm>
            <a:off x="4425696" y="2267712"/>
            <a:ext cx="1133856" cy="950976"/>
          </a:xfrm>
          <a:prstGeom prst="roundRect">
            <a:avLst>
              <a:gd name="adj" fmla="val 7692"/>
            </a:avLst>
          </a:prstGeom>
          <a:solidFill>
            <a:srgbClr val="E8F0FE"/>
          </a:solidFill>
          <a:ln w="10160">
            <a:solidFill>
              <a:srgbClr val="D7E0EC"/>
            </a:solidFill>
            <a:prstDash val="solid"/>
          </a:ln>
        </p:spPr>
      </p:sp>
      <p:sp>
        <p:nvSpPr>
          <p:cNvPr id="26" name="Shape 24"/>
          <p:cNvSpPr/>
          <p:nvPr/>
        </p:nvSpPr>
        <p:spPr>
          <a:xfrm>
            <a:off x="4443984" y="2359152"/>
            <a:ext cx="41148" cy="768096"/>
          </a:xfrm>
          <a:prstGeom prst="rect">
            <a:avLst/>
          </a:prstGeom>
          <a:solidFill>
            <a:srgbClr val="31445D"/>
          </a:solidFill>
          <a:ln w="12700">
            <a:solidFill>
              <a:srgbClr val="31445D">
                <a:alpha val="0"/>
              </a:srgbClr>
            </a:solidFill>
            <a:prstDash val="solid"/>
          </a:ln>
        </p:spPr>
      </p:sp>
      <p:sp>
        <p:nvSpPr>
          <p:cNvPr id="27" name="Text 25"/>
          <p:cNvSpPr txBox="1"/>
          <p:nvPr/>
        </p:nvSpPr>
        <p:spPr>
          <a:xfrm>
            <a:off x="4544568" y="2340864"/>
            <a:ext cx="93268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Web / app</a:t>
            </a:r>
            <a:endParaRPr lang="en-US" sz="1030" dirty="0"/>
          </a:p>
        </p:txBody>
      </p:sp>
      <p:sp>
        <p:nvSpPr>
          <p:cNvPr id="28" name="Text 26"/>
          <p:cNvSpPr txBox="1"/>
          <p:nvPr/>
        </p:nvSpPr>
        <p:spPr>
          <a:xfrm>
            <a:off x="4544568" y="2615184"/>
            <a:ext cx="932688"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Customer request</a:t>
            </a:r>
            <a:endParaRPr lang="en-US" sz="850" dirty="0"/>
          </a:p>
        </p:txBody>
      </p:sp>
      <p:sp>
        <p:nvSpPr>
          <p:cNvPr id="29" name="Shape 27"/>
          <p:cNvSpPr/>
          <p:nvPr/>
        </p:nvSpPr>
        <p:spPr>
          <a:xfrm>
            <a:off x="5980176" y="2267712"/>
            <a:ext cx="1353312" cy="950976"/>
          </a:xfrm>
          <a:prstGeom prst="roundRect">
            <a:avLst>
              <a:gd name="adj" fmla="val 7692"/>
            </a:avLst>
          </a:prstGeom>
          <a:solidFill>
            <a:srgbClr val="E8F0FE"/>
          </a:solidFill>
          <a:ln w="10160">
            <a:solidFill>
              <a:srgbClr val="D7E0EC"/>
            </a:solidFill>
            <a:prstDash val="solid"/>
          </a:ln>
        </p:spPr>
      </p:sp>
      <p:sp>
        <p:nvSpPr>
          <p:cNvPr id="30" name="Shape 28"/>
          <p:cNvSpPr/>
          <p:nvPr/>
        </p:nvSpPr>
        <p:spPr>
          <a:xfrm>
            <a:off x="5998464" y="2359152"/>
            <a:ext cx="41148" cy="768096"/>
          </a:xfrm>
          <a:prstGeom prst="rect">
            <a:avLst/>
          </a:prstGeom>
          <a:solidFill>
            <a:srgbClr val="2367D1"/>
          </a:solidFill>
          <a:ln w="12700">
            <a:solidFill>
              <a:srgbClr val="2367D1">
                <a:alpha val="0"/>
              </a:srgbClr>
            </a:solidFill>
            <a:prstDash val="solid"/>
          </a:ln>
        </p:spPr>
      </p:sp>
      <p:sp>
        <p:nvSpPr>
          <p:cNvPr id="31" name="Text 29"/>
          <p:cNvSpPr txBox="1"/>
          <p:nvPr/>
        </p:nvSpPr>
        <p:spPr>
          <a:xfrm>
            <a:off x="6099048" y="2340864"/>
            <a:ext cx="115214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API gateway</a:t>
            </a:r>
            <a:endParaRPr lang="en-US" sz="1030" dirty="0"/>
          </a:p>
        </p:txBody>
      </p:sp>
      <p:sp>
        <p:nvSpPr>
          <p:cNvPr id="32" name="Text 30"/>
          <p:cNvSpPr txBox="1"/>
          <p:nvPr/>
        </p:nvSpPr>
        <p:spPr>
          <a:xfrm>
            <a:off x="6099048" y="2615184"/>
            <a:ext cx="1152144"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Routing + limits</a:t>
            </a:r>
            <a:endParaRPr lang="en-US" sz="850" dirty="0"/>
          </a:p>
        </p:txBody>
      </p:sp>
      <p:sp>
        <p:nvSpPr>
          <p:cNvPr id="33" name="Shape 31"/>
          <p:cNvSpPr/>
          <p:nvPr/>
        </p:nvSpPr>
        <p:spPr>
          <a:xfrm>
            <a:off x="7763256" y="2267712"/>
            <a:ext cx="1325880" cy="950976"/>
          </a:xfrm>
          <a:prstGeom prst="roundRect">
            <a:avLst>
              <a:gd name="adj" fmla="val 7692"/>
            </a:avLst>
          </a:prstGeom>
          <a:solidFill>
            <a:srgbClr val="FFF3E2"/>
          </a:solidFill>
          <a:ln w="10160">
            <a:solidFill>
              <a:srgbClr val="D7E0EC"/>
            </a:solidFill>
            <a:prstDash val="solid"/>
          </a:ln>
        </p:spPr>
      </p:sp>
      <p:sp>
        <p:nvSpPr>
          <p:cNvPr id="34" name="Shape 32"/>
          <p:cNvSpPr/>
          <p:nvPr/>
        </p:nvSpPr>
        <p:spPr>
          <a:xfrm>
            <a:off x="7781544" y="2359152"/>
            <a:ext cx="41148" cy="768096"/>
          </a:xfrm>
          <a:prstGeom prst="rect">
            <a:avLst/>
          </a:prstGeom>
          <a:solidFill>
            <a:srgbClr val="F2A341"/>
          </a:solidFill>
          <a:ln w="12700">
            <a:solidFill>
              <a:srgbClr val="F2A341">
                <a:alpha val="0"/>
              </a:srgbClr>
            </a:solidFill>
            <a:prstDash val="solid"/>
          </a:ln>
        </p:spPr>
      </p:sp>
      <p:sp>
        <p:nvSpPr>
          <p:cNvPr id="35" name="Text 33"/>
          <p:cNvSpPr txBox="1"/>
          <p:nvPr/>
        </p:nvSpPr>
        <p:spPr>
          <a:xfrm>
            <a:off x="7882128" y="2340864"/>
            <a:ext cx="112471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Auth + order</a:t>
            </a:r>
            <a:endParaRPr lang="en-US" sz="1030" dirty="0"/>
          </a:p>
        </p:txBody>
      </p:sp>
      <p:sp>
        <p:nvSpPr>
          <p:cNvPr id="36" name="Text 34"/>
          <p:cNvSpPr txBox="1"/>
          <p:nvPr/>
        </p:nvSpPr>
        <p:spPr>
          <a:xfrm>
            <a:off x="7882128" y="2615184"/>
            <a:ext cx="1124712"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Identity + rules</a:t>
            </a:r>
            <a:endParaRPr lang="en-US" sz="850" dirty="0"/>
          </a:p>
        </p:txBody>
      </p:sp>
      <p:sp>
        <p:nvSpPr>
          <p:cNvPr id="37" name="Shape 35"/>
          <p:cNvSpPr/>
          <p:nvPr/>
        </p:nvSpPr>
        <p:spPr>
          <a:xfrm>
            <a:off x="9601200" y="2267712"/>
            <a:ext cx="1591056" cy="950976"/>
          </a:xfrm>
          <a:prstGeom prst="roundRect">
            <a:avLst>
              <a:gd name="adj" fmla="val 7692"/>
            </a:avLst>
          </a:prstGeom>
          <a:solidFill>
            <a:srgbClr val="E8F5EF"/>
          </a:solidFill>
          <a:ln w="10160">
            <a:solidFill>
              <a:srgbClr val="D7E0EC"/>
            </a:solidFill>
            <a:prstDash val="solid"/>
          </a:ln>
        </p:spPr>
      </p:sp>
      <p:sp>
        <p:nvSpPr>
          <p:cNvPr id="38" name="Shape 36"/>
          <p:cNvSpPr/>
          <p:nvPr/>
        </p:nvSpPr>
        <p:spPr>
          <a:xfrm>
            <a:off x="9619488" y="2359152"/>
            <a:ext cx="41148" cy="768096"/>
          </a:xfrm>
          <a:prstGeom prst="rect">
            <a:avLst/>
          </a:prstGeom>
          <a:solidFill>
            <a:srgbClr val="329879"/>
          </a:solidFill>
          <a:ln w="12700">
            <a:solidFill>
              <a:srgbClr val="329879">
                <a:alpha val="0"/>
              </a:srgbClr>
            </a:solidFill>
            <a:prstDash val="solid"/>
          </a:ln>
        </p:spPr>
      </p:sp>
      <p:sp>
        <p:nvSpPr>
          <p:cNvPr id="39" name="Text 37"/>
          <p:cNvSpPr txBox="1"/>
          <p:nvPr/>
        </p:nvSpPr>
        <p:spPr>
          <a:xfrm>
            <a:off x="9720072" y="2340864"/>
            <a:ext cx="138988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Inventory</a:t>
            </a:r>
            <a:endParaRPr lang="en-US" sz="1030" dirty="0"/>
          </a:p>
        </p:txBody>
      </p:sp>
      <p:sp>
        <p:nvSpPr>
          <p:cNvPr id="40" name="Text 38"/>
          <p:cNvSpPr txBox="1"/>
          <p:nvPr/>
        </p:nvSpPr>
        <p:spPr>
          <a:xfrm>
            <a:off x="9720072" y="2615184"/>
            <a:ext cx="1389888"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Check availability</a:t>
            </a:r>
            <a:endParaRPr lang="en-US" sz="850" dirty="0"/>
          </a:p>
        </p:txBody>
      </p:sp>
      <p:sp>
        <p:nvSpPr>
          <p:cNvPr id="41" name="Shape 39"/>
          <p:cNvSpPr/>
          <p:nvPr/>
        </p:nvSpPr>
        <p:spPr>
          <a:xfrm>
            <a:off x="8403336" y="3264408"/>
            <a:ext cx="914" cy="676656"/>
          </a:xfrm>
          <a:prstGeom prst="line">
            <a:avLst/>
          </a:prstGeom>
          <a:noFill/>
          <a:ln w="17780">
            <a:solidFill>
              <a:srgbClr val="329879"/>
            </a:solidFill>
            <a:prstDash val="solid"/>
            <a:headEnd type="none"/>
            <a:tailEnd type="triangle"/>
          </a:ln>
        </p:spPr>
      </p:sp>
      <p:sp>
        <p:nvSpPr>
          <p:cNvPr id="42" name="Text 40"/>
          <p:cNvSpPr txBox="1"/>
          <p:nvPr/>
        </p:nvSpPr>
        <p:spPr>
          <a:xfrm>
            <a:off x="8549640" y="3483864"/>
            <a:ext cx="914400" cy="201168"/>
          </a:xfrm>
          <a:prstGeom prst="rect">
            <a:avLst/>
          </a:prstGeom>
          <a:noFill/>
          <a:ln/>
        </p:spPr>
        <p:txBody>
          <a:bodyPr wrap="square" lIns="508" tIns="508" rIns="508" bIns="508" rtlCol="0" anchor="ctr">
            <a:normAutofit/>
          </a:bodyPr>
          <a:lstStyle/>
          <a:p>
            <a:pPr algn="ctr" indent="0" marL="0">
              <a:buNone/>
            </a:pPr>
            <a:r>
              <a:rPr lang="en-US" sz="770" dirty="0">
                <a:solidFill>
                  <a:srgbClr val="329879"/>
                </a:solidFill>
                <a:latin typeface="Aptos" pitchFamily="34" charset="0"/>
                <a:ea typeface="Aptos" pitchFamily="34" charset="-122"/>
                <a:cs typeface="Aptos" pitchFamily="34" charset="-120"/>
              </a:rPr>
              <a:t>read / write</a:t>
            </a:r>
            <a:endParaRPr lang="en-US" sz="770" dirty="0"/>
          </a:p>
        </p:txBody>
      </p:sp>
      <p:sp>
        <p:nvSpPr>
          <p:cNvPr id="43" name="Shape 41"/>
          <p:cNvSpPr/>
          <p:nvPr/>
        </p:nvSpPr>
        <p:spPr>
          <a:xfrm>
            <a:off x="7763256" y="3941064"/>
            <a:ext cx="1325880" cy="950976"/>
          </a:xfrm>
          <a:prstGeom prst="roundRect">
            <a:avLst>
              <a:gd name="adj" fmla="val 7692"/>
            </a:avLst>
          </a:prstGeom>
          <a:solidFill>
            <a:srgbClr val="E8F5EF"/>
          </a:solidFill>
          <a:ln w="10160">
            <a:solidFill>
              <a:srgbClr val="D7E0EC"/>
            </a:solidFill>
            <a:prstDash val="solid"/>
          </a:ln>
        </p:spPr>
      </p:sp>
      <p:sp>
        <p:nvSpPr>
          <p:cNvPr id="44" name="Shape 42"/>
          <p:cNvSpPr/>
          <p:nvPr/>
        </p:nvSpPr>
        <p:spPr>
          <a:xfrm>
            <a:off x="7781544" y="4032504"/>
            <a:ext cx="41148" cy="768096"/>
          </a:xfrm>
          <a:prstGeom prst="rect">
            <a:avLst/>
          </a:prstGeom>
          <a:solidFill>
            <a:srgbClr val="329879"/>
          </a:solidFill>
          <a:ln w="12700">
            <a:solidFill>
              <a:srgbClr val="329879">
                <a:alpha val="0"/>
              </a:srgbClr>
            </a:solidFill>
            <a:prstDash val="solid"/>
          </a:ln>
        </p:spPr>
      </p:sp>
      <p:sp>
        <p:nvSpPr>
          <p:cNvPr id="45" name="Text 43"/>
          <p:cNvSpPr txBox="1"/>
          <p:nvPr/>
        </p:nvSpPr>
        <p:spPr>
          <a:xfrm>
            <a:off x="7882128" y="4014216"/>
            <a:ext cx="112471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Database</a:t>
            </a:r>
            <a:endParaRPr lang="en-US" sz="1030" dirty="0"/>
          </a:p>
        </p:txBody>
      </p:sp>
      <p:sp>
        <p:nvSpPr>
          <p:cNvPr id="46" name="Text 44"/>
          <p:cNvSpPr txBox="1"/>
          <p:nvPr/>
        </p:nvSpPr>
        <p:spPr>
          <a:xfrm>
            <a:off x="7882128" y="4288536"/>
            <a:ext cx="1124712"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Orders + customer data</a:t>
            </a:r>
            <a:endParaRPr lang="en-US" sz="850" dirty="0"/>
          </a:p>
        </p:txBody>
      </p:sp>
      <p:sp>
        <p:nvSpPr>
          <p:cNvPr id="47" name="Shape 45"/>
          <p:cNvSpPr/>
          <p:nvPr/>
        </p:nvSpPr>
        <p:spPr>
          <a:xfrm>
            <a:off x="9107424" y="4416552"/>
            <a:ext cx="502920" cy="914"/>
          </a:xfrm>
          <a:prstGeom prst="line">
            <a:avLst/>
          </a:prstGeom>
          <a:noFill/>
          <a:ln w="17780">
            <a:solidFill>
              <a:srgbClr val="27A9C2"/>
            </a:solidFill>
            <a:prstDash val="solid"/>
            <a:headEnd type="none"/>
            <a:tailEnd type="triangle"/>
          </a:ln>
        </p:spPr>
      </p:sp>
      <p:sp>
        <p:nvSpPr>
          <p:cNvPr id="48" name="Text 46"/>
          <p:cNvSpPr txBox="1"/>
          <p:nvPr/>
        </p:nvSpPr>
        <p:spPr>
          <a:xfrm>
            <a:off x="8919972" y="4169664"/>
            <a:ext cx="960120" cy="201168"/>
          </a:xfrm>
          <a:prstGeom prst="rect">
            <a:avLst/>
          </a:prstGeom>
          <a:noFill/>
          <a:ln/>
        </p:spPr>
        <p:txBody>
          <a:bodyPr wrap="square" lIns="508" tIns="508" rIns="508" bIns="508" rtlCol="0" anchor="ctr">
            <a:normAutofit/>
          </a:bodyPr>
          <a:lstStyle/>
          <a:p>
            <a:pPr algn="ctr" indent="0" marL="0">
              <a:buNone/>
            </a:pPr>
            <a:r>
              <a:rPr lang="en-US" sz="770" dirty="0">
                <a:solidFill>
                  <a:srgbClr val="27A9C2"/>
                </a:solidFill>
                <a:latin typeface="Aptos" pitchFamily="34" charset="0"/>
                <a:ea typeface="Aptos" pitchFamily="34" charset="-122"/>
                <a:cs typeface="Aptos" pitchFamily="34" charset="-120"/>
              </a:rPr>
              <a:t>publish event</a:t>
            </a:r>
            <a:endParaRPr lang="en-US" sz="770" dirty="0"/>
          </a:p>
        </p:txBody>
      </p:sp>
      <p:sp>
        <p:nvSpPr>
          <p:cNvPr id="49" name="Shape 47"/>
          <p:cNvSpPr/>
          <p:nvPr/>
        </p:nvSpPr>
        <p:spPr>
          <a:xfrm>
            <a:off x="9610344" y="3941064"/>
            <a:ext cx="1572768" cy="950976"/>
          </a:xfrm>
          <a:prstGeom prst="roundRect">
            <a:avLst>
              <a:gd name="adj" fmla="val 7692"/>
            </a:avLst>
          </a:prstGeom>
          <a:solidFill>
            <a:srgbClr val="E5F6F8"/>
          </a:solidFill>
          <a:ln w="10160">
            <a:solidFill>
              <a:srgbClr val="D7E0EC"/>
            </a:solidFill>
            <a:prstDash val="solid"/>
          </a:ln>
        </p:spPr>
      </p:sp>
      <p:sp>
        <p:nvSpPr>
          <p:cNvPr id="50" name="Shape 48"/>
          <p:cNvSpPr/>
          <p:nvPr/>
        </p:nvSpPr>
        <p:spPr>
          <a:xfrm>
            <a:off x="9628632" y="4032504"/>
            <a:ext cx="41148" cy="768096"/>
          </a:xfrm>
          <a:prstGeom prst="rect">
            <a:avLst/>
          </a:prstGeom>
          <a:solidFill>
            <a:srgbClr val="27A9C2"/>
          </a:solidFill>
          <a:ln w="12700">
            <a:solidFill>
              <a:srgbClr val="27A9C2">
                <a:alpha val="0"/>
              </a:srgbClr>
            </a:solidFill>
            <a:prstDash val="solid"/>
          </a:ln>
        </p:spPr>
      </p:sp>
      <p:sp>
        <p:nvSpPr>
          <p:cNvPr id="51" name="Text 49"/>
          <p:cNvSpPr txBox="1"/>
          <p:nvPr/>
        </p:nvSpPr>
        <p:spPr>
          <a:xfrm>
            <a:off x="9729216" y="4014216"/>
            <a:ext cx="137160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Message queue</a:t>
            </a:r>
            <a:endParaRPr lang="en-US" sz="1030" dirty="0"/>
          </a:p>
        </p:txBody>
      </p:sp>
      <p:sp>
        <p:nvSpPr>
          <p:cNvPr id="52" name="Text 50"/>
          <p:cNvSpPr txBox="1"/>
          <p:nvPr/>
        </p:nvSpPr>
        <p:spPr>
          <a:xfrm>
            <a:off x="9729216" y="4288536"/>
            <a:ext cx="1371600"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Durable work buffer</a:t>
            </a:r>
            <a:endParaRPr lang="en-US" sz="850" dirty="0"/>
          </a:p>
        </p:txBody>
      </p:sp>
      <p:sp>
        <p:nvSpPr>
          <p:cNvPr id="53" name="Shape 51"/>
          <p:cNvSpPr/>
          <p:nvPr/>
        </p:nvSpPr>
        <p:spPr>
          <a:xfrm>
            <a:off x="10387584" y="4928616"/>
            <a:ext cx="914" cy="457200"/>
          </a:xfrm>
          <a:prstGeom prst="line">
            <a:avLst/>
          </a:prstGeom>
          <a:noFill/>
          <a:ln w="17780">
            <a:solidFill>
              <a:srgbClr val="27A9C2"/>
            </a:solidFill>
            <a:prstDash val="solid"/>
            <a:headEnd type="none"/>
            <a:tailEnd type="triangle"/>
          </a:ln>
        </p:spPr>
      </p:sp>
      <p:sp>
        <p:nvSpPr>
          <p:cNvPr id="54" name="Text 52"/>
          <p:cNvSpPr txBox="1"/>
          <p:nvPr/>
        </p:nvSpPr>
        <p:spPr>
          <a:xfrm>
            <a:off x="10497312" y="5001768"/>
            <a:ext cx="914400" cy="201168"/>
          </a:xfrm>
          <a:prstGeom prst="rect">
            <a:avLst/>
          </a:prstGeom>
          <a:noFill/>
          <a:ln/>
        </p:spPr>
        <p:txBody>
          <a:bodyPr wrap="square" lIns="508" tIns="508" rIns="508" bIns="508" rtlCol="0" anchor="ctr">
            <a:normAutofit/>
          </a:bodyPr>
          <a:lstStyle/>
          <a:p>
            <a:pPr algn="ctr" indent="0" marL="0">
              <a:buNone/>
            </a:pPr>
            <a:r>
              <a:rPr lang="en-US" sz="770" dirty="0">
                <a:solidFill>
                  <a:srgbClr val="27A9C2"/>
                </a:solidFill>
                <a:latin typeface="Aptos" pitchFamily="34" charset="0"/>
                <a:ea typeface="Aptos" pitchFamily="34" charset="-122"/>
                <a:cs typeface="Aptos" pitchFamily="34" charset="-120"/>
              </a:rPr>
              <a:t>consume later</a:t>
            </a:r>
            <a:endParaRPr lang="en-US" sz="770" dirty="0"/>
          </a:p>
        </p:txBody>
      </p:sp>
      <p:sp>
        <p:nvSpPr>
          <p:cNvPr id="55" name="Shape 53"/>
          <p:cNvSpPr/>
          <p:nvPr/>
        </p:nvSpPr>
        <p:spPr>
          <a:xfrm>
            <a:off x="9610344" y="5385816"/>
            <a:ext cx="1572768" cy="484632"/>
          </a:xfrm>
          <a:prstGeom prst="roundRect">
            <a:avLst>
              <a:gd name="adj" fmla="val 15094"/>
            </a:avLst>
          </a:prstGeom>
          <a:solidFill>
            <a:srgbClr val="FFF3E2"/>
          </a:solidFill>
          <a:ln w="10160">
            <a:solidFill>
              <a:srgbClr val="D7E0EC"/>
            </a:solidFill>
            <a:prstDash val="solid"/>
          </a:ln>
        </p:spPr>
      </p:sp>
      <p:sp>
        <p:nvSpPr>
          <p:cNvPr id="56" name="Shape 54"/>
          <p:cNvSpPr/>
          <p:nvPr/>
        </p:nvSpPr>
        <p:spPr>
          <a:xfrm>
            <a:off x="9628632" y="5477256"/>
            <a:ext cx="41148" cy="301752"/>
          </a:xfrm>
          <a:prstGeom prst="rect">
            <a:avLst/>
          </a:prstGeom>
          <a:solidFill>
            <a:srgbClr val="F2A341"/>
          </a:solidFill>
          <a:ln w="12700">
            <a:solidFill>
              <a:srgbClr val="F2A341">
                <a:alpha val="0"/>
              </a:srgbClr>
            </a:solidFill>
            <a:prstDash val="solid"/>
          </a:ln>
        </p:spPr>
      </p:sp>
      <p:sp>
        <p:nvSpPr>
          <p:cNvPr id="57" name="Text 55"/>
          <p:cNvSpPr txBox="1"/>
          <p:nvPr/>
        </p:nvSpPr>
        <p:spPr>
          <a:xfrm>
            <a:off x="9729216" y="5458968"/>
            <a:ext cx="137160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Workers</a:t>
            </a:r>
            <a:endParaRPr lang="en-US" sz="1030" dirty="0"/>
          </a:p>
        </p:txBody>
      </p:sp>
      <p:sp>
        <p:nvSpPr>
          <p:cNvPr id="58" name="Text 56"/>
          <p:cNvSpPr txBox="1"/>
          <p:nvPr/>
        </p:nvSpPr>
        <p:spPr>
          <a:xfrm>
            <a:off x="9729216" y="5733288"/>
            <a:ext cx="1371600" cy="7315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Email / fulfilment</a:t>
            </a:r>
            <a:endParaRPr lang="en-US" sz="850" dirty="0"/>
          </a:p>
        </p:txBody>
      </p:sp>
      <p:sp>
        <p:nvSpPr>
          <p:cNvPr id="59" name="Text 57"/>
          <p:cNvSpPr txBox="1"/>
          <p:nvPr/>
        </p:nvSpPr>
        <p:spPr>
          <a:xfrm>
            <a:off x="4462272" y="5614416"/>
            <a:ext cx="4846320" cy="201168"/>
          </a:xfrm>
          <a:prstGeom prst="rect">
            <a:avLst/>
          </a:prstGeom>
          <a:noFill/>
          <a:ln/>
        </p:spPr>
        <p:txBody>
          <a:bodyPr wrap="square" lIns="508" tIns="508" rIns="508" bIns="508" rtlCol="0" anchor="ctr">
            <a:normAutofit/>
          </a:bodyPr>
          <a:lstStyle/>
          <a:p>
            <a:pPr algn="l" indent="0" marL="0">
              <a:buNone/>
            </a:pPr>
            <a:r>
              <a:rPr lang="en-US" sz="830" dirty="0">
                <a:solidFill>
                  <a:srgbClr val="566A83"/>
                </a:solidFill>
                <a:latin typeface="Aptos" pitchFamily="34" charset="0"/>
                <a:ea typeface="Aptos" pitchFamily="34" charset="-122"/>
                <a:cs typeface="Aptos" pitchFamily="34" charset="-120"/>
              </a:rPr>
              <a:t>External payment and delivery providers are called through controlled service boundaries.</a:t>
            </a:r>
            <a:endParaRPr lang="en-US" sz="830" dirty="0"/>
          </a:p>
        </p:txBody>
      </p:sp>
      <p:sp>
        <p:nvSpPr>
          <p:cNvPr id="60" name="Shape 58"/>
          <p:cNvSpPr/>
          <p:nvPr/>
        </p:nvSpPr>
        <p:spPr>
          <a:xfrm>
            <a:off x="10085832" y="5650992"/>
            <a:ext cx="1078992" cy="228600"/>
          </a:xfrm>
          <a:prstGeom prst="roundRect">
            <a:avLst>
              <a:gd name="adj" fmla="val 32000"/>
            </a:avLst>
          </a:prstGeom>
          <a:solidFill>
            <a:srgbClr val="E8F0FE"/>
          </a:solidFill>
          <a:ln w="10160">
            <a:solidFill>
              <a:srgbClr val="E8F0FE"/>
            </a:solidFill>
            <a:prstDash val="solid"/>
          </a:ln>
        </p:spPr>
      </p:sp>
      <p:sp>
        <p:nvSpPr>
          <p:cNvPr id="61" name="Text 59"/>
          <p:cNvSpPr txBox="1"/>
          <p:nvPr/>
        </p:nvSpPr>
        <p:spPr>
          <a:xfrm>
            <a:off x="10113264" y="5669280"/>
            <a:ext cx="1024128" cy="164592"/>
          </a:xfrm>
          <a:prstGeom prst="rect">
            <a:avLst/>
          </a:prstGeom>
          <a:noFill/>
          <a:ln/>
        </p:spPr>
        <p:txBody>
          <a:bodyPr wrap="square" lIns="508" tIns="508" rIns="508" bIns="508" rtlCol="0" anchor="ctr">
            <a:normAutofit/>
          </a:bodyPr>
          <a:lstStyle/>
          <a:p>
            <a:pPr algn="ctr" indent="0" marL="0">
              <a:buNone/>
            </a:pPr>
            <a:r>
              <a:rPr lang="en-US" sz="750" b="1" dirty="0">
                <a:solidFill>
                  <a:srgbClr val="2367D1"/>
                </a:solidFill>
                <a:latin typeface="Aptos" pitchFamily="34" charset="0"/>
                <a:ea typeface="Aptos" pitchFamily="34" charset="-122"/>
                <a:cs typeface="Aptos" pitchFamily="34" charset="-120"/>
              </a:rPr>
              <a:t>Queue: [E]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FOUNDATIONS FOR GROWTH</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2200" b="1" dirty="0">
                <a:solidFill>
                  <a:srgbClr val="14253D"/>
                </a:solidFill>
                <a:latin typeface="Aptos" pitchFamily="34" charset="0"/>
                <a:ea typeface="Aptos" pitchFamily="34" charset="-122"/>
                <a:cs typeface="Aptos" pitchFamily="34" charset="-120"/>
              </a:rPr>
              <a:t>Scalability, Data, and Reliability</a:t>
            </a:r>
            <a:endParaRPr lang="en-US" sz="220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Scale out for more capacity; add safeguards so failures do not cascade.</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04 / 08</a:t>
            </a:r>
            <a:endParaRPr lang="en-US" sz="760" dirty="0"/>
          </a:p>
        </p:txBody>
      </p:sp>
      <p:sp>
        <p:nvSpPr>
          <p:cNvPr id="9" name="Shape 7"/>
          <p:cNvSpPr/>
          <p:nvPr/>
        </p:nvSpPr>
        <p:spPr>
          <a:xfrm>
            <a:off x="566928" y="1481328"/>
            <a:ext cx="11055096" cy="3154680"/>
          </a:xfrm>
          <a:prstGeom prst="roundRect">
            <a:avLst>
              <a:gd name="adj" fmla="val 2319"/>
            </a:avLst>
          </a:prstGeom>
          <a:solidFill>
            <a:srgbClr val="FFFFFF"/>
          </a:solidFill>
          <a:ln w="10160">
            <a:solidFill>
              <a:srgbClr val="D7E0EC"/>
            </a:solidFill>
            <a:prstDash val="solid"/>
          </a:ln>
        </p:spPr>
      </p:sp>
      <p:sp>
        <p:nvSpPr>
          <p:cNvPr id="10" name="Text 8"/>
          <p:cNvSpPr txBox="1"/>
          <p:nvPr/>
        </p:nvSpPr>
        <p:spPr>
          <a:xfrm>
            <a:off x="786384" y="1664208"/>
            <a:ext cx="2194560" cy="201168"/>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HIGHER TRAFFIC PATH</a:t>
            </a:r>
            <a:endParaRPr lang="en-US" sz="820" dirty="0"/>
          </a:p>
        </p:txBody>
      </p:sp>
      <p:sp>
        <p:nvSpPr>
          <p:cNvPr id="11" name="Shape 9"/>
          <p:cNvSpPr/>
          <p:nvPr/>
        </p:nvSpPr>
        <p:spPr>
          <a:xfrm>
            <a:off x="1874520" y="2788920"/>
            <a:ext cx="384048" cy="914"/>
          </a:xfrm>
          <a:prstGeom prst="line">
            <a:avLst/>
          </a:prstGeom>
          <a:noFill/>
          <a:ln w="17780">
            <a:solidFill>
              <a:srgbClr val="2367D1"/>
            </a:solidFill>
            <a:prstDash val="solid"/>
            <a:headEnd type="none"/>
            <a:tailEnd type="triangle"/>
          </a:ln>
        </p:spPr>
      </p:sp>
      <p:sp>
        <p:nvSpPr>
          <p:cNvPr id="12" name="Shape 10"/>
          <p:cNvSpPr/>
          <p:nvPr/>
        </p:nvSpPr>
        <p:spPr>
          <a:xfrm>
            <a:off x="3895344" y="2788920"/>
            <a:ext cx="402336" cy="914"/>
          </a:xfrm>
          <a:prstGeom prst="line">
            <a:avLst/>
          </a:prstGeom>
          <a:noFill/>
          <a:ln w="17780">
            <a:solidFill>
              <a:srgbClr val="2367D1"/>
            </a:solidFill>
            <a:prstDash val="solid"/>
            <a:headEnd type="none"/>
            <a:tailEnd type="triangle"/>
          </a:ln>
        </p:spPr>
      </p:sp>
      <p:sp>
        <p:nvSpPr>
          <p:cNvPr id="13" name="Shape 11"/>
          <p:cNvSpPr/>
          <p:nvPr/>
        </p:nvSpPr>
        <p:spPr>
          <a:xfrm>
            <a:off x="6464808" y="2788920"/>
            <a:ext cx="448056" cy="914"/>
          </a:xfrm>
          <a:prstGeom prst="line">
            <a:avLst/>
          </a:prstGeom>
          <a:noFill/>
          <a:ln w="17780">
            <a:solidFill>
              <a:srgbClr val="2367D1"/>
            </a:solidFill>
            <a:prstDash val="solid"/>
            <a:headEnd type="none"/>
            <a:tailEnd type="triangle"/>
          </a:ln>
        </p:spPr>
      </p:sp>
      <p:sp>
        <p:nvSpPr>
          <p:cNvPr id="14" name="Shape 12"/>
          <p:cNvSpPr/>
          <p:nvPr/>
        </p:nvSpPr>
        <p:spPr>
          <a:xfrm>
            <a:off x="4846320" y="1993392"/>
            <a:ext cx="4471416" cy="914"/>
          </a:xfrm>
          <a:prstGeom prst="line">
            <a:avLst/>
          </a:prstGeom>
          <a:noFill/>
          <a:ln w="15240">
            <a:solidFill>
              <a:srgbClr val="27A9C2"/>
            </a:solidFill>
            <a:prstDash val="solid"/>
          </a:ln>
        </p:spPr>
      </p:sp>
      <p:sp>
        <p:nvSpPr>
          <p:cNvPr id="15" name="Shape 13"/>
          <p:cNvSpPr/>
          <p:nvPr/>
        </p:nvSpPr>
        <p:spPr>
          <a:xfrm>
            <a:off x="4846320" y="1993392"/>
            <a:ext cx="914" cy="155448"/>
          </a:xfrm>
          <a:prstGeom prst="line">
            <a:avLst/>
          </a:prstGeom>
          <a:noFill/>
          <a:ln w="15240">
            <a:solidFill>
              <a:srgbClr val="27A9C2"/>
            </a:solidFill>
            <a:prstDash val="solid"/>
          </a:ln>
        </p:spPr>
      </p:sp>
      <p:sp>
        <p:nvSpPr>
          <p:cNvPr id="16" name="Shape 14"/>
          <p:cNvSpPr/>
          <p:nvPr/>
        </p:nvSpPr>
        <p:spPr>
          <a:xfrm>
            <a:off x="9317736" y="1993392"/>
            <a:ext cx="914" cy="329184"/>
          </a:xfrm>
          <a:prstGeom prst="line">
            <a:avLst/>
          </a:prstGeom>
          <a:noFill/>
          <a:ln w="17780">
            <a:solidFill>
              <a:srgbClr val="27A9C2"/>
            </a:solidFill>
            <a:prstDash val="solid"/>
            <a:headEnd type="none"/>
            <a:tailEnd type="triangle"/>
          </a:ln>
        </p:spPr>
      </p:sp>
      <p:sp>
        <p:nvSpPr>
          <p:cNvPr id="17" name="Shape 15"/>
          <p:cNvSpPr/>
          <p:nvPr/>
        </p:nvSpPr>
        <p:spPr>
          <a:xfrm>
            <a:off x="9912096" y="2788920"/>
            <a:ext cx="393192" cy="914"/>
          </a:xfrm>
          <a:prstGeom prst="line">
            <a:avLst/>
          </a:prstGeom>
          <a:noFill/>
          <a:ln w="17780">
            <a:solidFill>
              <a:srgbClr val="27A9C2"/>
            </a:solidFill>
            <a:prstDash val="solid"/>
            <a:headEnd type="none"/>
            <a:tailEnd type="triangle"/>
          </a:ln>
        </p:spPr>
      </p:sp>
      <p:sp>
        <p:nvSpPr>
          <p:cNvPr id="18" name="Text 16"/>
          <p:cNvSpPr txBox="1"/>
          <p:nvPr/>
        </p:nvSpPr>
        <p:spPr>
          <a:xfrm>
            <a:off x="6492240" y="1801368"/>
            <a:ext cx="1417320" cy="164592"/>
          </a:xfrm>
          <a:prstGeom prst="rect">
            <a:avLst/>
          </a:prstGeom>
          <a:noFill/>
          <a:ln/>
        </p:spPr>
        <p:txBody>
          <a:bodyPr wrap="square" lIns="508" tIns="508" rIns="508" bIns="508" rtlCol="0" anchor="ctr">
            <a:normAutofit/>
          </a:bodyPr>
          <a:lstStyle/>
          <a:p>
            <a:pPr algn="ctr" indent="0" marL="0">
              <a:buNone/>
            </a:pPr>
            <a:r>
              <a:rPr lang="en-US" sz="760" dirty="0">
                <a:solidFill>
                  <a:srgbClr val="27A9C2"/>
                </a:solidFill>
                <a:latin typeface="Aptos" pitchFamily="34" charset="0"/>
                <a:ea typeface="Aptos" pitchFamily="34" charset="-122"/>
                <a:cs typeface="Aptos" pitchFamily="34" charset="-120"/>
              </a:rPr>
              <a:t>publish async work</a:t>
            </a:r>
            <a:endParaRPr lang="en-US" sz="760" dirty="0"/>
          </a:p>
        </p:txBody>
      </p:sp>
      <p:sp>
        <p:nvSpPr>
          <p:cNvPr id="19" name="Shape 17"/>
          <p:cNvSpPr/>
          <p:nvPr/>
        </p:nvSpPr>
        <p:spPr>
          <a:xfrm>
            <a:off x="822960" y="2322576"/>
            <a:ext cx="1078992" cy="950976"/>
          </a:xfrm>
          <a:prstGeom prst="roundRect">
            <a:avLst>
              <a:gd name="adj" fmla="val 7692"/>
            </a:avLst>
          </a:prstGeom>
          <a:solidFill>
            <a:srgbClr val="E8F0FE"/>
          </a:solidFill>
          <a:ln w="10160">
            <a:solidFill>
              <a:srgbClr val="D7E0EC"/>
            </a:solidFill>
            <a:prstDash val="solid"/>
          </a:ln>
        </p:spPr>
      </p:sp>
      <p:sp>
        <p:nvSpPr>
          <p:cNvPr id="20" name="Shape 18"/>
          <p:cNvSpPr/>
          <p:nvPr/>
        </p:nvSpPr>
        <p:spPr>
          <a:xfrm>
            <a:off x="841248" y="2414016"/>
            <a:ext cx="41148" cy="768096"/>
          </a:xfrm>
          <a:prstGeom prst="rect">
            <a:avLst/>
          </a:prstGeom>
          <a:solidFill>
            <a:srgbClr val="2367D1"/>
          </a:solidFill>
          <a:ln w="12700">
            <a:solidFill>
              <a:srgbClr val="2367D1">
                <a:alpha val="0"/>
              </a:srgbClr>
            </a:solidFill>
            <a:prstDash val="solid"/>
          </a:ln>
        </p:spPr>
      </p:sp>
      <p:sp>
        <p:nvSpPr>
          <p:cNvPr id="21" name="Text 19"/>
          <p:cNvSpPr txBox="1"/>
          <p:nvPr/>
        </p:nvSpPr>
        <p:spPr>
          <a:xfrm>
            <a:off x="941832" y="2395728"/>
            <a:ext cx="87782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Load balancer</a:t>
            </a:r>
            <a:endParaRPr lang="en-US" sz="1030" dirty="0"/>
          </a:p>
        </p:txBody>
      </p:sp>
      <p:sp>
        <p:nvSpPr>
          <p:cNvPr id="22" name="Text 20"/>
          <p:cNvSpPr txBox="1"/>
          <p:nvPr/>
        </p:nvSpPr>
        <p:spPr>
          <a:xfrm>
            <a:off x="941832" y="2670048"/>
            <a:ext cx="877824"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Spreads requests</a:t>
            </a:r>
            <a:endParaRPr lang="en-US" sz="850" dirty="0"/>
          </a:p>
        </p:txBody>
      </p:sp>
      <p:sp>
        <p:nvSpPr>
          <p:cNvPr id="23" name="Shape 21"/>
          <p:cNvSpPr/>
          <p:nvPr/>
        </p:nvSpPr>
        <p:spPr>
          <a:xfrm>
            <a:off x="2258568" y="2148840"/>
            <a:ext cx="2587752" cy="1298448"/>
          </a:xfrm>
          <a:prstGeom prst="roundRect">
            <a:avLst>
              <a:gd name="adj" fmla="val 5634"/>
            </a:avLst>
          </a:prstGeom>
          <a:solidFill>
            <a:srgbClr val="E5F6F8"/>
          </a:solidFill>
          <a:ln w="10160">
            <a:solidFill>
              <a:srgbClr val="D7E0EC"/>
            </a:solidFill>
            <a:prstDash val="solid"/>
          </a:ln>
        </p:spPr>
      </p:sp>
      <p:sp>
        <p:nvSpPr>
          <p:cNvPr id="24" name="Shape 22"/>
          <p:cNvSpPr/>
          <p:nvPr/>
        </p:nvSpPr>
        <p:spPr>
          <a:xfrm>
            <a:off x="2276856" y="2240280"/>
            <a:ext cx="41148" cy="1115568"/>
          </a:xfrm>
          <a:prstGeom prst="rect">
            <a:avLst/>
          </a:prstGeom>
          <a:solidFill>
            <a:srgbClr val="27A9C2"/>
          </a:solidFill>
          <a:ln w="12700">
            <a:solidFill>
              <a:srgbClr val="27A9C2">
                <a:alpha val="0"/>
              </a:srgbClr>
            </a:solidFill>
            <a:prstDash val="solid"/>
          </a:ln>
        </p:spPr>
      </p:sp>
      <p:sp>
        <p:nvSpPr>
          <p:cNvPr id="25" name="Text 23"/>
          <p:cNvSpPr txBox="1"/>
          <p:nvPr/>
        </p:nvSpPr>
        <p:spPr>
          <a:xfrm>
            <a:off x="2377440" y="2221992"/>
            <a:ext cx="238658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Backend instances</a:t>
            </a:r>
            <a:endParaRPr lang="en-US" sz="1030" dirty="0"/>
          </a:p>
        </p:txBody>
      </p:sp>
      <p:sp>
        <p:nvSpPr>
          <p:cNvPr id="26" name="Text 24"/>
          <p:cNvSpPr txBox="1"/>
          <p:nvPr/>
        </p:nvSpPr>
        <p:spPr>
          <a:xfrm>
            <a:off x="2377440" y="2496312"/>
            <a:ext cx="2386584" cy="8869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Instance A  •  Instance B  •  Instance C</a:t>
            </a:r>
            <a:endParaRPr lang="en-US" sz="850" dirty="0"/>
          </a:p>
          <a:p>
            <a:pPr algn="l" indent="0" marL="0">
              <a:buNone/>
            </a:pPr>
            <a:r>
              <a:rPr lang="en-US" sz="850" dirty="0">
                <a:solidFill>
                  <a:srgbClr val="566A83"/>
                </a:solidFill>
                <a:latin typeface="Aptos" pitchFamily="34" charset="0"/>
                <a:ea typeface="Aptos" pitchFamily="34" charset="-122"/>
                <a:cs typeface="Aptos" pitchFamily="34" charset="-120"/>
              </a:rPr>
              <a:t>Same service; more copies (horizontal scale)</a:t>
            </a:r>
            <a:endParaRPr lang="en-US" sz="850" dirty="0"/>
          </a:p>
        </p:txBody>
      </p:sp>
      <p:sp>
        <p:nvSpPr>
          <p:cNvPr id="27" name="Shape 25"/>
          <p:cNvSpPr/>
          <p:nvPr/>
        </p:nvSpPr>
        <p:spPr>
          <a:xfrm>
            <a:off x="5111496" y="2322576"/>
            <a:ext cx="1353312" cy="950976"/>
          </a:xfrm>
          <a:prstGeom prst="roundRect">
            <a:avLst>
              <a:gd name="adj" fmla="val 7692"/>
            </a:avLst>
          </a:prstGeom>
          <a:solidFill>
            <a:srgbClr val="FFF3E2"/>
          </a:solidFill>
          <a:ln w="10160">
            <a:solidFill>
              <a:srgbClr val="D7E0EC"/>
            </a:solidFill>
            <a:prstDash val="solid"/>
          </a:ln>
        </p:spPr>
      </p:sp>
      <p:sp>
        <p:nvSpPr>
          <p:cNvPr id="28" name="Shape 26"/>
          <p:cNvSpPr/>
          <p:nvPr/>
        </p:nvSpPr>
        <p:spPr>
          <a:xfrm>
            <a:off x="5129784" y="2414016"/>
            <a:ext cx="41148" cy="768096"/>
          </a:xfrm>
          <a:prstGeom prst="rect">
            <a:avLst/>
          </a:prstGeom>
          <a:solidFill>
            <a:srgbClr val="F2A341"/>
          </a:solidFill>
          <a:ln w="12700">
            <a:solidFill>
              <a:srgbClr val="F2A341">
                <a:alpha val="0"/>
              </a:srgbClr>
            </a:solidFill>
            <a:prstDash val="solid"/>
          </a:ln>
        </p:spPr>
      </p:sp>
      <p:sp>
        <p:nvSpPr>
          <p:cNvPr id="29" name="Text 27"/>
          <p:cNvSpPr txBox="1"/>
          <p:nvPr/>
        </p:nvSpPr>
        <p:spPr>
          <a:xfrm>
            <a:off x="5230368" y="2395728"/>
            <a:ext cx="115214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Cache</a:t>
            </a:r>
            <a:endParaRPr lang="en-US" sz="1030" dirty="0"/>
          </a:p>
        </p:txBody>
      </p:sp>
      <p:sp>
        <p:nvSpPr>
          <p:cNvPr id="30" name="Text 28"/>
          <p:cNvSpPr txBox="1"/>
          <p:nvPr/>
        </p:nvSpPr>
        <p:spPr>
          <a:xfrm>
            <a:off x="5230368" y="2670048"/>
            <a:ext cx="1152144"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Redis-like; quick reads</a:t>
            </a:r>
            <a:endParaRPr lang="en-US" sz="850" dirty="0"/>
          </a:p>
        </p:txBody>
      </p:sp>
      <p:sp>
        <p:nvSpPr>
          <p:cNvPr id="31" name="Shape 29"/>
          <p:cNvSpPr/>
          <p:nvPr/>
        </p:nvSpPr>
        <p:spPr>
          <a:xfrm>
            <a:off x="6912864" y="2322576"/>
            <a:ext cx="1371600" cy="950976"/>
          </a:xfrm>
          <a:prstGeom prst="roundRect">
            <a:avLst>
              <a:gd name="adj" fmla="val 7692"/>
            </a:avLst>
          </a:prstGeom>
          <a:solidFill>
            <a:srgbClr val="E8F5EF"/>
          </a:solidFill>
          <a:ln w="10160">
            <a:solidFill>
              <a:srgbClr val="D7E0EC"/>
            </a:solidFill>
            <a:prstDash val="solid"/>
          </a:ln>
        </p:spPr>
      </p:sp>
      <p:sp>
        <p:nvSpPr>
          <p:cNvPr id="32" name="Shape 30"/>
          <p:cNvSpPr/>
          <p:nvPr/>
        </p:nvSpPr>
        <p:spPr>
          <a:xfrm>
            <a:off x="6931152" y="2414016"/>
            <a:ext cx="41148" cy="768096"/>
          </a:xfrm>
          <a:prstGeom prst="rect">
            <a:avLst/>
          </a:prstGeom>
          <a:solidFill>
            <a:srgbClr val="329879"/>
          </a:solidFill>
          <a:ln w="12700">
            <a:solidFill>
              <a:srgbClr val="329879">
                <a:alpha val="0"/>
              </a:srgbClr>
            </a:solidFill>
            <a:prstDash val="solid"/>
          </a:ln>
        </p:spPr>
      </p:sp>
      <p:sp>
        <p:nvSpPr>
          <p:cNvPr id="33" name="Text 31"/>
          <p:cNvSpPr txBox="1"/>
          <p:nvPr/>
        </p:nvSpPr>
        <p:spPr>
          <a:xfrm>
            <a:off x="7031736" y="2395728"/>
            <a:ext cx="117043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Database</a:t>
            </a:r>
            <a:endParaRPr lang="en-US" sz="1030" dirty="0"/>
          </a:p>
        </p:txBody>
      </p:sp>
      <p:sp>
        <p:nvSpPr>
          <p:cNvPr id="34" name="Text 32"/>
          <p:cNvSpPr txBox="1"/>
          <p:nvPr/>
        </p:nvSpPr>
        <p:spPr>
          <a:xfrm>
            <a:off x="7031736" y="2670048"/>
            <a:ext cx="1170432"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Primary + replica</a:t>
            </a:r>
            <a:endParaRPr lang="en-US" sz="850" dirty="0"/>
          </a:p>
        </p:txBody>
      </p:sp>
      <p:sp>
        <p:nvSpPr>
          <p:cNvPr id="35" name="Shape 33"/>
          <p:cNvSpPr/>
          <p:nvPr/>
        </p:nvSpPr>
        <p:spPr>
          <a:xfrm>
            <a:off x="8732520" y="2322576"/>
            <a:ext cx="1179576" cy="950976"/>
          </a:xfrm>
          <a:prstGeom prst="roundRect">
            <a:avLst>
              <a:gd name="adj" fmla="val 7692"/>
            </a:avLst>
          </a:prstGeom>
          <a:solidFill>
            <a:srgbClr val="E5F6F8"/>
          </a:solidFill>
          <a:ln w="10160">
            <a:solidFill>
              <a:srgbClr val="D7E0EC"/>
            </a:solidFill>
            <a:prstDash val="solid"/>
          </a:ln>
        </p:spPr>
      </p:sp>
      <p:sp>
        <p:nvSpPr>
          <p:cNvPr id="36" name="Shape 34"/>
          <p:cNvSpPr/>
          <p:nvPr/>
        </p:nvSpPr>
        <p:spPr>
          <a:xfrm>
            <a:off x="8750808" y="2414016"/>
            <a:ext cx="41148" cy="768096"/>
          </a:xfrm>
          <a:prstGeom prst="rect">
            <a:avLst/>
          </a:prstGeom>
          <a:solidFill>
            <a:srgbClr val="27A9C2"/>
          </a:solidFill>
          <a:ln w="12700">
            <a:solidFill>
              <a:srgbClr val="27A9C2">
                <a:alpha val="0"/>
              </a:srgbClr>
            </a:solidFill>
            <a:prstDash val="solid"/>
          </a:ln>
        </p:spPr>
      </p:sp>
      <p:sp>
        <p:nvSpPr>
          <p:cNvPr id="37" name="Text 35"/>
          <p:cNvSpPr txBox="1"/>
          <p:nvPr/>
        </p:nvSpPr>
        <p:spPr>
          <a:xfrm>
            <a:off x="8851392" y="2395728"/>
            <a:ext cx="97840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Queue</a:t>
            </a:r>
            <a:endParaRPr lang="en-US" sz="1030" dirty="0"/>
          </a:p>
        </p:txBody>
      </p:sp>
      <p:sp>
        <p:nvSpPr>
          <p:cNvPr id="38" name="Text 36"/>
          <p:cNvSpPr txBox="1"/>
          <p:nvPr/>
        </p:nvSpPr>
        <p:spPr>
          <a:xfrm>
            <a:off x="8851392" y="2670048"/>
            <a:ext cx="978408"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Buffer tasks</a:t>
            </a:r>
            <a:endParaRPr lang="en-US" sz="850" dirty="0"/>
          </a:p>
        </p:txBody>
      </p:sp>
      <p:sp>
        <p:nvSpPr>
          <p:cNvPr id="39" name="Shape 37"/>
          <p:cNvSpPr/>
          <p:nvPr/>
        </p:nvSpPr>
        <p:spPr>
          <a:xfrm>
            <a:off x="10305288" y="2322576"/>
            <a:ext cx="1069848" cy="950976"/>
          </a:xfrm>
          <a:prstGeom prst="roundRect">
            <a:avLst>
              <a:gd name="adj" fmla="val 7692"/>
            </a:avLst>
          </a:prstGeom>
          <a:solidFill>
            <a:srgbClr val="FFF3E2"/>
          </a:solidFill>
          <a:ln w="10160">
            <a:solidFill>
              <a:srgbClr val="D7E0EC"/>
            </a:solidFill>
            <a:prstDash val="solid"/>
          </a:ln>
        </p:spPr>
      </p:sp>
      <p:sp>
        <p:nvSpPr>
          <p:cNvPr id="40" name="Shape 38"/>
          <p:cNvSpPr/>
          <p:nvPr/>
        </p:nvSpPr>
        <p:spPr>
          <a:xfrm>
            <a:off x="10323576" y="2414016"/>
            <a:ext cx="41148" cy="768096"/>
          </a:xfrm>
          <a:prstGeom prst="rect">
            <a:avLst/>
          </a:prstGeom>
          <a:solidFill>
            <a:srgbClr val="F2A341"/>
          </a:solidFill>
          <a:ln w="12700">
            <a:solidFill>
              <a:srgbClr val="F2A341">
                <a:alpha val="0"/>
              </a:srgbClr>
            </a:solidFill>
            <a:prstDash val="solid"/>
          </a:ln>
        </p:spPr>
      </p:sp>
      <p:sp>
        <p:nvSpPr>
          <p:cNvPr id="41" name="Text 39"/>
          <p:cNvSpPr txBox="1"/>
          <p:nvPr/>
        </p:nvSpPr>
        <p:spPr>
          <a:xfrm>
            <a:off x="10424160" y="2395728"/>
            <a:ext cx="8686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Workers</a:t>
            </a:r>
            <a:endParaRPr lang="en-US" sz="1030" dirty="0"/>
          </a:p>
        </p:txBody>
      </p:sp>
      <p:sp>
        <p:nvSpPr>
          <p:cNvPr id="42" name="Text 40"/>
          <p:cNvSpPr txBox="1"/>
          <p:nvPr/>
        </p:nvSpPr>
        <p:spPr>
          <a:xfrm>
            <a:off x="10424160" y="2670048"/>
            <a:ext cx="868680"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Async jobs</a:t>
            </a:r>
            <a:endParaRPr lang="en-US" sz="850" dirty="0"/>
          </a:p>
        </p:txBody>
      </p:sp>
      <p:sp>
        <p:nvSpPr>
          <p:cNvPr id="43" name="Shape 41"/>
          <p:cNvSpPr/>
          <p:nvPr/>
        </p:nvSpPr>
        <p:spPr>
          <a:xfrm>
            <a:off x="7598664" y="3355848"/>
            <a:ext cx="914" cy="667512"/>
          </a:xfrm>
          <a:prstGeom prst="line">
            <a:avLst/>
          </a:prstGeom>
          <a:noFill/>
          <a:ln w="17780">
            <a:solidFill>
              <a:srgbClr val="329879"/>
            </a:solidFill>
            <a:prstDash val="solid"/>
            <a:headEnd type="none"/>
            <a:tailEnd type="triangle"/>
          </a:ln>
        </p:spPr>
      </p:sp>
      <p:sp>
        <p:nvSpPr>
          <p:cNvPr id="44" name="Text 42"/>
          <p:cNvSpPr txBox="1"/>
          <p:nvPr/>
        </p:nvSpPr>
        <p:spPr>
          <a:xfrm>
            <a:off x="7717536" y="3575304"/>
            <a:ext cx="749808" cy="201168"/>
          </a:xfrm>
          <a:prstGeom prst="rect">
            <a:avLst/>
          </a:prstGeom>
          <a:noFill/>
          <a:ln/>
        </p:spPr>
        <p:txBody>
          <a:bodyPr wrap="square" lIns="508" tIns="508" rIns="508" bIns="508" rtlCol="0" anchor="ctr">
            <a:normAutofit/>
          </a:bodyPr>
          <a:lstStyle/>
          <a:p>
            <a:pPr algn="ctr" indent="0" marL="0">
              <a:buNone/>
            </a:pPr>
            <a:r>
              <a:rPr lang="en-US" sz="770" dirty="0">
                <a:solidFill>
                  <a:srgbClr val="329879"/>
                </a:solidFill>
                <a:latin typeface="Aptos" pitchFamily="34" charset="0"/>
                <a:ea typeface="Aptos" pitchFamily="34" charset="-122"/>
                <a:cs typeface="Aptos" pitchFamily="34" charset="-120"/>
              </a:rPr>
              <a:t>replicate</a:t>
            </a:r>
            <a:endParaRPr lang="en-US" sz="770" dirty="0"/>
          </a:p>
        </p:txBody>
      </p:sp>
      <p:sp>
        <p:nvSpPr>
          <p:cNvPr id="45" name="Text 43"/>
          <p:cNvSpPr txBox="1"/>
          <p:nvPr/>
        </p:nvSpPr>
        <p:spPr>
          <a:xfrm>
            <a:off x="7114032" y="4069080"/>
            <a:ext cx="987552" cy="201168"/>
          </a:xfrm>
          <a:prstGeom prst="rect">
            <a:avLst/>
          </a:prstGeom>
          <a:noFill/>
          <a:ln/>
        </p:spPr>
        <p:txBody>
          <a:bodyPr wrap="square" lIns="508" tIns="508" rIns="508" bIns="508" rtlCol="0" anchor="ctr">
            <a:normAutofit/>
          </a:bodyPr>
          <a:lstStyle/>
          <a:p>
            <a:pPr algn="ctr" indent="0" marL="0">
              <a:buNone/>
            </a:pPr>
            <a:r>
              <a:rPr lang="en-US" sz="820" dirty="0">
                <a:solidFill>
                  <a:srgbClr val="329879"/>
                </a:solidFill>
                <a:latin typeface="Aptos" pitchFamily="34" charset="0"/>
                <a:ea typeface="Aptos" pitchFamily="34" charset="-122"/>
                <a:cs typeface="Aptos" pitchFamily="34" charset="-120"/>
              </a:rPr>
              <a:t>Read replica</a:t>
            </a:r>
            <a:endParaRPr lang="en-US" sz="820" dirty="0"/>
          </a:p>
        </p:txBody>
      </p:sp>
      <p:sp>
        <p:nvSpPr>
          <p:cNvPr id="46" name="Shape 44"/>
          <p:cNvSpPr/>
          <p:nvPr/>
        </p:nvSpPr>
        <p:spPr>
          <a:xfrm>
            <a:off x="566928" y="4828032"/>
            <a:ext cx="5413248" cy="1298448"/>
          </a:xfrm>
          <a:prstGeom prst="roundRect">
            <a:avLst>
              <a:gd name="adj" fmla="val 5634"/>
            </a:avLst>
          </a:prstGeom>
          <a:solidFill>
            <a:srgbClr val="FFFFFF"/>
          </a:solidFill>
          <a:ln w="10160">
            <a:solidFill>
              <a:srgbClr val="D7E0EC"/>
            </a:solidFill>
            <a:prstDash val="solid"/>
          </a:ln>
        </p:spPr>
      </p:sp>
      <p:sp>
        <p:nvSpPr>
          <p:cNvPr id="47" name="Shape 45"/>
          <p:cNvSpPr/>
          <p:nvPr/>
        </p:nvSpPr>
        <p:spPr>
          <a:xfrm>
            <a:off x="576072" y="4937760"/>
            <a:ext cx="41148" cy="1078992"/>
          </a:xfrm>
          <a:prstGeom prst="rect">
            <a:avLst/>
          </a:prstGeom>
          <a:solidFill>
            <a:srgbClr val="2367D1"/>
          </a:solidFill>
          <a:ln w="12700">
            <a:solidFill>
              <a:srgbClr val="2367D1">
                <a:alpha val="0"/>
              </a:srgbClr>
            </a:solidFill>
            <a:prstDash val="solid"/>
          </a:ln>
        </p:spPr>
      </p:sp>
      <p:sp>
        <p:nvSpPr>
          <p:cNvPr id="48" name="Text 46"/>
          <p:cNvSpPr txBox="1"/>
          <p:nvPr/>
        </p:nvSpPr>
        <p:spPr>
          <a:xfrm>
            <a:off x="722376" y="4919472"/>
            <a:ext cx="5120640" cy="274320"/>
          </a:xfrm>
          <a:prstGeom prst="rect">
            <a:avLst/>
          </a:prstGeom>
          <a:noFill/>
          <a:ln/>
        </p:spPr>
        <p:txBody>
          <a:bodyPr wrap="square" lIns="508" tIns="508" rIns="508" bIns="508" rtlCol="0" anchor="ctr">
            <a:normAutofit/>
          </a:bodyPr>
          <a:lstStyle/>
          <a:p>
            <a:pPr algn="l" indent="0" marL="0">
              <a:buNone/>
            </a:pPr>
            <a:r>
              <a:rPr lang="en-US" sz="1200" b="1" dirty="0">
                <a:solidFill>
                  <a:srgbClr val="14253D"/>
                </a:solidFill>
                <a:latin typeface="Aptos" pitchFamily="34" charset="0"/>
                <a:ea typeface="Aptos" pitchFamily="34" charset="-122"/>
                <a:cs typeface="Aptos" pitchFamily="34" charset="-120"/>
              </a:rPr>
              <a:t>Scale + choose the right store</a:t>
            </a:r>
            <a:endParaRPr lang="en-US" sz="1200" dirty="0"/>
          </a:p>
        </p:txBody>
      </p:sp>
      <p:sp>
        <p:nvSpPr>
          <p:cNvPr id="49" name="Text 47"/>
          <p:cNvSpPr txBox="1"/>
          <p:nvPr/>
        </p:nvSpPr>
        <p:spPr>
          <a:xfrm>
            <a:off x="722376" y="5193792"/>
            <a:ext cx="5120640" cy="822960"/>
          </a:xfrm>
          <a:prstGeom prst="rect">
            <a:avLst/>
          </a:prstGeom>
          <a:noFill/>
          <a:ln/>
        </p:spPr>
        <p:txBody>
          <a:bodyPr wrap="square" lIns="254" tIns="254" rIns="254" bIns="254" rtlCol="0" anchor="t">
            <a:normAutofit/>
          </a:bodyPr>
          <a:lstStyle/>
          <a:p>
            <a:pPr algn="l" indent="0" marL="0">
              <a:buNone/>
            </a:pPr>
            <a:r>
              <a:rPr lang="en-US" sz="870" dirty="0">
                <a:solidFill>
                  <a:srgbClr val="566A83"/>
                </a:solidFill>
                <a:latin typeface="Aptos" pitchFamily="34" charset="0"/>
                <a:ea typeface="Aptos" pitchFamily="34" charset="-122"/>
                <a:cs typeface="Aptos" pitchFamily="34" charset="-120"/>
              </a:rPr>
              <a:t>VERTICAL  Bigger machine; simple, but has a ceiling.</a:t>
            </a:r>
            <a:endParaRPr lang="en-US" sz="870" dirty="0"/>
          </a:p>
          <a:p>
            <a:pPr algn="l" indent="0" marL="0">
              <a:buNone/>
            </a:pPr>
            <a:r>
              <a:rPr lang="en-US" sz="870" dirty="0">
                <a:solidFill>
                  <a:srgbClr val="566A83"/>
                </a:solidFill>
                <a:latin typeface="Aptos" pitchFamily="34" charset="0"/>
                <a:ea typeface="Aptos" pitchFamily="34" charset="-122"/>
                <a:cs typeface="Aptos" pitchFamily="34" charset="-120"/>
              </a:rPr>
              <a:t>HORIZONTAL  More instances; needs load balancing and distributed-state thinking.</a:t>
            </a:r>
            <a:endParaRPr lang="en-US" sz="870" dirty="0"/>
          </a:p>
          <a:p>
            <a:pPr algn="l" indent="0" marL="0">
              <a:buNone/>
            </a:pPr>
            <a:r>
              <a:rPr lang="en-US" sz="870" dirty="0">
                <a:solidFill>
                  <a:srgbClr val="566A83"/>
                </a:solidFill>
                <a:latin typeface="Aptos" pitchFamily="34" charset="0"/>
                <a:ea typeface="Aptos" pitchFamily="34" charset="-122"/>
                <a:cs typeface="Aptos" pitchFamily="34" charset="-120"/>
              </a:rPr>
              <a:t>SQL  Relational, transactions, structured relationships.  NoSQL  Flexible models / access patterns at scale.</a:t>
            </a:r>
            <a:endParaRPr lang="en-US" sz="870" dirty="0"/>
          </a:p>
        </p:txBody>
      </p:sp>
      <p:sp>
        <p:nvSpPr>
          <p:cNvPr id="50" name="Shape 48"/>
          <p:cNvSpPr/>
          <p:nvPr/>
        </p:nvSpPr>
        <p:spPr>
          <a:xfrm>
            <a:off x="6199632" y="4828032"/>
            <a:ext cx="5422392" cy="1298448"/>
          </a:xfrm>
          <a:prstGeom prst="roundRect">
            <a:avLst>
              <a:gd name="adj" fmla="val 5634"/>
            </a:avLst>
          </a:prstGeom>
          <a:solidFill>
            <a:srgbClr val="FFFFFF"/>
          </a:solidFill>
          <a:ln w="10160">
            <a:solidFill>
              <a:srgbClr val="D7E0EC"/>
            </a:solidFill>
            <a:prstDash val="solid"/>
          </a:ln>
        </p:spPr>
      </p:sp>
      <p:sp>
        <p:nvSpPr>
          <p:cNvPr id="51" name="Shape 49"/>
          <p:cNvSpPr/>
          <p:nvPr/>
        </p:nvSpPr>
        <p:spPr>
          <a:xfrm>
            <a:off x="6208776" y="4937760"/>
            <a:ext cx="41148" cy="1078992"/>
          </a:xfrm>
          <a:prstGeom prst="rect">
            <a:avLst/>
          </a:prstGeom>
          <a:solidFill>
            <a:srgbClr val="F2A341"/>
          </a:solidFill>
          <a:ln w="12700">
            <a:solidFill>
              <a:srgbClr val="F2A341">
                <a:alpha val="0"/>
              </a:srgbClr>
            </a:solidFill>
            <a:prstDash val="solid"/>
          </a:ln>
        </p:spPr>
      </p:sp>
      <p:sp>
        <p:nvSpPr>
          <p:cNvPr id="52" name="Text 50"/>
          <p:cNvSpPr txBox="1"/>
          <p:nvPr/>
        </p:nvSpPr>
        <p:spPr>
          <a:xfrm>
            <a:off x="6355080" y="4919472"/>
            <a:ext cx="5129784" cy="274320"/>
          </a:xfrm>
          <a:prstGeom prst="rect">
            <a:avLst/>
          </a:prstGeom>
          <a:noFill/>
          <a:ln/>
        </p:spPr>
        <p:txBody>
          <a:bodyPr wrap="square" lIns="508" tIns="508" rIns="508" bIns="508" rtlCol="0" anchor="ctr">
            <a:normAutofit/>
          </a:bodyPr>
          <a:lstStyle/>
          <a:p>
            <a:pPr algn="l" indent="0" marL="0">
              <a:buNone/>
            </a:pPr>
            <a:r>
              <a:rPr lang="en-US" sz="1200" b="1" dirty="0">
                <a:solidFill>
                  <a:srgbClr val="14253D"/>
                </a:solidFill>
                <a:latin typeface="Aptos" pitchFamily="34" charset="0"/>
                <a:ea typeface="Aptos" pitchFamily="34" charset="-122"/>
                <a:cs typeface="Aptos" pitchFamily="34" charset="-120"/>
              </a:rPr>
              <a:t>Keep service usable when parts struggle</a:t>
            </a:r>
            <a:endParaRPr lang="en-US" sz="1200" dirty="0"/>
          </a:p>
        </p:txBody>
      </p:sp>
      <p:sp>
        <p:nvSpPr>
          <p:cNvPr id="53" name="Text 51"/>
          <p:cNvSpPr txBox="1"/>
          <p:nvPr/>
        </p:nvSpPr>
        <p:spPr>
          <a:xfrm>
            <a:off x="6355080" y="5193792"/>
            <a:ext cx="5129784" cy="822960"/>
          </a:xfrm>
          <a:prstGeom prst="rect">
            <a:avLst/>
          </a:prstGeom>
          <a:noFill/>
          <a:ln/>
        </p:spPr>
        <p:txBody>
          <a:bodyPr wrap="square" lIns="254" tIns="254" rIns="254" bIns="254" rtlCol="0" anchor="t">
            <a:normAutofit/>
          </a:bodyPr>
          <a:lstStyle/>
          <a:p>
            <a:pPr algn="l" indent="0" marL="0">
              <a:buNone/>
            </a:pPr>
            <a:r>
              <a:rPr lang="en-US" sz="890" dirty="0">
                <a:solidFill>
                  <a:srgbClr val="566A83"/>
                </a:solidFill>
                <a:latin typeface="Aptos" pitchFamily="34" charset="0"/>
                <a:ea typeface="Aptos" pitchFamily="34" charset="-122"/>
                <a:cs typeface="Aptos" pitchFamily="34" charset="-120"/>
              </a:rPr>
              <a:t>Cache hot reads; queues absorb bursts. Replication improves read capacity / recovery but is not a backup.</a:t>
            </a:r>
            <a:endParaRPr lang="en-US" sz="890" dirty="0"/>
          </a:p>
          <a:p>
            <a:pPr algn="l" indent="0" marL="0">
              <a:buNone/>
            </a:pPr>
            <a:r>
              <a:rPr lang="en-US" sz="890" dirty="0">
                <a:solidFill>
                  <a:srgbClr val="566A83"/>
                </a:solidFill>
                <a:latin typeface="Aptos" pitchFamily="34" charset="0"/>
                <a:ea typeface="Aptos" pitchFamily="34" charset="-122"/>
                <a:cs typeface="Aptos" pitchFamily="34" charset="-120"/>
              </a:rPr>
              <a:t>Use timeouts, bounded retries with backoff, and graceful fallbacks; isolate failure and monitor health.</a:t>
            </a:r>
            <a:endParaRPr lang="en-US" sz="8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CASE STUDY  •  ILLUSTRATIVE ARCHITECTURE</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2200" b="1" dirty="0">
                <a:solidFill>
                  <a:srgbClr val="14253D"/>
                </a:solidFill>
                <a:latin typeface="Aptos" pitchFamily="34" charset="0"/>
                <a:ea typeface="Aptos" pitchFamily="34" charset="-122"/>
                <a:cs typeface="Aptos" pitchFamily="34" charset="-120"/>
              </a:rPr>
              <a:t>E-Commerce Backend: The Big Picture</a:t>
            </a:r>
            <a:endParaRPr lang="en-US" sz="220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A shop is a set of connected capabilities—not one “checkout” box.</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05 / 08</a:t>
            </a:r>
            <a:endParaRPr lang="en-US" sz="760" dirty="0"/>
          </a:p>
        </p:txBody>
      </p:sp>
      <p:sp>
        <p:nvSpPr>
          <p:cNvPr id="9" name="Shape 7"/>
          <p:cNvSpPr/>
          <p:nvPr/>
        </p:nvSpPr>
        <p:spPr>
          <a:xfrm>
            <a:off x="566928" y="1481328"/>
            <a:ext cx="11055096" cy="4526280"/>
          </a:xfrm>
          <a:prstGeom prst="roundRect">
            <a:avLst>
              <a:gd name="adj" fmla="val 1616"/>
            </a:avLst>
          </a:prstGeom>
          <a:solidFill>
            <a:srgbClr val="FFFFFF"/>
          </a:solidFill>
          <a:ln w="10160">
            <a:solidFill>
              <a:srgbClr val="D7E0EC"/>
            </a:solidFill>
            <a:prstDash val="solid"/>
          </a:ln>
        </p:spPr>
      </p:sp>
      <p:sp>
        <p:nvSpPr>
          <p:cNvPr id="10" name="Shape 8"/>
          <p:cNvSpPr/>
          <p:nvPr/>
        </p:nvSpPr>
        <p:spPr>
          <a:xfrm>
            <a:off x="8613648" y="1627632"/>
            <a:ext cx="2724912" cy="274320"/>
          </a:xfrm>
          <a:prstGeom prst="roundRect">
            <a:avLst>
              <a:gd name="adj" fmla="val 26667"/>
            </a:avLst>
          </a:prstGeom>
          <a:solidFill>
            <a:srgbClr val="FFF3E2"/>
          </a:solidFill>
          <a:ln w="10160">
            <a:solidFill>
              <a:srgbClr val="FFF3E2"/>
            </a:solidFill>
            <a:prstDash val="solid"/>
          </a:ln>
        </p:spPr>
      </p:sp>
      <p:sp>
        <p:nvSpPr>
          <p:cNvPr id="11" name="Text 9"/>
          <p:cNvSpPr txBox="1"/>
          <p:nvPr/>
        </p:nvSpPr>
        <p:spPr>
          <a:xfrm>
            <a:off x="8686800" y="1664208"/>
            <a:ext cx="2578608" cy="182880"/>
          </a:xfrm>
          <a:prstGeom prst="rect">
            <a:avLst/>
          </a:prstGeom>
          <a:noFill/>
          <a:ln/>
        </p:spPr>
        <p:txBody>
          <a:bodyPr wrap="square" lIns="508" tIns="508" rIns="508" bIns="508" rtlCol="0" anchor="ctr">
            <a:normAutofit/>
          </a:bodyPr>
          <a:lstStyle/>
          <a:p>
            <a:pPr algn="ctr" indent="0" marL="0">
              <a:buNone/>
            </a:pPr>
            <a:r>
              <a:rPr lang="en-US" sz="760" b="1" dirty="0">
                <a:solidFill>
                  <a:srgbClr val="9A5A0A"/>
                </a:solidFill>
                <a:latin typeface="Aptos" pitchFamily="34" charset="0"/>
                <a:ea typeface="Aptos" pitchFamily="34" charset="-122"/>
                <a:cs typeface="Aptos" pitchFamily="34" charset="-120"/>
              </a:rPr>
              <a:t>ILLUSTRATIVE — NOT AMAZON’S INTERNAL MAP</a:t>
            </a:r>
            <a:endParaRPr lang="en-US" sz="760" dirty="0"/>
          </a:p>
        </p:txBody>
      </p:sp>
      <p:sp>
        <p:nvSpPr>
          <p:cNvPr id="12" name="Shape 10"/>
          <p:cNvSpPr/>
          <p:nvPr/>
        </p:nvSpPr>
        <p:spPr>
          <a:xfrm>
            <a:off x="1883664" y="3236976"/>
            <a:ext cx="420624" cy="914"/>
          </a:xfrm>
          <a:prstGeom prst="line">
            <a:avLst/>
          </a:prstGeom>
          <a:noFill/>
          <a:ln w="17780">
            <a:solidFill>
              <a:srgbClr val="2367D1"/>
            </a:solidFill>
            <a:prstDash val="solid"/>
            <a:headEnd type="none"/>
            <a:tailEnd type="triangle"/>
          </a:ln>
        </p:spPr>
      </p:sp>
      <p:sp>
        <p:nvSpPr>
          <p:cNvPr id="13" name="Shape 11"/>
          <p:cNvSpPr/>
          <p:nvPr/>
        </p:nvSpPr>
        <p:spPr>
          <a:xfrm>
            <a:off x="804672" y="2761488"/>
            <a:ext cx="1078992" cy="950976"/>
          </a:xfrm>
          <a:prstGeom prst="roundRect">
            <a:avLst>
              <a:gd name="adj" fmla="val 7692"/>
            </a:avLst>
          </a:prstGeom>
          <a:solidFill>
            <a:srgbClr val="E8F0FE"/>
          </a:solidFill>
          <a:ln w="10160">
            <a:solidFill>
              <a:srgbClr val="D7E0EC"/>
            </a:solidFill>
            <a:prstDash val="solid"/>
          </a:ln>
        </p:spPr>
      </p:sp>
      <p:sp>
        <p:nvSpPr>
          <p:cNvPr id="14" name="Shape 12"/>
          <p:cNvSpPr/>
          <p:nvPr/>
        </p:nvSpPr>
        <p:spPr>
          <a:xfrm>
            <a:off x="822960" y="2852928"/>
            <a:ext cx="41148" cy="768096"/>
          </a:xfrm>
          <a:prstGeom prst="rect">
            <a:avLst/>
          </a:prstGeom>
          <a:solidFill>
            <a:srgbClr val="31445D"/>
          </a:solidFill>
          <a:ln w="12700">
            <a:solidFill>
              <a:srgbClr val="31445D">
                <a:alpha val="0"/>
              </a:srgbClr>
            </a:solidFill>
            <a:prstDash val="solid"/>
          </a:ln>
        </p:spPr>
      </p:sp>
      <p:sp>
        <p:nvSpPr>
          <p:cNvPr id="15" name="Text 13"/>
          <p:cNvSpPr txBox="1"/>
          <p:nvPr/>
        </p:nvSpPr>
        <p:spPr>
          <a:xfrm>
            <a:off x="923544" y="2834640"/>
            <a:ext cx="87782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Customer</a:t>
            </a:r>
            <a:endParaRPr lang="en-US" sz="1030" dirty="0"/>
          </a:p>
        </p:txBody>
      </p:sp>
      <p:sp>
        <p:nvSpPr>
          <p:cNvPr id="16" name="Text 14"/>
          <p:cNvSpPr txBox="1"/>
          <p:nvPr/>
        </p:nvSpPr>
        <p:spPr>
          <a:xfrm>
            <a:off x="923544" y="3108960"/>
            <a:ext cx="877824"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Web / mobile</a:t>
            </a:r>
            <a:endParaRPr lang="en-US" sz="850" dirty="0"/>
          </a:p>
        </p:txBody>
      </p:sp>
      <p:sp>
        <p:nvSpPr>
          <p:cNvPr id="17" name="Shape 15"/>
          <p:cNvSpPr/>
          <p:nvPr/>
        </p:nvSpPr>
        <p:spPr>
          <a:xfrm>
            <a:off x="2304288" y="2514600"/>
            <a:ext cx="1417320" cy="1444752"/>
          </a:xfrm>
          <a:prstGeom prst="roundRect">
            <a:avLst>
              <a:gd name="adj" fmla="val 5161"/>
            </a:avLst>
          </a:prstGeom>
          <a:solidFill>
            <a:srgbClr val="E8F0FE"/>
          </a:solidFill>
          <a:ln w="10160">
            <a:solidFill>
              <a:srgbClr val="D7E0EC"/>
            </a:solidFill>
            <a:prstDash val="solid"/>
          </a:ln>
        </p:spPr>
      </p:sp>
      <p:sp>
        <p:nvSpPr>
          <p:cNvPr id="18" name="Shape 16"/>
          <p:cNvSpPr/>
          <p:nvPr/>
        </p:nvSpPr>
        <p:spPr>
          <a:xfrm>
            <a:off x="2322576" y="2606040"/>
            <a:ext cx="41148" cy="1261872"/>
          </a:xfrm>
          <a:prstGeom prst="rect">
            <a:avLst/>
          </a:prstGeom>
          <a:solidFill>
            <a:srgbClr val="2367D1"/>
          </a:solidFill>
          <a:ln w="12700">
            <a:solidFill>
              <a:srgbClr val="2367D1">
                <a:alpha val="0"/>
              </a:srgbClr>
            </a:solidFill>
            <a:prstDash val="solid"/>
          </a:ln>
        </p:spPr>
      </p:sp>
      <p:sp>
        <p:nvSpPr>
          <p:cNvPr id="19" name="Text 17"/>
          <p:cNvSpPr txBox="1"/>
          <p:nvPr/>
        </p:nvSpPr>
        <p:spPr>
          <a:xfrm>
            <a:off x="2423160" y="2587752"/>
            <a:ext cx="121615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Edge + API</a:t>
            </a:r>
            <a:endParaRPr lang="en-US" sz="1030" dirty="0"/>
          </a:p>
        </p:txBody>
      </p:sp>
      <p:sp>
        <p:nvSpPr>
          <p:cNvPr id="20" name="Text 18"/>
          <p:cNvSpPr txBox="1"/>
          <p:nvPr/>
        </p:nvSpPr>
        <p:spPr>
          <a:xfrm>
            <a:off x="2423160" y="2862072"/>
            <a:ext cx="1216152" cy="103327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HTTPS entry</a:t>
            </a:r>
            <a:endParaRPr lang="en-US" sz="850" dirty="0"/>
          </a:p>
          <a:p>
            <a:pPr algn="l" indent="0" marL="0">
              <a:buNone/>
            </a:pPr>
            <a:r>
              <a:rPr lang="en-US" sz="850" dirty="0">
                <a:solidFill>
                  <a:srgbClr val="566A83"/>
                </a:solidFill>
                <a:latin typeface="Aptos" pitchFamily="34" charset="0"/>
                <a:ea typeface="Aptos" pitchFamily="34" charset="-122"/>
                <a:cs typeface="Aptos" pitchFamily="34" charset="-120"/>
              </a:rPr>
              <a:t>Routing / auth</a:t>
            </a:r>
            <a:endParaRPr lang="en-US" sz="850" dirty="0"/>
          </a:p>
        </p:txBody>
      </p:sp>
      <p:sp>
        <p:nvSpPr>
          <p:cNvPr id="21" name="Shape 19"/>
          <p:cNvSpPr/>
          <p:nvPr/>
        </p:nvSpPr>
        <p:spPr>
          <a:xfrm>
            <a:off x="3721608" y="3236976"/>
            <a:ext cx="457200" cy="914"/>
          </a:xfrm>
          <a:prstGeom prst="line">
            <a:avLst/>
          </a:prstGeom>
          <a:noFill/>
          <a:ln w="17780">
            <a:solidFill>
              <a:srgbClr val="2367D1"/>
            </a:solidFill>
            <a:prstDash val="solid"/>
            <a:headEnd type="none"/>
            <a:tailEnd type="triangle"/>
          </a:ln>
        </p:spPr>
      </p:sp>
      <p:sp>
        <p:nvSpPr>
          <p:cNvPr id="22" name="Shape 20"/>
          <p:cNvSpPr/>
          <p:nvPr/>
        </p:nvSpPr>
        <p:spPr>
          <a:xfrm>
            <a:off x="4178808" y="2167128"/>
            <a:ext cx="4041648" cy="2148840"/>
          </a:xfrm>
          <a:prstGeom prst="roundRect">
            <a:avLst>
              <a:gd name="adj" fmla="val 3404"/>
            </a:avLst>
          </a:prstGeom>
          <a:solidFill>
            <a:srgbClr val="F5F8FC"/>
          </a:solidFill>
          <a:ln w="10160">
            <a:solidFill>
              <a:srgbClr val="D7E0EC"/>
            </a:solidFill>
            <a:prstDash val="solid"/>
          </a:ln>
        </p:spPr>
      </p:sp>
      <p:sp>
        <p:nvSpPr>
          <p:cNvPr id="23" name="Text 21"/>
          <p:cNvSpPr txBox="1"/>
          <p:nvPr/>
        </p:nvSpPr>
        <p:spPr>
          <a:xfrm>
            <a:off x="4389120" y="2304288"/>
            <a:ext cx="1874520" cy="182880"/>
          </a:xfrm>
          <a:prstGeom prst="rect">
            <a:avLst/>
          </a:prstGeom>
          <a:noFill/>
          <a:ln/>
        </p:spPr>
        <p:txBody>
          <a:bodyPr wrap="square" lIns="508" tIns="508" rIns="508" bIns="508" rtlCol="0" anchor="ctr">
            <a:normAutofit/>
          </a:bodyPr>
          <a:lstStyle/>
          <a:p>
            <a:pPr algn="l" indent="0" marL="0">
              <a:buNone/>
            </a:pPr>
            <a:r>
              <a:rPr lang="en-US" sz="810" b="1" dirty="0">
                <a:solidFill>
                  <a:srgbClr val="566A83"/>
                </a:solidFill>
                <a:latin typeface="Aptos" pitchFamily="34" charset="0"/>
                <a:ea typeface="Aptos" pitchFamily="34" charset="-122"/>
                <a:cs typeface="Aptos" pitchFamily="34" charset="-120"/>
              </a:rPr>
              <a:t>DOMAIN SERVICES</a:t>
            </a:r>
            <a:endParaRPr lang="en-US" sz="810" dirty="0"/>
          </a:p>
        </p:txBody>
      </p:sp>
      <p:sp>
        <p:nvSpPr>
          <p:cNvPr id="24" name="Shape 22"/>
          <p:cNvSpPr/>
          <p:nvPr/>
        </p:nvSpPr>
        <p:spPr>
          <a:xfrm>
            <a:off x="4389120" y="2633472"/>
            <a:ext cx="1069848" cy="667512"/>
          </a:xfrm>
          <a:prstGeom prst="roundRect">
            <a:avLst>
              <a:gd name="adj" fmla="val 10959"/>
            </a:avLst>
          </a:prstGeom>
          <a:solidFill>
            <a:srgbClr val="FFFFFF"/>
          </a:solidFill>
          <a:ln w="10160">
            <a:solidFill>
              <a:srgbClr val="D7E0EC"/>
            </a:solidFill>
            <a:prstDash val="solid"/>
          </a:ln>
        </p:spPr>
      </p:sp>
      <p:sp>
        <p:nvSpPr>
          <p:cNvPr id="25" name="Shape 23"/>
          <p:cNvSpPr/>
          <p:nvPr/>
        </p:nvSpPr>
        <p:spPr>
          <a:xfrm>
            <a:off x="4407408" y="2724912"/>
            <a:ext cx="41148" cy="484632"/>
          </a:xfrm>
          <a:prstGeom prst="rect">
            <a:avLst/>
          </a:prstGeom>
          <a:solidFill>
            <a:srgbClr val="2367D1"/>
          </a:solidFill>
          <a:ln w="12700">
            <a:solidFill>
              <a:srgbClr val="2367D1">
                <a:alpha val="0"/>
              </a:srgbClr>
            </a:solidFill>
            <a:prstDash val="solid"/>
          </a:ln>
        </p:spPr>
      </p:sp>
      <p:sp>
        <p:nvSpPr>
          <p:cNvPr id="26" name="Text 24"/>
          <p:cNvSpPr txBox="1"/>
          <p:nvPr/>
        </p:nvSpPr>
        <p:spPr>
          <a:xfrm>
            <a:off x="4507992" y="2706624"/>
            <a:ext cx="8686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Catalogue</a:t>
            </a:r>
            <a:endParaRPr lang="en-US" sz="1030" dirty="0"/>
          </a:p>
        </p:txBody>
      </p:sp>
      <p:sp>
        <p:nvSpPr>
          <p:cNvPr id="27" name="Text 25"/>
          <p:cNvSpPr txBox="1"/>
          <p:nvPr/>
        </p:nvSpPr>
        <p:spPr>
          <a:xfrm>
            <a:off x="4507992" y="2980944"/>
            <a:ext cx="868680" cy="25603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Product data</a:t>
            </a:r>
            <a:endParaRPr lang="en-US" sz="850" dirty="0"/>
          </a:p>
        </p:txBody>
      </p:sp>
      <p:sp>
        <p:nvSpPr>
          <p:cNvPr id="28" name="Shape 26"/>
          <p:cNvSpPr/>
          <p:nvPr/>
        </p:nvSpPr>
        <p:spPr>
          <a:xfrm>
            <a:off x="5632704" y="2633472"/>
            <a:ext cx="1069848" cy="667512"/>
          </a:xfrm>
          <a:prstGeom prst="roundRect">
            <a:avLst>
              <a:gd name="adj" fmla="val 10959"/>
            </a:avLst>
          </a:prstGeom>
          <a:solidFill>
            <a:srgbClr val="FFFFFF"/>
          </a:solidFill>
          <a:ln w="10160">
            <a:solidFill>
              <a:srgbClr val="D7E0EC"/>
            </a:solidFill>
            <a:prstDash val="solid"/>
          </a:ln>
        </p:spPr>
      </p:sp>
      <p:sp>
        <p:nvSpPr>
          <p:cNvPr id="29" name="Shape 27"/>
          <p:cNvSpPr/>
          <p:nvPr/>
        </p:nvSpPr>
        <p:spPr>
          <a:xfrm>
            <a:off x="5650992" y="2724912"/>
            <a:ext cx="41148" cy="484632"/>
          </a:xfrm>
          <a:prstGeom prst="rect">
            <a:avLst/>
          </a:prstGeom>
          <a:solidFill>
            <a:srgbClr val="27A9C2"/>
          </a:solidFill>
          <a:ln w="12700">
            <a:solidFill>
              <a:srgbClr val="27A9C2">
                <a:alpha val="0"/>
              </a:srgbClr>
            </a:solidFill>
            <a:prstDash val="solid"/>
          </a:ln>
        </p:spPr>
      </p:sp>
      <p:sp>
        <p:nvSpPr>
          <p:cNvPr id="30" name="Text 28"/>
          <p:cNvSpPr txBox="1"/>
          <p:nvPr/>
        </p:nvSpPr>
        <p:spPr>
          <a:xfrm>
            <a:off x="5751576" y="2706624"/>
            <a:ext cx="8686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Search</a:t>
            </a:r>
            <a:endParaRPr lang="en-US" sz="1030" dirty="0"/>
          </a:p>
        </p:txBody>
      </p:sp>
      <p:sp>
        <p:nvSpPr>
          <p:cNvPr id="31" name="Text 29"/>
          <p:cNvSpPr txBox="1"/>
          <p:nvPr/>
        </p:nvSpPr>
        <p:spPr>
          <a:xfrm>
            <a:off x="5751576" y="2980944"/>
            <a:ext cx="868680" cy="25603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Find items</a:t>
            </a:r>
            <a:endParaRPr lang="en-US" sz="850" dirty="0"/>
          </a:p>
        </p:txBody>
      </p:sp>
      <p:sp>
        <p:nvSpPr>
          <p:cNvPr id="32" name="Shape 30"/>
          <p:cNvSpPr/>
          <p:nvPr/>
        </p:nvSpPr>
        <p:spPr>
          <a:xfrm>
            <a:off x="6876288" y="2633472"/>
            <a:ext cx="1069848" cy="667512"/>
          </a:xfrm>
          <a:prstGeom prst="roundRect">
            <a:avLst>
              <a:gd name="adj" fmla="val 10959"/>
            </a:avLst>
          </a:prstGeom>
          <a:solidFill>
            <a:srgbClr val="FFFFFF"/>
          </a:solidFill>
          <a:ln w="10160">
            <a:solidFill>
              <a:srgbClr val="D7E0EC"/>
            </a:solidFill>
            <a:prstDash val="solid"/>
          </a:ln>
        </p:spPr>
      </p:sp>
      <p:sp>
        <p:nvSpPr>
          <p:cNvPr id="33" name="Shape 31"/>
          <p:cNvSpPr/>
          <p:nvPr/>
        </p:nvSpPr>
        <p:spPr>
          <a:xfrm>
            <a:off x="6894576" y="2724912"/>
            <a:ext cx="41148" cy="484632"/>
          </a:xfrm>
          <a:prstGeom prst="rect">
            <a:avLst/>
          </a:prstGeom>
          <a:solidFill>
            <a:srgbClr val="F2A341"/>
          </a:solidFill>
          <a:ln w="12700">
            <a:solidFill>
              <a:srgbClr val="F2A341">
                <a:alpha val="0"/>
              </a:srgbClr>
            </a:solidFill>
            <a:prstDash val="solid"/>
          </a:ln>
        </p:spPr>
      </p:sp>
      <p:sp>
        <p:nvSpPr>
          <p:cNvPr id="34" name="Text 32"/>
          <p:cNvSpPr txBox="1"/>
          <p:nvPr/>
        </p:nvSpPr>
        <p:spPr>
          <a:xfrm>
            <a:off x="6995160" y="2706624"/>
            <a:ext cx="8686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Cart</a:t>
            </a:r>
            <a:endParaRPr lang="en-US" sz="1030" dirty="0"/>
          </a:p>
        </p:txBody>
      </p:sp>
      <p:sp>
        <p:nvSpPr>
          <p:cNvPr id="35" name="Text 33"/>
          <p:cNvSpPr txBox="1"/>
          <p:nvPr/>
        </p:nvSpPr>
        <p:spPr>
          <a:xfrm>
            <a:off x="6995160" y="2980944"/>
            <a:ext cx="868680" cy="25603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Save intent</a:t>
            </a:r>
            <a:endParaRPr lang="en-US" sz="850" dirty="0"/>
          </a:p>
        </p:txBody>
      </p:sp>
      <p:sp>
        <p:nvSpPr>
          <p:cNvPr id="36" name="Shape 34"/>
          <p:cNvSpPr/>
          <p:nvPr/>
        </p:nvSpPr>
        <p:spPr>
          <a:xfrm>
            <a:off x="4389120" y="3474720"/>
            <a:ext cx="1069848" cy="667512"/>
          </a:xfrm>
          <a:prstGeom prst="roundRect">
            <a:avLst>
              <a:gd name="adj" fmla="val 10959"/>
            </a:avLst>
          </a:prstGeom>
          <a:solidFill>
            <a:srgbClr val="FFFFFF"/>
          </a:solidFill>
          <a:ln w="10160">
            <a:solidFill>
              <a:srgbClr val="D7E0EC"/>
            </a:solidFill>
            <a:prstDash val="solid"/>
          </a:ln>
        </p:spPr>
      </p:sp>
      <p:sp>
        <p:nvSpPr>
          <p:cNvPr id="37" name="Shape 35"/>
          <p:cNvSpPr/>
          <p:nvPr/>
        </p:nvSpPr>
        <p:spPr>
          <a:xfrm>
            <a:off x="4407408" y="3566160"/>
            <a:ext cx="41148" cy="484632"/>
          </a:xfrm>
          <a:prstGeom prst="rect">
            <a:avLst/>
          </a:prstGeom>
          <a:solidFill>
            <a:srgbClr val="D65D5D"/>
          </a:solidFill>
          <a:ln w="12700">
            <a:solidFill>
              <a:srgbClr val="D65D5D">
                <a:alpha val="0"/>
              </a:srgbClr>
            </a:solidFill>
            <a:prstDash val="solid"/>
          </a:ln>
        </p:spPr>
      </p:sp>
      <p:sp>
        <p:nvSpPr>
          <p:cNvPr id="38" name="Text 36"/>
          <p:cNvSpPr txBox="1"/>
          <p:nvPr/>
        </p:nvSpPr>
        <p:spPr>
          <a:xfrm>
            <a:off x="4507992" y="3547872"/>
            <a:ext cx="8686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Checkout</a:t>
            </a:r>
            <a:endParaRPr lang="en-US" sz="1030" dirty="0"/>
          </a:p>
        </p:txBody>
      </p:sp>
      <p:sp>
        <p:nvSpPr>
          <p:cNvPr id="39" name="Text 37"/>
          <p:cNvSpPr txBox="1"/>
          <p:nvPr/>
        </p:nvSpPr>
        <p:spPr>
          <a:xfrm>
            <a:off x="4507992" y="3822192"/>
            <a:ext cx="868680" cy="25603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Validate + pay</a:t>
            </a:r>
            <a:endParaRPr lang="en-US" sz="850" dirty="0"/>
          </a:p>
        </p:txBody>
      </p:sp>
      <p:sp>
        <p:nvSpPr>
          <p:cNvPr id="40" name="Shape 38"/>
          <p:cNvSpPr/>
          <p:nvPr/>
        </p:nvSpPr>
        <p:spPr>
          <a:xfrm>
            <a:off x="5632704" y="3474720"/>
            <a:ext cx="1069848" cy="667512"/>
          </a:xfrm>
          <a:prstGeom prst="roundRect">
            <a:avLst>
              <a:gd name="adj" fmla="val 10959"/>
            </a:avLst>
          </a:prstGeom>
          <a:solidFill>
            <a:srgbClr val="FFFFFF"/>
          </a:solidFill>
          <a:ln w="10160">
            <a:solidFill>
              <a:srgbClr val="D7E0EC"/>
            </a:solidFill>
            <a:prstDash val="solid"/>
          </a:ln>
        </p:spPr>
      </p:sp>
      <p:sp>
        <p:nvSpPr>
          <p:cNvPr id="41" name="Shape 39"/>
          <p:cNvSpPr/>
          <p:nvPr/>
        </p:nvSpPr>
        <p:spPr>
          <a:xfrm>
            <a:off x="5650992" y="3566160"/>
            <a:ext cx="41148" cy="484632"/>
          </a:xfrm>
          <a:prstGeom prst="rect">
            <a:avLst/>
          </a:prstGeom>
          <a:solidFill>
            <a:srgbClr val="329879"/>
          </a:solidFill>
          <a:ln w="12700">
            <a:solidFill>
              <a:srgbClr val="329879">
                <a:alpha val="0"/>
              </a:srgbClr>
            </a:solidFill>
            <a:prstDash val="solid"/>
          </a:ln>
        </p:spPr>
      </p:sp>
      <p:sp>
        <p:nvSpPr>
          <p:cNvPr id="42" name="Text 40"/>
          <p:cNvSpPr txBox="1"/>
          <p:nvPr/>
        </p:nvSpPr>
        <p:spPr>
          <a:xfrm>
            <a:off x="5751576" y="3547872"/>
            <a:ext cx="8686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Orders</a:t>
            </a:r>
            <a:endParaRPr lang="en-US" sz="1030" dirty="0"/>
          </a:p>
        </p:txBody>
      </p:sp>
      <p:sp>
        <p:nvSpPr>
          <p:cNvPr id="43" name="Text 41"/>
          <p:cNvSpPr txBox="1"/>
          <p:nvPr/>
        </p:nvSpPr>
        <p:spPr>
          <a:xfrm>
            <a:off x="5751576" y="3822192"/>
            <a:ext cx="868680" cy="25603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Track status</a:t>
            </a:r>
            <a:endParaRPr lang="en-US" sz="850" dirty="0"/>
          </a:p>
        </p:txBody>
      </p:sp>
      <p:sp>
        <p:nvSpPr>
          <p:cNvPr id="44" name="Shape 42"/>
          <p:cNvSpPr/>
          <p:nvPr/>
        </p:nvSpPr>
        <p:spPr>
          <a:xfrm>
            <a:off x="6876288" y="3474720"/>
            <a:ext cx="1069848" cy="667512"/>
          </a:xfrm>
          <a:prstGeom prst="roundRect">
            <a:avLst>
              <a:gd name="adj" fmla="val 10959"/>
            </a:avLst>
          </a:prstGeom>
          <a:solidFill>
            <a:srgbClr val="FFFFFF"/>
          </a:solidFill>
          <a:ln w="10160">
            <a:solidFill>
              <a:srgbClr val="D7E0EC"/>
            </a:solidFill>
            <a:prstDash val="solid"/>
          </a:ln>
        </p:spPr>
      </p:sp>
      <p:sp>
        <p:nvSpPr>
          <p:cNvPr id="45" name="Shape 43"/>
          <p:cNvSpPr/>
          <p:nvPr/>
        </p:nvSpPr>
        <p:spPr>
          <a:xfrm>
            <a:off x="6894576" y="3566160"/>
            <a:ext cx="41148" cy="484632"/>
          </a:xfrm>
          <a:prstGeom prst="rect">
            <a:avLst/>
          </a:prstGeom>
          <a:solidFill>
            <a:srgbClr val="F2A341"/>
          </a:solidFill>
          <a:ln w="12700">
            <a:solidFill>
              <a:srgbClr val="F2A341">
                <a:alpha val="0"/>
              </a:srgbClr>
            </a:solidFill>
            <a:prstDash val="solid"/>
          </a:ln>
        </p:spPr>
      </p:sp>
      <p:sp>
        <p:nvSpPr>
          <p:cNvPr id="46" name="Text 44"/>
          <p:cNvSpPr txBox="1"/>
          <p:nvPr/>
        </p:nvSpPr>
        <p:spPr>
          <a:xfrm>
            <a:off x="6995160" y="3547872"/>
            <a:ext cx="8686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Inventory</a:t>
            </a:r>
            <a:endParaRPr lang="en-US" sz="1030" dirty="0"/>
          </a:p>
        </p:txBody>
      </p:sp>
      <p:sp>
        <p:nvSpPr>
          <p:cNvPr id="47" name="Text 45"/>
          <p:cNvSpPr txBox="1"/>
          <p:nvPr/>
        </p:nvSpPr>
        <p:spPr>
          <a:xfrm>
            <a:off x="6995160" y="3822192"/>
            <a:ext cx="868680" cy="25603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Available units</a:t>
            </a:r>
            <a:endParaRPr lang="en-US" sz="850" dirty="0"/>
          </a:p>
        </p:txBody>
      </p:sp>
      <p:sp>
        <p:nvSpPr>
          <p:cNvPr id="48" name="Shape 46"/>
          <p:cNvSpPr/>
          <p:nvPr/>
        </p:nvSpPr>
        <p:spPr>
          <a:xfrm>
            <a:off x="8220456" y="3236976"/>
            <a:ext cx="384048" cy="914"/>
          </a:xfrm>
          <a:prstGeom prst="line">
            <a:avLst/>
          </a:prstGeom>
          <a:noFill/>
          <a:ln w="17780">
            <a:solidFill>
              <a:srgbClr val="2367D1"/>
            </a:solidFill>
            <a:prstDash val="solid"/>
            <a:headEnd type="none"/>
            <a:tailEnd type="triangle"/>
          </a:ln>
        </p:spPr>
      </p:sp>
      <p:sp>
        <p:nvSpPr>
          <p:cNvPr id="49" name="Shape 47"/>
          <p:cNvSpPr/>
          <p:nvPr/>
        </p:nvSpPr>
        <p:spPr>
          <a:xfrm>
            <a:off x="8604504" y="2167128"/>
            <a:ext cx="2670048" cy="2148840"/>
          </a:xfrm>
          <a:prstGeom prst="roundRect">
            <a:avLst>
              <a:gd name="adj" fmla="val 3404"/>
            </a:avLst>
          </a:prstGeom>
          <a:solidFill>
            <a:srgbClr val="E8F5EF"/>
          </a:solidFill>
          <a:ln w="10160">
            <a:solidFill>
              <a:srgbClr val="D7E0EC"/>
            </a:solidFill>
            <a:prstDash val="solid"/>
          </a:ln>
        </p:spPr>
      </p:sp>
      <p:sp>
        <p:nvSpPr>
          <p:cNvPr id="50" name="Text 48"/>
          <p:cNvSpPr txBox="1"/>
          <p:nvPr/>
        </p:nvSpPr>
        <p:spPr>
          <a:xfrm>
            <a:off x="8814816" y="2304288"/>
            <a:ext cx="2011680" cy="182880"/>
          </a:xfrm>
          <a:prstGeom prst="rect">
            <a:avLst/>
          </a:prstGeom>
          <a:noFill/>
          <a:ln/>
        </p:spPr>
        <p:txBody>
          <a:bodyPr wrap="square" lIns="508" tIns="508" rIns="508" bIns="508" rtlCol="0" anchor="ctr">
            <a:normAutofit/>
          </a:bodyPr>
          <a:lstStyle/>
          <a:p>
            <a:pPr algn="l" indent="0" marL="0">
              <a:buNone/>
            </a:pPr>
            <a:r>
              <a:rPr lang="en-US" sz="810" b="1" dirty="0">
                <a:solidFill>
                  <a:srgbClr val="566A83"/>
                </a:solidFill>
                <a:latin typeface="Aptos" pitchFamily="34" charset="0"/>
                <a:ea typeface="Aptos" pitchFamily="34" charset="-122"/>
                <a:cs typeface="Aptos" pitchFamily="34" charset="-120"/>
              </a:rPr>
              <a:t>DATA + PARTNERS</a:t>
            </a:r>
            <a:endParaRPr lang="en-US" sz="810" dirty="0"/>
          </a:p>
        </p:txBody>
      </p:sp>
      <p:sp>
        <p:nvSpPr>
          <p:cNvPr id="51" name="Shape 49"/>
          <p:cNvSpPr/>
          <p:nvPr/>
        </p:nvSpPr>
        <p:spPr>
          <a:xfrm>
            <a:off x="8842248" y="2633472"/>
            <a:ext cx="987552" cy="685800"/>
          </a:xfrm>
          <a:prstGeom prst="roundRect">
            <a:avLst>
              <a:gd name="adj" fmla="val 10667"/>
            </a:avLst>
          </a:prstGeom>
          <a:solidFill>
            <a:srgbClr val="FFFFFF"/>
          </a:solidFill>
          <a:ln w="10160">
            <a:solidFill>
              <a:srgbClr val="D7E0EC"/>
            </a:solidFill>
            <a:prstDash val="solid"/>
          </a:ln>
        </p:spPr>
      </p:sp>
      <p:sp>
        <p:nvSpPr>
          <p:cNvPr id="52" name="Shape 50"/>
          <p:cNvSpPr/>
          <p:nvPr/>
        </p:nvSpPr>
        <p:spPr>
          <a:xfrm>
            <a:off x="8860536" y="2724912"/>
            <a:ext cx="41148" cy="502920"/>
          </a:xfrm>
          <a:prstGeom prst="rect">
            <a:avLst/>
          </a:prstGeom>
          <a:solidFill>
            <a:srgbClr val="329879"/>
          </a:solidFill>
          <a:ln w="12700">
            <a:solidFill>
              <a:srgbClr val="329879">
                <a:alpha val="0"/>
              </a:srgbClr>
            </a:solidFill>
            <a:prstDash val="solid"/>
          </a:ln>
        </p:spPr>
      </p:sp>
      <p:sp>
        <p:nvSpPr>
          <p:cNvPr id="53" name="Text 51"/>
          <p:cNvSpPr txBox="1"/>
          <p:nvPr/>
        </p:nvSpPr>
        <p:spPr>
          <a:xfrm>
            <a:off x="8961120" y="2706624"/>
            <a:ext cx="78638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Stores</a:t>
            </a:r>
            <a:endParaRPr lang="en-US" sz="1030" dirty="0"/>
          </a:p>
        </p:txBody>
      </p:sp>
      <p:sp>
        <p:nvSpPr>
          <p:cNvPr id="54" name="Text 52"/>
          <p:cNvSpPr txBox="1"/>
          <p:nvPr/>
        </p:nvSpPr>
        <p:spPr>
          <a:xfrm>
            <a:off x="8961120" y="2980944"/>
            <a:ext cx="786384" cy="27432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SQL / NoSQL</a:t>
            </a:r>
            <a:endParaRPr lang="en-US" sz="850" dirty="0"/>
          </a:p>
        </p:txBody>
      </p:sp>
      <p:sp>
        <p:nvSpPr>
          <p:cNvPr id="55" name="Shape 53"/>
          <p:cNvSpPr/>
          <p:nvPr/>
        </p:nvSpPr>
        <p:spPr>
          <a:xfrm>
            <a:off x="10003536" y="2633472"/>
            <a:ext cx="1024128" cy="685800"/>
          </a:xfrm>
          <a:prstGeom prst="roundRect">
            <a:avLst>
              <a:gd name="adj" fmla="val 10667"/>
            </a:avLst>
          </a:prstGeom>
          <a:solidFill>
            <a:srgbClr val="FFFFFF"/>
          </a:solidFill>
          <a:ln w="10160">
            <a:solidFill>
              <a:srgbClr val="D7E0EC"/>
            </a:solidFill>
            <a:prstDash val="solid"/>
          </a:ln>
        </p:spPr>
      </p:sp>
      <p:sp>
        <p:nvSpPr>
          <p:cNvPr id="56" name="Shape 54"/>
          <p:cNvSpPr/>
          <p:nvPr/>
        </p:nvSpPr>
        <p:spPr>
          <a:xfrm>
            <a:off x="10021824" y="2724912"/>
            <a:ext cx="41148" cy="502920"/>
          </a:xfrm>
          <a:prstGeom prst="rect">
            <a:avLst/>
          </a:prstGeom>
          <a:solidFill>
            <a:srgbClr val="27A9C2"/>
          </a:solidFill>
          <a:ln w="12700">
            <a:solidFill>
              <a:srgbClr val="27A9C2">
                <a:alpha val="0"/>
              </a:srgbClr>
            </a:solidFill>
            <a:prstDash val="solid"/>
          </a:ln>
        </p:spPr>
      </p:sp>
      <p:sp>
        <p:nvSpPr>
          <p:cNvPr id="57" name="Text 55"/>
          <p:cNvSpPr txBox="1"/>
          <p:nvPr/>
        </p:nvSpPr>
        <p:spPr>
          <a:xfrm>
            <a:off x="10122408" y="2706624"/>
            <a:ext cx="82296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Cache</a:t>
            </a:r>
            <a:endParaRPr lang="en-US" sz="1030" dirty="0"/>
          </a:p>
        </p:txBody>
      </p:sp>
      <p:sp>
        <p:nvSpPr>
          <p:cNvPr id="58" name="Text 56"/>
          <p:cNvSpPr txBox="1"/>
          <p:nvPr/>
        </p:nvSpPr>
        <p:spPr>
          <a:xfrm>
            <a:off x="10122408" y="2980944"/>
            <a:ext cx="822960" cy="27432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Hot reads</a:t>
            </a:r>
            <a:endParaRPr lang="en-US" sz="850" dirty="0"/>
          </a:p>
        </p:txBody>
      </p:sp>
      <p:sp>
        <p:nvSpPr>
          <p:cNvPr id="59" name="Shape 57"/>
          <p:cNvSpPr/>
          <p:nvPr/>
        </p:nvSpPr>
        <p:spPr>
          <a:xfrm>
            <a:off x="8842248" y="3493008"/>
            <a:ext cx="987552" cy="685800"/>
          </a:xfrm>
          <a:prstGeom prst="roundRect">
            <a:avLst>
              <a:gd name="adj" fmla="val 10667"/>
            </a:avLst>
          </a:prstGeom>
          <a:solidFill>
            <a:srgbClr val="FFFFFF"/>
          </a:solidFill>
          <a:ln w="10160">
            <a:solidFill>
              <a:srgbClr val="D7E0EC"/>
            </a:solidFill>
            <a:prstDash val="solid"/>
          </a:ln>
        </p:spPr>
      </p:sp>
      <p:sp>
        <p:nvSpPr>
          <p:cNvPr id="60" name="Shape 58"/>
          <p:cNvSpPr/>
          <p:nvPr/>
        </p:nvSpPr>
        <p:spPr>
          <a:xfrm>
            <a:off x="8860536" y="3584448"/>
            <a:ext cx="41148" cy="502920"/>
          </a:xfrm>
          <a:prstGeom prst="rect">
            <a:avLst/>
          </a:prstGeom>
          <a:solidFill>
            <a:srgbClr val="D65D5D"/>
          </a:solidFill>
          <a:ln w="12700">
            <a:solidFill>
              <a:srgbClr val="D65D5D">
                <a:alpha val="0"/>
              </a:srgbClr>
            </a:solidFill>
            <a:prstDash val="solid"/>
          </a:ln>
        </p:spPr>
      </p:sp>
      <p:sp>
        <p:nvSpPr>
          <p:cNvPr id="61" name="Text 59"/>
          <p:cNvSpPr txBox="1"/>
          <p:nvPr/>
        </p:nvSpPr>
        <p:spPr>
          <a:xfrm>
            <a:off x="8961120" y="3566160"/>
            <a:ext cx="78638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Payment</a:t>
            </a:r>
            <a:endParaRPr lang="en-US" sz="1030" dirty="0"/>
          </a:p>
        </p:txBody>
      </p:sp>
      <p:sp>
        <p:nvSpPr>
          <p:cNvPr id="62" name="Text 60"/>
          <p:cNvSpPr txBox="1"/>
          <p:nvPr/>
        </p:nvSpPr>
        <p:spPr>
          <a:xfrm>
            <a:off x="8961120" y="3840480"/>
            <a:ext cx="786384" cy="27432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External API</a:t>
            </a:r>
            <a:endParaRPr lang="en-US" sz="850" dirty="0"/>
          </a:p>
        </p:txBody>
      </p:sp>
      <p:sp>
        <p:nvSpPr>
          <p:cNvPr id="63" name="Shape 61"/>
          <p:cNvSpPr/>
          <p:nvPr/>
        </p:nvSpPr>
        <p:spPr>
          <a:xfrm>
            <a:off x="10003536" y="3493008"/>
            <a:ext cx="1024128" cy="685800"/>
          </a:xfrm>
          <a:prstGeom prst="roundRect">
            <a:avLst>
              <a:gd name="adj" fmla="val 10667"/>
            </a:avLst>
          </a:prstGeom>
          <a:solidFill>
            <a:srgbClr val="FFFFFF"/>
          </a:solidFill>
          <a:ln w="10160">
            <a:solidFill>
              <a:srgbClr val="D7E0EC"/>
            </a:solidFill>
            <a:prstDash val="solid"/>
          </a:ln>
        </p:spPr>
      </p:sp>
      <p:sp>
        <p:nvSpPr>
          <p:cNvPr id="64" name="Shape 62"/>
          <p:cNvSpPr/>
          <p:nvPr/>
        </p:nvSpPr>
        <p:spPr>
          <a:xfrm>
            <a:off x="10021824" y="3584448"/>
            <a:ext cx="41148" cy="502920"/>
          </a:xfrm>
          <a:prstGeom prst="rect">
            <a:avLst/>
          </a:prstGeom>
          <a:solidFill>
            <a:srgbClr val="F2A341"/>
          </a:solidFill>
          <a:ln w="12700">
            <a:solidFill>
              <a:srgbClr val="F2A341">
                <a:alpha val="0"/>
              </a:srgbClr>
            </a:solidFill>
            <a:prstDash val="solid"/>
          </a:ln>
        </p:spPr>
      </p:sp>
      <p:sp>
        <p:nvSpPr>
          <p:cNvPr id="65" name="Text 63"/>
          <p:cNvSpPr txBox="1"/>
          <p:nvPr/>
        </p:nvSpPr>
        <p:spPr>
          <a:xfrm>
            <a:off x="10122408" y="3566160"/>
            <a:ext cx="82296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Delivery</a:t>
            </a:r>
            <a:endParaRPr lang="en-US" sz="1030" dirty="0"/>
          </a:p>
        </p:txBody>
      </p:sp>
      <p:sp>
        <p:nvSpPr>
          <p:cNvPr id="66" name="Text 64"/>
          <p:cNvSpPr txBox="1"/>
          <p:nvPr/>
        </p:nvSpPr>
        <p:spPr>
          <a:xfrm>
            <a:off x="10122408" y="3840480"/>
            <a:ext cx="822960" cy="27432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Carrier API</a:t>
            </a:r>
            <a:endParaRPr lang="en-US" sz="850" dirty="0"/>
          </a:p>
        </p:txBody>
      </p:sp>
      <p:sp>
        <p:nvSpPr>
          <p:cNvPr id="67" name="Shape 65"/>
          <p:cNvSpPr/>
          <p:nvPr/>
        </p:nvSpPr>
        <p:spPr>
          <a:xfrm>
            <a:off x="4937760" y="4325112"/>
            <a:ext cx="914" cy="374904"/>
          </a:xfrm>
          <a:prstGeom prst="line">
            <a:avLst/>
          </a:prstGeom>
          <a:noFill/>
          <a:ln w="17780">
            <a:solidFill>
              <a:srgbClr val="27A9C2"/>
            </a:solidFill>
            <a:prstDash val="solid"/>
            <a:headEnd type="none"/>
            <a:tailEnd type="triangle"/>
          </a:ln>
        </p:spPr>
      </p:sp>
      <p:sp>
        <p:nvSpPr>
          <p:cNvPr id="68" name="Text 66"/>
          <p:cNvSpPr txBox="1"/>
          <p:nvPr/>
        </p:nvSpPr>
        <p:spPr>
          <a:xfrm>
            <a:off x="5065776" y="4352544"/>
            <a:ext cx="640080" cy="201168"/>
          </a:xfrm>
          <a:prstGeom prst="rect">
            <a:avLst/>
          </a:prstGeom>
          <a:noFill/>
          <a:ln/>
        </p:spPr>
        <p:txBody>
          <a:bodyPr wrap="square" lIns="508" tIns="508" rIns="508" bIns="508" rtlCol="0" anchor="ctr">
            <a:normAutofit/>
          </a:bodyPr>
          <a:lstStyle/>
          <a:p>
            <a:pPr algn="ctr" indent="0" marL="0">
              <a:buNone/>
            </a:pPr>
            <a:r>
              <a:rPr lang="en-US" sz="770" dirty="0">
                <a:solidFill>
                  <a:srgbClr val="27A9C2"/>
                </a:solidFill>
                <a:latin typeface="Aptos" pitchFamily="34" charset="0"/>
                <a:ea typeface="Aptos" pitchFamily="34" charset="-122"/>
                <a:cs typeface="Aptos" pitchFamily="34" charset="-120"/>
              </a:rPr>
              <a:t>events</a:t>
            </a:r>
            <a:endParaRPr lang="en-US" sz="770" dirty="0"/>
          </a:p>
        </p:txBody>
      </p:sp>
      <p:sp>
        <p:nvSpPr>
          <p:cNvPr id="69" name="Shape 67"/>
          <p:cNvSpPr/>
          <p:nvPr/>
        </p:nvSpPr>
        <p:spPr>
          <a:xfrm>
            <a:off x="4389120" y="4700016"/>
            <a:ext cx="2331720" cy="758952"/>
          </a:xfrm>
          <a:prstGeom prst="roundRect">
            <a:avLst>
              <a:gd name="adj" fmla="val 9639"/>
            </a:avLst>
          </a:prstGeom>
          <a:solidFill>
            <a:srgbClr val="E5F6F8"/>
          </a:solidFill>
          <a:ln w="10160">
            <a:solidFill>
              <a:srgbClr val="D7E0EC"/>
            </a:solidFill>
            <a:prstDash val="solid"/>
          </a:ln>
        </p:spPr>
      </p:sp>
      <p:sp>
        <p:nvSpPr>
          <p:cNvPr id="70" name="Shape 68"/>
          <p:cNvSpPr/>
          <p:nvPr/>
        </p:nvSpPr>
        <p:spPr>
          <a:xfrm>
            <a:off x="4407408" y="4791456"/>
            <a:ext cx="41148" cy="576072"/>
          </a:xfrm>
          <a:prstGeom prst="rect">
            <a:avLst/>
          </a:prstGeom>
          <a:solidFill>
            <a:srgbClr val="27A9C2"/>
          </a:solidFill>
          <a:ln w="12700">
            <a:solidFill>
              <a:srgbClr val="27A9C2">
                <a:alpha val="0"/>
              </a:srgbClr>
            </a:solidFill>
            <a:prstDash val="solid"/>
          </a:ln>
        </p:spPr>
      </p:sp>
      <p:sp>
        <p:nvSpPr>
          <p:cNvPr id="71" name="Text 69"/>
          <p:cNvSpPr txBox="1"/>
          <p:nvPr/>
        </p:nvSpPr>
        <p:spPr>
          <a:xfrm>
            <a:off x="4507992" y="4773168"/>
            <a:ext cx="2130552"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Message queue + workers</a:t>
            </a:r>
            <a:endParaRPr lang="en-US" sz="1030" dirty="0"/>
          </a:p>
        </p:txBody>
      </p:sp>
      <p:sp>
        <p:nvSpPr>
          <p:cNvPr id="72" name="Text 70"/>
          <p:cNvSpPr txBox="1"/>
          <p:nvPr/>
        </p:nvSpPr>
        <p:spPr>
          <a:xfrm>
            <a:off x="4507992" y="5047488"/>
            <a:ext cx="2130552" cy="34747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Receipts, fulfilment, status updates</a:t>
            </a:r>
            <a:endParaRPr lang="en-US" sz="850" dirty="0"/>
          </a:p>
        </p:txBody>
      </p:sp>
      <p:sp>
        <p:nvSpPr>
          <p:cNvPr id="73" name="Shape 71"/>
          <p:cNvSpPr/>
          <p:nvPr/>
        </p:nvSpPr>
        <p:spPr>
          <a:xfrm>
            <a:off x="6720840" y="5084064"/>
            <a:ext cx="603504" cy="914"/>
          </a:xfrm>
          <a:prstGeom prst="line">
            <a:avLst/>
          </a:prstGeom>
          <a:noFill/>
          <a:ln w="17780">
            <a:solidFill>
              <a:srgbClr val="2367D1"/>
            </a:solidFill>
            <a:prstDash val="solid"/>
            <a:headEnd type="none"/>
            <a:tailEnd type="triangle"/>
          </a:ln>
        </p:spPr>
      </p:sp>
      <p:sp>
        <p:nvSpPr>
          <p:cNvPr id="74" name="Shape 72"/>
          <p:cNvSpPr/>
          <p:nvPr/>
        </p:nvSpPr>
        <p:spPr>
          <a:xfrm>
            <a:off x="7324344" y="4700016"/>
            <a:ext cx="2542032" cy="758952"/>
          </a:xfrm>
          <a:prstGeom prst="roundRect">
            <a:avLst>
              <a:gd name="adj" fmla="val 9639"/>
            </a:avLst>
          </a:prstGeom>
          <a:solidFill>
            <a:srgbClr val="E8F0FE"/>
          </a:solidFill>
          <a:ln w="10160">
            <a:solidFill>
              <a:srgbClr val="D7E0EC"/>
            </a:solidFill>
            <a:prstDash val="solid"/>
          </a:ln>
        </p:spPr>
      </p:sp>
      <p:sp>
        <p:nvSpPr>
          <p:cNvPr id="75" name="Shape 73"/>
          <p:cNvSpPr/>
          <p:nvPr/>
        </p:nvSpPr>
        <p:spPr>
          <a:xfrm>
            <a:off x="7342632" y="4791456"/>
            <a:ext cx="41148" cy="576072"/>
          </a:xfrm>
          <a:prstGeom prst="rect">
            <a:avLst/>
          </a:prstGeom>
          <a:solidFill>
            <a:srgbClr val="2367D1"/>
          </a:solidFill>
          <a:ln w="12700">
            <a:solidFill>
              <a:srgbClr val="2367D1">
                <a:alpha val="0"/>
              </a:srgbClr>
            </a:solidFill>
            <a:prstDash val="solid"/>
          </a:ln>
        </p:spPr>
      </p:sp>
      <p:sp>
        <p:nvSpPr>
          <p:cNvPr id="76" name="Text 74"/>
          <p:cNvSpPr txBox="1"/>
          <p:nvPr/>
        </p:nvSpPr>
        <p:spPr>
          <a:xfrm>
            <a:off x="7443216" y="4773168"/>
            <a:ext cx="234086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Customer notifications</a:t>
            </a:r>
            <a:endParaRPr lang="en-US" sz="1030" dirty="0"/>
          </a:p>
        </p:txBody>
      </p:sp>
      <p:sp>
        <p:nvSpPr>
          <p:cNvPr id="77" name="Text 75"/>
          <p:cNvSpPr txBox="1"/>
          <p:nvPr/>
        </p:nvSpPr>
        <p:spPr>
          <a:xfrm>
            <a:off x="7443216" y="5047488"/>
            <a:ext cx="2340864" cy="347472"/>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Email / app / delivery tracking</a:t>
            </a:r>
            <a:endParaRPr lang="en-US" sz="850" dirty="0"/>
          </a:p>
        </p:txBody>
      </p:sp>
      <p:sp>
        <p:nvSpPr>
          <p:cNvPr id="78" name="Text 76"/>
          <p:cNvSpPr txBox="1"/>
          <p:nvPr/>
        </p:nvSpPr>
        <p:spPr>
          <a:xfrm>
            <a:off x="841248" y="5669280"/>
            <a:ext cx="10561320" cy="201168"/>
          </a:xfrm>
          <a:prstGeom prst="rect">
            <a:avLst/>
          </a:prstGeom>
          <a:noFill/>
          <a:ln/>
        </p:spPr>
        <p:txBody>
          <a:bodyPr wrap="square" lIns="508" tIns="508" rIns="508" bIns="508" rtlCol="0" anchor="ctr">
            <a:normAutofit/>
          </a:bodyPr>
          <a:lstStyle/>
          <a:p>
            <a:pPr algn="ctr" indent="0" marL="0">
              <a:buNone/>
            </a:pPr>
            <a:r>
              <a:rPr lang="en-US" sz="860" b="1" dirty="0">
                <a:solidFill>
                  <a:srgbClr val="566A83"/>
                </a:solidFill>
                <a:latin typeface="Aptos" pitchFamily="34" charset="0"/>
                <a:ea typeface="Aptos" pitchFamily="34" charset="-122"/>
                <a:cs typeface="Aptos" pitchFamily="34" charset="-120"/>
              </a:rPr>
              <a:t>The boxes describe common e-commerce responsibilities. They are teaching examples, not a verified description of Amazon’s private production services.</a:t>
            </a:r>
            <a:endParaRPr lang="en-US"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CASE STUDY  •  REQUEST SEQUENCE</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2200" b="1" dirty="0">
                <a:solidFill>
                  <a:srgbClr val="14253D"/>
                </a:solidFill>
                <a:latin typeface="Aptos" pitchFamily="34" charset="0"/>
                <a:ea typeface="Aptos" pitchFamily="34" charset="-122"/>
                <a:cs typeface="Aptos" pitchFamily="34" charset="-120"/>
              </a:rPr>
              <a:t>End-to-End Shopping and Order Flow</a:t>
            </a:r>
            <a:endParaRPr lang="en-US" sz="220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Follow one order from product discovery to delivery update; failures are part of the design.</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06 / 08</a:t>
            </a:r>
            <a:endParaRPr lang="en-US" sz="760" dirty="0"/>
          </a:p>
        </p:txBody>
      </p:sp>
      <p:sp>
        <p:nvSpPr>
          <p:cNvPr id="9" name="Shape 7"/>
          <p:cNvSpPr/>
          <p:nvPr/>
        </p:nvSpPr>
        <p:spPr>
          <a:xfrm>
            <a:off x="3090672" y="2203704"/>
            <a:ext cx="228600" cy="914"/>
          </a:xfrm>
          <a:prstGeom prst="line">
            <a:avLst/>
          </a:prstGeom>
          <a:noFill/>
          <a:ln w="17780">
            <a:solidFill>
              <a:srgbClr val="2367D1"/>
            </a:solidFill>
            <a:prstDash val="solid"/>
            <a:headEnd type="none"/>
            <a:tailEnd type="triangle"/>
          </a:ln>
        </p:spPr>
      </p:sp>
      <p:sp>
        <p:nvSpPr>
          <p:cNvPr id="10" name="Shape 8"/>
          <p:cNvSpPr/>
          <p:nvPr/>
        </p:nvSpPr>
        <p:spPr>
          <a:xfrm>
            <a:off x="5751576" y="2203704"/>
            <a:ext cx="228600" cy="914"/>
          </a:xfrm>
          <a:prstGeom prst="line">
            <a:avLst/>
          </a:prstGeom>
          <a:noFill/>
          <a:ln w="17780">
            <a:solidFill>
              <a:srgbClr val="2367D1"/>
            </a:solidFill>
            <a:prstDash val="solid"/>
            <a:headEnd type="none"/>
            <a:tailEnd type="triangle"/>
          </a:ln>
        </p:spPr>
      </p:sp>
      <p:sp>
        <p:nvSpPr>
          <p:cNvPr id="11" name="Shape 9"/>
          <p:cNvSpPr/>
          <p:nvPr/>
        </p:nvSpPr>
        <p:spPr>
          <a:xfrm>
            <a:off x="7196328" y="2734056"/>
            <a:ext cx="914" cy="356616"/>
          </a:xfrm>
          <a:prstGeom prst="line">
            <a:avLst/>
          </a:prstGeom>
          <a:noFill/>
          <a:ln w="17780">
            <a:solidFill>
              <a:srgbClr val="2367D1"/>
            </a:solidFill>
            <a:prstDash val="solid"/>
            <a:headEnd type="none"/>
            <a:tailEnd type="triangle"/>
          </a:ln>
        </p:spPr>
      </p:sp>
      <p:sp>
        <p:nvSpPr>
          <p:cNvPr id="12" name="Shape 10"/>
          <p:cNvSpPr/>
          <p:nvPr/>
        </p:nvSpPr>
        <p:spPr>
          <a:xfrm flipH="1">
            <a:off x="3319272" y="3630168"/>
            <a:ext cx="2432304" cy="914"/>
          </a:xfrm>
          <a:prstGeom prst="line">
            <a:avLst/>
          </a:prstGeom>
          <a:noFill/>
          <a:ln w="17780">
            <a:solidFill>
              <a:srgbClr val="2367D1"/>
            </a:solidFill>
            <a:prstDash val="solid"/>
            <a:headEnd type="triangle"/>
            <a:tailEnd type="none"/>
          </a:ln>
        </p:spPr>
      </p:sp>
      <p:sp>
        <p:nvSpPr>
          <p:cNvPr id="13" name="Shape 11"/>
          <p:cNvSpPr/>
          <p:nvPr/>
        </p:nvSpPr>
        <p:spPr>
          <a:xfrm flipH="1">
            <a:off x="658368" y="3630168"/>
            <a:ext cx="2432304" cy="914"/>
          </a:xfrm>
          <a:prstGeom prst="line">
            <a:avLst/>
          </a:prstGeom>
          <a:noFill/>
          <a:ln w="17780">
            <a:solidFill>
              <a:srgbClr val="2367D1"/>
            </a:solidFill>
            <a:prstDash val="solid"/>
            <a:headEnd type="triangle"/>
            <a:tailEnd type="none"/>
          </a:ln>
        </p:spPr>
      </p:sp>
      <p:sp>
        <p:nvSpPr>
          <p:cNvPr id="14" name="Shape 12"/>
          <p:cNvSpPr/>
          <p:nvPr/>
        </p:nvSpPr>
        <p:spPr>
          <a:xfrm>
            <a:off x="1874520" y="4160520"/>
            <a:ext cx="914" cy="356616"/>
          </a:xfrm>
          <a:prstGeom prst="line">
            <a:avLst/>
          </a:prstGeom>
          <a:noFill/>
          <a:ln w="17780">
            <a:solidFill>
              <a:srgbClr val="2367D1"/>
            </a:solidFill>
            <a:prstDash val="solid"/>
            <a:headEnd type="none"/>
            <a:tailEnd type="triangle"/>
          </a:ln>
        </p:spPr>
      </p:sp>
      <p:sp>
        <p:nvSpPr>
          <p:cNvPr id="15" name="Shape 13"/>
          <p:cNvSpPr/>
          <p:nvPr/>
        </p:nvSpPr>
        <p:spPr>
          <a:xfrm>
            <a:off x="3090672" y="5056632"/>
            <a:ext cx="228600" cy="914"/>
          </a:xfrm>
          <a:prstGeom prst="line">
            <a:avLst/>
          </a:prstGeom>
          <a:noFill/>
          <a:ln w="17780">
            <a:solidFill>
              <a:srgbClr val="2367D1"/>
            </a:solidFill>
            <a:prstDash val="solid"/>
            <a:headEnd type="none"/>
            <a:tailEnd type="triangle"/>
          </a:ln>
        </p:spPr>
      </p:sp>
      <p:sp>
        <p:nvSpPr>
          <p:cNvPr id="16" name="Shape 14"/>
          <p:cNvSpPr/>
          <p:nvPr/>
        </p:nvSpPr>
        <p:spPr>
          <a:xfrm>
            <a:off x="5751576" y="5056632"/>
            <a:ext cx="228600" cy="914"/>
          </a:xfrm>
          <a:prstGeom prst="line">
            <a:avLst/>
          </a:prstGeom>
          <a:noFill/>
          <a:ln w="17780">
            <a:solidFill>
              <a:srgbClr val="2367D1"/>
            </a:solidFill>
            <a:prstDash val="solid"/>
            <a:headEnd type="none"/>
            <a:tailEnd type="triangle"/>
          </a:ln>
        </p:spPr>
      </p:sp>
      <p:sp>
        <p:nvSpPr>
          <p:cNvPr id="17" name="Shape 15"/>
          <p:cNvSpPr/>
          <p:nvPr/>
        </p:nvSpPr>
        <p:spPr>
          <a:xfrm>
            <a:off x="658368" y="1664208"/>
            <a:ext cx="2432304" cy="1069848"/>
          </a:xfrm>
          <a:prstGeom prst="roundRect">
            <a:avLst>
              <a:gd name="adj" fmla="val 6838"/>
            </a:avLst>
          </a:prstGeom>
          <a:solidFill>
            <a:srgbClr val="E8F0FE"/>
          </a:solidFill>
          <a:ln w="10160">
            <a:solidFill>
              <a:srgbClr val="D7E0EC"/>
            </a:solidFill>
            <a:prstDash val="solid"/>
          </a:ln>
        </p:spPr>
      </p:sp>
      <p:sp>
        <p:nvSpPr>
          <p:cNvPr id="18" name="Shape 16"/>
          <p:cNvSpPr/>
          <p:nvPr/>
        </p:nvSpPr>
        <p:spPr>
          <a:xfrm>
            <a:off x="676656" y="1755648"/>
            <a:ext cx="41148" cy="886968"/>
          </a:xfrm>
          <a:prstGeom prst="rect">
            <a:avLst/>
          </a:prstGeom>
          <a:solidFill>
            <a:srgbClr val="2367D1"/>
          </a:solidFill>
          <a:ln w="12700">
            <a:solidFill>
              <a:srgbClr val="2367D1">
                <a:alpha val="0"/>
              </a:srgbClr>
            </a:solidFill>
            <a:prstDash val="solid"/>
          </a:ln>
        </p:spPr>
      </p:sp>
      <p:sp>
        <p:nvSpPr>
          <p:cNvPr id="19" name="Text 17"/>
          <p:cNvSpPr txBox="1"/>
          <p:nvPr/>
        </p:nvSpPr>
        <p:spPr>
          <a:xfrm>
            <a:off x="777240" y="1737360"/>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1  Search product</a:t>
            </a:r>
            <a:endParaRPr lang="en-US" sz="1030" dirty="0"/>
          </a:p>
        </p:txBody>
      </p:sp>
      <p:sp>
        <p:nvSpPr>
          <p:cNvPr id="20" name="Text 18"/>
          <p:cNvSpPr txBox="1"/>
          <p:nvPr/>
        </p:nvSpPr>
        <p:spPr>
          <a:xfrm>
            <a:off x="777240" y="2011680"/>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Frontend sends query to search API.</a:t>
            </a:r>
            <a:endParaRPr lang="en-US" sz="850" dirty="0"/>
          </a:p>
        </p:txBody>
      </p:sp>
      <p:sp>
        <p:nvSpPr>
          <p:cNvPr id="21" name="Shape 19"/>
          <p:cNvSpPr/>
          <p:nvPr/>
        </p:nvSpPr>
        <p:spPr>
          <a:xfrm>
            <a:off x="3319272" y="1664208"/>
            <a:ext cx="2432304" cy="1069848"/>
          </a:xfrm>
          <a:prstGeom prst="roundRect">
            <a:avLst>
              <a:gd name="adj" fmla="val 6838"/>
            </a:avLst>
          </a:prstGeom>
          <a:solidFill>
            <a:srgbClr val="E8F0FE"/>
          </a:solidFill>
          <a:ln w="10160">
            <a:solidFill>
              <a:srgbClr val="D7E0EC"/>
            </a:solidFill>
            <a:prstDash val="solid"/>
          </a:ln>
        </p:spPr>
      </p:sp>
      <p:sp>
        <p:nvSpPr>
          <p:cNvPr id="22" name="Shape 20"/>
          <p:cNvSpPr/>
          <p:nvPr/>
        </p:nvSpPr>
        <p:spPr>
          <a:xfrm>
            <a:off x="3337560" y="1755648"/>
            <a:ext cx="41148" cy="886968"/>
          </a:xfrm>
          <a:prstGeom prst="rect">
            <a:avLst/>
          </a:prstGeom>
          <a:solidFill>
            <a:srgbClr val="2367D1"/>
          </a:solidFill>
          <a:ln w="12700">
            <a:solidFill>
              <a:srgbClr val="2367D1">
                <a:alpha val="0"/>
              </a:srgbClr>
            </a:solidFill>
            <a:prstDash val="solid"/>
          </a:ln>
        </p:spPr>
      </p:sp>
      <p:sp>
        <p:nvSpPr>
          <p:cNvPr id="23" name="Text 21"/>
          <p:cNvSpPr txBox="1"/>
          <p:nvPr/>
        </p:nvSpPr>
        <p:spPr>
          <a:xfrm>
            <a:off x="3438144" y="1737360"/>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2  Read details</a:t>
            </a:r>
            <a:endParaRPr lang="en-US" sz="1030" dirty="0"/>
          </a:p>
        </p:txBody>
      </p:sp>
      <p:sp>
        <p:nvSpPr>
          <p:cNvPr id="24" name="Text 22"/>
          <p:cNvSpPr txBox="1"/>
          <p:nvPr/>
        </p:nvSpPr>
        <p:spPr>
          <a:xfrm>
            <a:off x="3438144" y="2011680"/>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Return product, price, and availability.</a:t>
            </a:r>
            <a:endParaRPr lang="en-US" sz="850" dirty="0"/>
          </a:p>
        </p:txBody>
      </p:sp>
      <p:sp>
        <p:nvSpPr>
          <p:cNvPr id="25" name="Shape 23"/>
          <p:cNvSpPr/>
          <p:nvPr/>
        </p:nvSpPr>
        <p:spPr>
          <a:xfrm>
            <a:off x="5980176" y="1664208"/>
            <a:ext cx="2432304" cy="1069848"/>
          </a:xfrm>
          <a:prstGeom prst="roundRect">
            <a:avLst>
              <a:gd name="adj" fmla="val 6838"/>
            </a:avLst>
          </a:prstGeom>
          <a:solidFill>
            <a:srgbClr val="E8F0FE"/>
          </a:solidFill>
          <a:ln w="10160">
            <a:solidFill>
              <a:srgbClr val="D7E0EC"/>
            </a:solidFill>
            <a:prstDash val="solid"/>
          </a:ln>
        </p:spPr>
      </p:sp>
      <p:sp>
        <p:nvSpPr>
          <p:cNvPr id="26" name="Shape 24"/>
          <p:cNvSpPr/>
          <p:nvPr/>
        </p:nvSpPr>
        <p:spPr>
          <a:xfrm>
            <a:off x="5998464" y="1755648"/>
            <a:ext cx="41148" cy="886968"/>
          </a:xfrm>
          <a:prstGeom prst="rect">
            <a:avLst/>
          </a:prstGeom>
          <a:solidFill>
            <a:srgbClr val="2367D1"/>
          </a:solidFill>
          <a:ln w="12700">
            <a:solidFill>
              <a:srgbClr val="2367D1">
                <a:alpha val="0"/>
              </a:srgbClr>
            </a:solidFill>
            <a:prstDash val="solid"/>
          </a:ln>
        </p:spPr>
      </p:sp>
      <p:sp>
        <p:nvSpPr>
          <p:cNvPr id="27" name="Text 25"/>
          <p:cNvSpPr txBox="1"/>
          <p:nvPr/>
        </p:nvSpPr>
        <p:spPr>
          <a:xfrm>
            <a:off x="6099048" y="1737360"/>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3  Add to cart</a:t>
            </a:r>
            <a:endParaRPr lang="en-US" sz="1030" dirty="0"/>
          </a:p>
        </p:txBody>
      </p:sp>
      <p:sp>
        <p:nvSpPr>
          <p:cNvPr id="28" name="Text 26"/>
          <p:cNvSpPr txBox="1"/>
          <p:nvPr/>
        </p:nvSpPr>
        <p:spPr>
          <a:xfrm>
            <a:off x="6099048" y="2011680"/>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Save shopper intent; cart can change.</a:t>
            </a:r>
            <a:endParaRPr lang="en-US" sz="850" dirty="0"/>
          </a:p>
        </p:txBody>
      </p:sp>
      <p:sp>
        <p:nvSpPr>
          <p:cNvPr id="29" name="Shape 27"/>
          <p:cNvSpPr/>
          <p:nvPr/>
        </p:nvSpPr>
        <p:spPr>
          <a:xfrm>
            <a:off x="5980176" y="3090672"/>
            <a:ext cx="2432304" cy="1069848"/>
          </a:xfrm>
          <a:prstGeom prst="roundRect">
            <a:avLst>
              <a:gd name="adj" fmla="val 6838"/>
            </a:avLst>
          </a:prstGeom>
          <a:solidFill>
            <a:srgbClr val="FFF3E2"/>
          </a:solidFill>
          <a:ln w="10160">
            <a:solidFill>
              <a:srgbClr val="D7E0EC"/>
            </a:solidFill>
            <a:prstDash val="solid"/>
          </a:ln>
        </p:spPr>
      </p:sp>
      <p:sp>
        <p:nvSpPr>
          <p:cNvPr id="30" name="Shape 28"/>
          <p:cNvSpPr/>
          <p:nvPr/>
        </p:nvSpPr>
        <p:spPr>
          <a:xfrm>
            <a:off x="5998464" y="3182112"/>
            <a:ext cx="41148" cy="886968"/>
          </a:xfrm>
          <a:prstGeom prst="rect">
            <a:avLst/>
          </a:prstGeom>
          <a:solidFill>
            <a:srgbClr val="F2A341"/>
          </a:solidFill>
          <a:ln w="12700">
            <a:solidFill>
              <a:srgbClr val="F2A341">
                <a:alpha val="0"/>
              </a:srgbClr>
            </a:solidFill>
            <a:prstDash val="solid"/>
          </a:ln>
        </p:spPr>
      </p:sp>
      <p:sp>
        <p:nvSpPr>
          <p:cNvPr id="31" name="Text 29"/>
          <p:cNvSpPr txBox="1"/>
          <p:nvPr/>
        </p:nvSpPr>
        <p:spPr>
          <a:xfrm>
            <a:off x="6099048" y="3163824"/>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4  Validate</a:t>
            </a:r>
            <a:endParaRPr lang="en-US" sz="1030" dirty="0"/>
          </a:p>
        </p:txBody>
      </p:sp>
      <p:sp>
        <p:nvSpPr>
          <p:cNvPr id="32" name="Text 30"/>
          <p:cNvSpPr txBox="1"/>
          <p:nvPr/>
        </p:nvSpPr>
        <p:spPr>
          <a:xfrm>
            <a:off x="6099048" y="3438144"/>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Recheck price, stock, and cart at checkout.</a:t>
            </a:r>
            <a:endParaRPr lang="en-US" sz="850" dirty="0"/>
          </a:p>
        </p:txBody>
      </p:sp>
      <p:sp>
        <p:nvSpPr>
          <p:cNvPr id="33" name="Shape 31"/>
          <p:cNvSpPr/>
          <p:nvPr/>
        </p:nvSpPr>
        <p:spPr>
          <a:xfrm>
            <a:off x="3319272" y="3090672"/>
            <a:ext cx="2432304" cy="1069848"/>
          </a:xfrm>
          <a:prstGeom prst="roundRect">
            <a:avLst>
              <a:gd name="adj" fmla="val 6838"/>
            </a:avLst>
          </a:prstGeom>
          <a:solidFill>
            <a:srgbClr val="FFF3E2"/>
          </a:solidFill>
          <a:ln w="10160">
            <a:solidFill>
              <a:srgbClr val="D7E0EC"/>
            </a:solidFill>
            <a:prstDash val="solid"/>
          </a:ln>
        </p:spPr>
      </p:sp>
      <p:sp>
        <p:nvSpPr>
          <p:cNvPr id="34" name="Shape 32"/>
          <p:cNvSpPr/>
          <p:nvPr/>
        </p:nvSpPr>
        <p:spPr>
          <a:xfrm>
            <a:off x="3337560" y="3182112"/>
            <a:ext cx="41148" cy="886968"/>
          </a:xfrm>
          <a:prstGeom prst="rect">
            <a:avLst/>
          </a:prstGeom>
          <a:solidFill>
            <a:srgbClr val="F2A341"/>
          </a:solidFill>
          <a:ln w="12700">
            <a:solidFill>
              <a:srgbClr val="F2A341">
                <a:alpha val="0"/>
              </a:srgbClr>
            </a:solidFill>
            <a:prstDash val="solid"/>
          </a:ln>
        </p:spPr>
      </p:sp>
      <p:sp>
        <p:nvSpPr>
          <p:cNvPr id="35" name="Text 33"/>
          <p:cNvSpPr txBox="1"/>
          <p:nvPr/>
        </p:nvSpPr>
        <p:spPr>
          <a:xfrm>
            <a:off x="3438144" y="3163824"/>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5  Checkout</a:t>
            </a:r>
            <a:endParaRPr lang="en-US" sz="1030" dirty="0"/>
          </a:p>
        </p:txBody>
      </p:sp>
      <p:sp>
        <p:nvSpPr>
          <p:cNvPr id="36" name="Text 34"/>
          <p:cNvSpPr txBox="1"/>
          <p:nvPr/>
        </p:nvSpPr>
        <p:spPr>
          <a:xfrm>
            <a:off x="3438144" y="3438144"/>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Create a request with an idempotency key.</a:t>
            </a:r>
            <a:endParaRPr lang="en-US" sz="850" dirty="0"/>
          </a:p>
        </p:txBody>
      </p:sp>
      <p:sp>
        <p:nvSpPr>
          <p:cNvPr id="37" name="Shape 35"/>
          <p:cNvSpPr/>
          <p:nvPr/>
        </p:nvSpPr>
        <p:spPr>
          <a:xfrm>
            <a:off x="658368" y="3090672"/>
            <a:ext cx="2432304" cy="1069848"/>
          </a:xfrm>
          <a:prstGeom prst="roundRect">
            <a:avLst>
              <a:gd name="adj" fmla="val 6838"/>
            </a:avLst>
          </a:prstGeom>
          <a:solidFill>
            <a:srgbClr val="FFF3E2"/>
          </a:solidFill>
          <a:ln w="10160">
            <a:solidFill>
              <a:srgbClr val="D7E0EC"/>
            </a:solidFill>
            <a:prstDash val="solid"/>
          </a:ln>
        </p:spPr>
      </p:sp>
      <p:sp>
        <p:nvSpPr>
          <p:cNvPr id="38" name="Shape 36"/>
          <p:cNvSpPr/>
          <p:nvPr/>
        </p:nvSpPr>
        <p:spPr>
          <a:xfrm>
            <a:off x="676656" y="3182112"/>
            <a:ext cx="41148" cy="886968"/>
          </a:xfrm>
          <a:prstGeom prst="rect">
            <a:avLst/>
          </a:prstGeom>
          <a:solidFill>
            <a:srgbClr val="F2A341"/>
          </a:solidFill>
          <a:ln w="12700">
            <a:solidFill>
              <a:srgbClr val="F2A341">
                <a:alpha val="0"/>
              </a:srgbClr>
            </a:solidFill>
            <a:prstDash val="solid"/>
          </a:ln>
        </p:spPr>
      </p:sp>
      <p:sp>
        <p:nvSpPr>
          <p:cNvPr id="39" name="Text 37"/>
          <p:cNvSpPr txBox="1"/>
          <p:nvPr/>
        </p:nvSpPr>
        <p:spPr>
          <a:xfrm>
            <a:off x="777240" y="3163824"/>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6  Authorise payment</a:t>
            </a:r>
            <a:endParaRPr lang="en-US" sz="1030" dirty="0"/>
          </a:p>
        </p:txBody>
      </p:sp>
      <p:sp>
        <p:nvSpPr>
          <p:cNvPr id="40" name="Text 38"/>
          <p:cNvSpPr txBox="1"/>
          <p:nvPr/>
        </p:nvSpPr>
        <p:spPr>
          <a:xfrm>
            <a:off x="777240" y="3438144"/>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Payment provider approves or declines.</a:t>
            </a:r>
            <a:endParaRPr lang="en-US" sz="850" dirty="0"/>
          </a:p>
        </p:txBody>
      </p:sp>
      <p:sp>
        <p:nvSpPr>
          <p:cNvPr id="41" name="Shape 39"/>
          <p:cNvSpPr/>
          <p:nvPr/>
        </p:nvSpPr>
        <p:spPr>
          <a:xfrm>
            <a:off x="658368" y="4517136"/>
            <a:ext cx="2432304" cy="1069848"/>
          </a:xfrm>
          <a:prstGeom prst="roundRect">
            <a:avLst>
              <a:gd name="adj" fmla="val 6838"/>
            </a:avLst>
          </a:prstGeom>
          <a:solidFill>
            <a:srgbClr val="E8F5EF"/>
          </a:solidFill>
          <a:ln w="10160">
            <a:solidFill>
              <a:srgbClr val="D7E0EC"/>
            </a:solidFill>
            <a:prstDash val="solid"/>
          </a:ln>
        </p:spPr>
      </p:sp>
      <p:sp>
        <p:nvSpPr>
          <p:cNvPr id="42" name="Shape 40"/>
          <p:cNvSpPr/>
          <p:nvPr/>
        </p:nvSpPr>
        <p:spPr>
          <a:xfrm>
            <a:off x="676656" y="4608576"/>
            <a:ext cx="41148" cy="886968"/>
          </a:xfrm>
          <a:prstGeom prst="rect">
            <a:avLst/>
          </a:prstGeom>
          <a:solidFill>
            <a:srgbClr val="329879"/>
          </a:solidFill>
          <a:ln w="12700">
            <a:solidFill>
              <a:srgbClr val="329879">
                <a:alpha val="0"/>
              </a:srgbClr>
            </a:solidFill>
            <a:prstDash val="solid"/>
          </a:ln>
        </p:spPr>
      </p:sp>
      <p:sp>
        <p:nvSpPr>
          <p:cNvPr id="43" name="Text 41"/>
          <p:cNvSpPr txBox="1"/>
          <p:nvPr/>
        </p:nvSpPr>
        <p:spPr>
          <a:xfrm>
            <a:off x="777240" y="4590288"/>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7  Create order</a:t>
            </a:r>
            <a:endParaRPr lang="en-US" sz="1030" dirty="0"/>
          </a:p>
        </p:txBody>
      </p:sp>
      <p:sp>
        <p:nvSpPr>
          <p:cNvPr id="44" name="Text 42"/>
          <p:cNvSpPr txBox="1"/>
          <p:nvPr/>
        </p:nvSpPr>
        <p:spPr>
          <a:xfrm>
            <a:off x="777240" y="4864608"/>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Persist order; confirm only after success.</a:t>
            </a:r>
            <a:endParaRPr lang="en-US" sz="850" dirty="0"/>
          </a:p>
        </p:txBody>
      </p:sp>
      <p:sp>
        <p:nvSpPr>
          <p:cNvPr id="45" name="Shape 43"/>
          <p:cNvSpPr/>
          <p:nvPr/>
        </p:nvSpPr>
        <p:spPr>
          <a:xfrm>
            <a:off x="3319272" y="4517136"/>
            <a:ext cx="2432304" cy="1069848"/>
          </a:xfrm>
          <a:prstGeom prst="roundRect">
            <a:avLst>
              <a:gd name="adj" fmla="val 6838"/>
            </a:avLst>
          </a:prstGeom>
          <a:solidFill>
            <a:srgbClr val="E8F5EF"/>
          </a:solidFill>
          <a:ln w="10160">
            <a:solidFill>
              <a:srgbClr val="D7E0EC"/>
            </a:solidFill>
            <a:prstDash val="solid"/>
          </a:ln>
        </p:spPr>
      </p:sp>
      <p:sp>
        <p:nvSpPr>
          <p:cNvPr id="46" name="Shape 44"/>
          <p:cNvSpPr/>
          <p:nvPr/>
        </p:nvSpPr>
        <p:spPr>
          <a:xfrm>
            <a:off x="3337560" y="4608576"/>
            <a:ext cx="41148" cy="886968"/>
          </a:xfrm>
          <a:prstGeom prst="rect">
            <a:avLst/>
          </a:prstGeom>
          <a:solidFill>
            <a:srgbClr val="329879"/>
          </a:solidFill>
          <a:ln w="12700">
            <a:solidFill>
              <a:srgbClr val="329879">
                <a:alpha val="0"/>
              </a:srgbClr>
            </a:solidFill>
            <a:prstDash val="solid"/>
          </a:ln>
        </p:spPr>
      </p:sp>
      <p:sp>
        <p:nvSpPr>
          <p:cNvPr id="47" name="Text 45"/>
          <p:cNvSpPr txBox="1"/>
          <p:nvPr/>
        </p:nvSpPr>
        <p:spPr>
          <a:xfrm>
            <a:off x="3438144" y="4590288"/>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8  Fulfil order</a:t>
            </a:r>
            <a:endParaRPr lang="en-US" sz="1030" dirty="0"/>
          </a:p>
        </p:txBody>
      </p:sp>
      <p:sp>
        <p:nvSpPr>
          <p:cNvPr id="48" name="Text 46"/>
          <p:cNvSpPr txBox="1"/>
          <p:nvPr/>
        </p:nvSpPr>
        <p:spPr>
          <a:xfrm>
            <a:off x="3438144" y="4864608"/>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Reserve stock; workers coordinate packing / shipping.</a:t>
            </a:r>
            <a:endParaRPr lang="en-US" sz="850" dirty="0"/>
          </a:p>
        </p:txBody>
      </p:sp>
      <p:sp>
        <p:nvSpPr>
          <p:cNvPr id="49" name="Shape 47"/>
          <p:cNvSpPr/>
          <p:nvPr/>
        </p:nvSpPr>
        <p:spPr>
          <a:xfrm>
            <a:off x="5980176" y="4517136"/>
            <a:ext cx="2432304" cy="1069848"/>
          </a:xfrm>
          <a:prstGeom prst="roundRect">
            <a:avLst>
              <a:gd name="adj" fmla="val 6838"/>
            </a:avLst>
          </a:prstGeom>
          <a:solidFill>
            <a:srgbClr val="E8F5EF"/>
          </a:solidFill>
          <a:ln w="10160">
            <a:solidFill>
              <a:srgbClr val="D7E0EC"/>
            </a:solidFill>
            <a:prstDash val="solid"/>
          </a:ln>
        </p:spPr>
      </p:sp>
      <p:sp>
        <p:nvSpPr>
          <p:cNvPr id="50" name="Shape 48"/>
          <p:cNvSpPr/>
          <p:nvPr/>
        </p:nvSpPr>
        <p:spPr>
          <a:xfrm>
            <a:off x="5998464" y="4608576"/>
            <a:ext cx="41148" cy="886968"/>
          </a:xfrm>
          <a:prstGeom prst="rect">
            <a:avLst/>
          </a:prstGeom>
          <a:solidFill>
            <a:srgbClr val="329879"/>
          </a:solidFill>
          <a:ln w="12700">
            <a:solidFill>
              <a:srgbClr val="329879">
                <a:alpha val="0"/>
              </a:srgbClr>
            </a:solidFill>
            <a:prstDash val="solid"/>
          </a:ln>
        </p:spPr>
      </p:sp>
      <p:sp>
        <p:nvSpPr>
          <p:cNvPr id="51" name="Text 49"/>
          <p:cNvSpPr txBox="1"/>
          <p:nvPr/>
        </p:nvSpPr>
        <p:spPr>
          <a:xfrm>
            <a:off x="6099048" y="4590288"/>
            <a:ext cx="22311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9  Update customer</a:t>
            </a:r>
            <a:endParaRPr lang="en-US" sz="1030" dirty="0"/>
          </a:p>
        </p:txBody>
      </p:sp>
      <p:sp>
        <p:nvSpPr>
          <p:cNvPr id="52" name="Text 50"/>
          <p:cNvSpPr txBox="1"/>
          <p:nvPr/>
        </p:nvSpPr>
        <p:spPr>
          <a:xfrm>
            <a:off x="6099048" y="4864608"/>
            <a:ext cx="2231136" cy="658368"/>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Send order and delivery status events.</a:t>
            </a:r>
            <a:endParaRPr lang="en-US" sz="850" dirty="0"/>
          </a:p>
        </p:txBody>
      </p:sp>
      <p:sp>
        <p:nvSpPr>
          <p:cNvPr id="53" name="Shape 51"/>
          <p:cNvSpPr/>
          <p:nvPr/>
        </p:nvSpPr>
        <p:spPr>
          <a:xfrm>
            <a:off x="8759952" y="1664208"/>
            <a:ext cx="2788920" cy="3922776"/>
          </a:xfrm>
          <a:prstGeom prst="roundRect">
            <a:avLst>
              <a:gd name="adj" fmla="val 2623"/>
            </a:avLst>
          </a:prstGeom>
          <a:solidFill>
            <a:srgbClr val="FFFFFF"/>
          </a:solidFill>
          <a:ln w="10160">
            <a:solidFill>
              <a:srgbClr val="D7E0EC"/>
            </a:solidFill>
            <a:prstDash val="solid"/>
          </a:ln>
        </p:spPr>
      </p:sp>
      <p:sp>
        <p:nvSpPr>
          <p:cNvPr id="54" name="Shape 52"/>
          <p:cNvSpPr/>
          <p:nvPr/>
        </p:nvSpPr>
        <p:spPr>
          <a:xfrm>
            <a:off x="8769096" y="1773936"/>
            <a:ext cx="41148" cy="3703320"/>
          </a:xfrm>
          <a:prstGeom prst="rect">
            <a:avLst/>
          </a:prstGeom>
          <a:solidFill>
            <a:srgbClr val="D65D5D"/>
          </a:solidFill>
          <a:ln w="12700">
            <a:solidFill>
              <a:srgbClr val="D65D5D">
                <a:alpha val="0"/>
              </a:srgbClr>
            </a:solidFill>
            <a:prstDash val="solid"/>
          </a:ln>
        </p:spPr>
      </p:sp>
      <p:sp>
        <p:nvSpPr>
          <p:cNvPr id="55" name="Text 53"/>
          <p:cNvSpPr txBox="1"/>
          <p:nvPr/>
        </p:nvSpPr>
        <p:spPr>
          <a:xfrm>
            <a:off x="8915400" y="1755648"/>
            <a:ext cx="2496312" cy="274320"/>
          </a:xfrm>
          <a:prstGeom prst="rect">
            <a:avLst/>
          </a:prstGeom>
          <a:noFill/>
          <a:ln/>
        </p:spPr>
        <p:txBody>
          <a:bodyPr wrap="square" lIns="508" tIns="508" rIns="508" bIns="508" rtlCol="0" anchor="ctr">
            <a:normAutofit/>
          </a:bodyPr>
          <a:lstStyle/>
          <a:p>
            <a:pPr algn="l" indent="0" marL="0">
              <a:buNone/>
            </a:pPr>
            <a:r>
              <a:rPr lang="en-US" sz="1200" b="1" dirty="0">
                <a:solidFill>
                  <a:srgbClr val="14253D"/>
                </a:solidFill>
                <a:latin typeface="Aptos" pitchFamily="34" charset="0"/>
                <a:ea typeface="Aptos" pitchFamily="34" charset="-122"/>
                <a:cs typeface="Aptos" pitchFamily="34" charset="-120"/>
              </a:rPr>
              <a:t>When something goes wrong</a:t>
            </a:r>
            <a:endParaRPr lang="en-US" sz="1200" dirty="0"/>
          </a:p>
        </p:txBody>
      </p:sp>
      <p:sp>
        <p:nvSpPr>
          <p:cNvPr id="56" name="Text 54"/>
          <p:cNvSpPr txBox="1"/>
          <p:nvPr/>
        </p:nvSpPr>
        <p:spPr>
          <a:xfrm>
            <a:off x="8915400" y="2103120"/>
            <a:ext cx="2496312" cy="3374136"/>
          </a:xfrm>
          <a:prstGeom prst="rect">
            <a:avLst/>
          </a:prstGeom>
          <a:noFill/>
          <a:ln/>
        </p:spPr>
        <p:txBody>
          <a:bodyPr wrap="square" lIns="254" tIns="254" rIns="254" bIns="254" rtlCol="0" anchor="t">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  Payment declined: do not confirm a paid order; show a clear retry path.</a:t>
            </a:r>
            <a:endParaRPr lang="en-US" sz="920" dirty="0"/>
          </a:p>
          <a:p>
            <a:pPr algn="l" indent="0" marL="0">
              <a:buNone/>
            </a:pPr>
            <a:r>
              <a:rPr lang="en-US" sz="920" dirty="0">
                <a:solidFill>
                  <a:srgbClr val="566A83"/>
                </a:solidFill>
                <a:latin typeface="Aptos" pitchFamily="34" charset="0"/>
                <a:ea typeface="Aptos" pitchFamily="34" charset="-122"/>
                <a:cs typeface="Aptos" pitchFamily="34" charset="-120"/>
              </a:rPr>
              <a:t>•  Stock changed: fail validation or offer a new availability choice.</a:t>
            </a:r>
            <a:endParaRPr lang="en-US" sz="920" dirty="0"/>
          </a:p>
          <a:p>
            <a:pPr algn="l" indent="0" marL="0">
              <a:buNone/>
            </a:pPr>
            <a:r>
              <a:rPr lang="en-US" sz="920" dirty="0">
                <a:solidFill>
                  <a:srgbClr val="566A83"/>
                </a:solidFill>
                <a:latin typeface="Aptos" pitchFamily="34" charset="0"/>
                <a:ea typeface="Aptos" pitchFamily="34" charset="-122"/>
                <a:cs typeface="Aptos" pitchFamily="34" charset="-120"/>
              </a:rPr>
              <a:t>•  Duplicate submit: same idempotency key returns the same outcome.</a:t>
            </a:r>
            <a:endParaRPr lang="en-US" sz="920" dirty="0"/>
          </a:p>
          <a:p>
            <a:pPr algn="l" indent="0" marL="0">
              <a:buNone/>
            </a:pPr>
            <a:r>
              <a:rPr lang="en-US" sz="920" dirty="0">
                <a:solidFill>
                  <a:srgbClr val="566A83"/>
                </a:solidFill>
                <a:latin typeface="Aptos" pitchFamily="34" charset="0"/>
                <a:ea typeface="Aptos" pitchFamily="34" charset="-122"/>
                <a:cs typeface="Aptos" pitchFamily="34" charset="-120"/>
              </a:rPr>
              <a:t>•  Provider timeout: use bounded retry; verify status before repeating a side effect.</a:t>
            </a:r>
            <a:endParaRPr lang="en-US" sz="920" dirty="0"/>
          </a:p>
          <a:p>
            <a:pPr algn="l" indent="0" marL="0">
              <a:buNone/>
            </a:pPr>
            <a:r>
              <a:rPr lang="en-US" sz="920" dirty="0">
                <a:solidFill>
                  <a:srgbClr val="566A83"/>
                </a:solidFill>
                <a:latin typeface="Aptos" pitchFamily="34" charset="0"/>
                <a:ea typeface="Aptos" pitchFamily="34" charset="-122"/>
                <a:cs typeface="Aptos" pitchFamily="34" charset="-120"/>
              </a:rPr>
              <a:t>•  Order updates: process events safely; track pending, shipped, and delivered states.</a:t>
            </a:r>
            <a:endParaRPr lang="en-US" sz="920" dirty="0"/>
          </a:p>
        </p:txBody>
      </p:sp>
      <p:sp>
        <p:nvSpPr>
          <p:cNvPr id="57" name="Shape 55"/>
          <p:cNvSpPr/>
          <p:nvPr/>
        </p:nvSpPr>
        <p:spPr>
          <a:xfrm>
            <a:off x="658368" y="5806440"/>
            <a:ext cx="10890504" cy="310896"/>
          </a:xfrm>
          <a:prstGeom prst="roundRect">
            <a:avLst>
              <a:gd name="adj" fmla="val 23529"/>
            </a:avLst>
          </a:prstGeom>
          <a:solidFill>
            <a:srgbClr val="E5F6F8"/>
          </a:solidFill>
          <a:ln w="10160">
            <a:solidFill>
              <a:srgbClr val="E5F6F8"/>
            </a:solidFill>
            <a:prstDash val="solid"/>
          </a:ln>
        </p:spPr>
      </p:sp>
      <p:sp>
        <p:nvSpPr>
          <p:cNvPr id="58" name="Text 56"/>
          <p:cNvSpPr txBox="1"/>
          <p:nvPr/>
        </p:nvSpPr>
        <p:spPr>
          <a:xfrm>
            <a:off x="850392" y="5861304"/>
            <a:ext cx="10497312" cy="182880"/>
          </a:xfrm>
          <a:prstGeom prst="rect">
            <a:avLst/>
          </a:prstGeom>
          <a:noFill/>
          <a:ln/>
        </p:spPr>
        <p:txBody>
          <a:bodyPr wrap="square" lIns="508" tIns="508" rIns="508" bIns="508" rtlCol="0" anchor="ctr">
            <a:normAutofit/>
          </a:bodyPr>
          <a:lstStyle/>
          <a:p>
            <a:pPr algn="ctr" indent="0" marL="0">
              <a:buNone/>
            </a:pPr>
            <a:r>
              <a:rPr lang="en-US" sz="850" b="1" dirty="0">
                <a:solidFill>
                  <a:srgbClr val="176A7B"/>
                </a:solidFill>
                <a:latin typeface="Aptos" pitchFamily="34" charset="0"/>
                <a:ea typeface="Aptos" pitchFamily="34" charset="-122"/>
                <a:cs typeface="Aptos" pitchFamily="34" charset="-120"/>
              </a:rPr>
              <a:t>Reliable pattern: validate before commit  •  use idempotency for safe retries  •  publish durable events  •  make status changes observable</a:t>
            </a:r>
            <a:endParaRPr lang="en-US" sz="850" dirty="0"/>
          </a:p>
        </p:txBody>
      </p:sp>
      <p:sp>
        <p:nvSpPr>
          <p:cNvPr id="59" name="Shape 57"/>
          <p:cNvSpPr/>
          <p:nvPr/>
        </p:nvSpPr>
        <p:spPr>
          <a:xfrm>
            <a:off x="9006840" y="5623560"/>
            <a:ext cx="2221992" cy="228600"/>
          </a:xfrm>
          <a:prstGeom prst="roundRect">
            <a:avLst>
              <a:gd name="adj" fmla="val 32000"/>
            </a:avLst>
          </a:prstGeom>
          <a:solidFill>
            <a:srgbClr val="E8F0FE"/>
          </a:solidFill>
          <a:ln w="10160">
            <a:solidFill>
              <a:srgbClr val="E8F0FE"/>
            </a:solidFill>
            <a:prstDash val="solid"/>
          </a:ln>
        </p:spPr>
      </p:sp>
      <p:sp>
        <p:nvSpPr>
          <p:cNvPr id="60" name="Text 58"/>
          <p:cNvSpPr txBox="1"/>
          <p:nvPr/>
        </p:nvSpPr>
        <p:spPr>
          <a:xfrm>
            <a:off x="9034272" y="5641848"/>
            <a:ext cx="2167128" cy="164592"/>
          </a:xfrm>
          <a:prstGeom prst="rect">
            <a:avLst/>
          </a:prstGeom>
          <a:noFill/>
          <a:ln/>
        </p:spPr>
        <p:txBody>
          <a:bodyPr wrap="square" lIns="508" tIns="508" rIns="508" bIns="508" rtlCol="0" anchor="ctr">
            <a:normAutofit/>
          </a:bodyPr>
          <a:lstStyle/>
          <a:p>
            <a:pPr algn="ctr" indent="0" marL="0">
              <a:buNone/>
            </a:pPr>
            <a:r>
              <a:rPr lang="en-US" sz="750" b="1" dirty="0">
                <a:solidFill>
                  <a:srgbClr val="2367D1"/>
                </a:solidFill>
                <a:latin typeface="Aptos" pitchFamily="34" charset="0"/>
                <a:ea typeface="Aptos" pitchFamily="34" charset="-122"/>
                <a:cs typeface="Aptos" pitchFamily="34" charset="-120"/>
              </a:rPr>
              <a:t>Amazon guidance: [A]</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CASE STUDY  •  HIGH-TRAFFIC DESIGN PATTERN</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2200" b="1" dirty="0">
                <a:solidFill>
                  <a:srgbClr val="14253D"/>
                </a:solidFill>
                <a:latin typeface="Aptos" pitchFamily="34" charset="0"/>
                <a:ea typeface="Aptos" pitchFamily="34" charset="-122"/>
                <a:cs typeface="Aptos" pitchFamily="34" charset="-120"/>
              </a:rPr>
              <a:t>Handling a Prime Day-Scale Traffic Spike</a:t>
            </a:r>
            <a:endParaRPr lang="en-US" sz="220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Sales events create bursts in browsing, search, carts, checkout, and downstream work—not every request is equal.</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07 / 08</a:t>
            </a:r>
            <a:endParaRPr lang="en-US" sz="760" dirty="0"/>
          </a:p>
        </p:txBody>
      </p:sp>
      <p:sp>
        <p:nvSpPr>
          <p:cNvPr id="9" name="Shape 7"/>
          <p:cNvSpPr/>
          <p:nvPr/>
        </p:nvSpPr>
        <p:spPr>
          <a:xfrm>
            <a:off x="566928" y="1481328"/>
            <a:ext cx="11055096" cy="3767328"/>
          </a:xfrm>
          <a:prstGeom prst="roundRect">
            <a:avLst>
              <a:gd name="adj" fmla="val 1942"/>
            </a:avLst>
          </a:prstGeom>
          <a:solidFill>
            <a:srgbClr val="FFFFFF"/>
          </a:solidFill>
          <a:ln w="10160">
            <a:solidFill>
              <a:srgbClr val="D7E0EC"/>
            </a:solidFill>
            <a:prstDash val="solid"/>
          </a:ln>
        </p:spPr>
      </p:sp>
      <p:sp>
        <p:nvSpPr>
          <p:cNvPr id="10" name="Shape 8"/>
          <p:cNvSpPr/>
          <p:nvPr/>
        </p:nvSpPr>
        <p:spPr>
          <a:xfrm>
            <a:off x="8659368" y="1627632"/>
            <a:ext cx="2697480" cy="274320"/>
          </a:xfrm>
          <a:prstGeom prst="roundRect">
            <a:avLst>
              <a:gd name="adj" fmla="val 26667"/>
            </a:avLst>
          </a:prstGeom>
          <a:solidFill>
            <a:srgbClr val="FFF3E2"/>
          </a:solidFill>
          <a:ln w="10160">
            <a:solidFill>
              <a:srgbClr val="FFF3E2"/>
            </a:solidFill>
            <a:prstDash val="solid"/>
          </a:ln>
        </p:spPr>
      </p:sp>
      <p:sp>
        <p:nvSpPr>
          <p:cNvPr id="11" name="Text 9"/>
          <p:cNvSpPr txBox="1"/>
          <p:nvPr/>
        </p:nvSpPr>
        <p:spPr>
          <a:xfrm>
            <a:off x="8714232" y="1664208"/>
            <a:ext cx="2578608" cy="182880"/>
          </a:xfrm>
          <a:prstGeom prst="rect">
            <a:avLst/>
          </a:prstGeom>
          <a:noFill/>
          <a:ln/>
        </p:spPr>
        <p:txBody>
          <a:bodyPr wrap="square" lIns="508" tIns="508" rIns="508" bIns="508" rtlCol="0" anchor="ctr">
            <a:normAutofit/>
          </a:bodyPr>
          <a:lstStyle/>
          <a:p>
            <a:pPr algn="ctr" indent="0" marL="0">
              <a:buNone/>
            </a:pPr>
            <a:r>
              <a:rPr lang="en-US" sz="740" b="1" dirty="0">
                <a:solidFill>
                  <a:srgbClr val="9A5A0A"/>
                </a:solidFill>
                <a:latin typeface="Aptos" pitchFamily="34" charset="0"/>
                <a:ea typeface="Aptos" pitchFamily="34" charset="-122"/>
                <a:cs typeface="Aptos" pitchFamily="34" charset="-120"/>
              </a:rPr>
              <a:t>CONCEPTUAL DESIGN — NOT AMAZON’S MAP</a:t>
            </a:r>
            <a:endParaRPr lang="en-US" sz="740" dirty="0"/>
          </a:p>
        </p:txBody>
      </p:sp>
      <p:sp>
        <p:nvSpPr>
          <p:cNvPr id="12" name="Shape 10"/>
          <p:cNvSpPr/>
          <p:nvPr/>
        </p:nvSpPr>
        <p:spPr>
          <a:xfrm>
            <a:off x="1783080" y="3090672"/>
            <a:ext cx="429768" cy="914"/>
          </a:xfrm>
          <a:prstGeom prst="line">
            <a:avLst/>
          </a:prstGeom>
          <a:noFill/>
          <a:ln w="17780">
            <a:solidFill>
              <a:srgbClr val="2367D1"/>
            </a:solidFill>
            <a:prstDash val="solid"/>
            <a:headEnd type="none"/>
            <a:tailEnd type="triangle"/>
          </a:ln>
        </p:spPr>
      </p:sp>
      <p:sp>
        <p:nvSpPr>
          <p:cNvPr id="13" name="Shape 11"/>
          <p:cNvSpPr/>
          <p:nvPr/>
        </p:nvSpPr>
        <p:spPr>
          <a:xfrm>
            <a:off x="3611880" y="3090672"/>
            <a:ext cx="393192" cy="914"/>
          </a:xfrm>
          <a:prstGeom prst="line">
            <a:avLst/>
          </a:prstGeom>
          <a:noFill/>
          <a:ln w="17780">
            <a:solidFill>
              <a:srgbClr val="2367D1"/>
            </a:solidFill>
            <a:prstDash val="solid"/>
            <a:headEnd type="none"/>
            <a:tailEnd type="triangle"/>
          </a:ln>
        </p:spPr>
      </p:sp>
      <p:sp>
        <p:nvSpPr>
          <p:cNvPr id="14" name="Shape 12"/>
          <p:cNvSpPr/>
          <p:nvPr/>
        </p:nvSpPr>
        <p:spPr>
          <a:xfrm>
            <a:off x="5797296" y="3090672"/>
            <a:ext cx="402336" cy="914"/>
          </a:xfrm>
          <a:prstGeom prst="line">
            <a:avLst/>
          </a:prstGeom>
          <a:noFill/>
          <a:ln w="17780">
            <a:solidFill>
              <a:srgbClr val="2367D1"/>
            </a:solidFill>
            <a:prstDash val="solid"/>
            <a:headEnd type="none"/>
            <a:tailEnd type="triangle"/>
          </a:ln>
        </p:spPr>
      </p:sp>
      <p:sp>
        <p:nvSpPr>
          <p:cNvPr id="15" name="Shape 13"/>
          <p:cNvSpPr/>
          <p:nvPr/>
        </p:nvSpPr>
        <p:spPr>
          <a:xfrm>
            <a:off x="8183880" y="3090672"/>
            <a:ext cx="393192" cy="914"/>
          </a:xfrm>
          <a:prstGeom prst="line">
            <a:avLst/>
          </a:prstGeom>
          <a:noFill/>
          <a:ln w="17780">
            <a:solidFill>
              <a:srgbClr val="2367D1"/>
            </a:solidFill>
            <a:prstDash val="solid"/>
            <a:headEnd type="none"/>
            <a:tailEnd type="triangle"/>
          </a:ln>
        </p:spPr>
      </p:sp>
      <p:sp>
        <p:nvSpPr>
          <p:cNvPr id="16" name="Shape 14"/>
          <p:cNvSpPr/>
          <p:nvPr/>
        </p:nvSpPr>
        <p:spPr>
          <a:xfrm>
            <a:off x="786384" y="2615184"/>
            <a:ext cx="996696" cy="950976"/>
          </a:xfrm>
          <a:prstGeom prst="roundRect">
            <a:avLst>
              <a:gd name="adj" fmla="val 7692"/>
            </a:avLst>
          </a:prstGeom>
          <a:solidFill>
            <a:srgbClr val="E8F0FE"/>
          </a:solidFill>
          <a:ln w="10160">
            <a:solidFill>
              <a:srgbClr val="D7E0EC"/>
            </a:solidFill>
            <a:prstDash val="solid"/>
          </a:ln>
        </p:spPr>
      </p:sp>
      <p:sp>
        <p:nvSpPr>
          <p:cNvPr id="17" name="Shape 15"/>
          <p:cNvSpPr/>
          <p:nvPr/>
        </p:nvSpPr>
        <p:spPr>
          <a:xfrm>
            <a:off x="804672" y="2706624"/>
            <a:ext cx="41148" cy="768096"/>
          </a:xfrm>
          <a:prstGeom prst="rect">
            <a:avLst/>
          </a:prstGeom>
          <a:solidFill>
            <a:srgbClr val="31445D"/>
          </a:solidFill>
          <a:ln w="12700">
            <a:solidFill>
              <a:srgbClr val="31445D">
                <a:alpha val="0"/>
              </a:srgbClr>
            </a:solidFill>
            <a:prstDash val="solid"/>
          </a:ln>
        </p:spPr>
      </p:sp>
      <p:sp>
        <p:nvSpPr>
          <p:cNvPr id="18" name="Text 16"/>
          <p:cNvSpPr txBox="1"/>
          <p:nvPr/>
        </p:nvSpPr>
        <p:spPr>
          <a:xfrm>
            <a:off x="905256" y="2688336"/>
            <a:ext cx="79552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Customer</a:t>
            </a:r>
            <a:endParaRPr lang="en-US" sz="1030" dirty="0"/>
          </a:p>
        </p:txBody>
      </p:sp>
      <p:sp>
        <p:nvSpPr>
          <p:cNvPr id="19" name="Text 17"/>
          <p:cNvSpPr txBox="1"/>
          <p:nvPr/>
        </p:nvSpPr>
        <p:spPr>
          <a:xfrm>
            <a:off x="905256" y="2962656"/>
            <a:ext cx="795528"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Web / app</a:t>
            </a:r>
            <a:endParaRPr lang="en-US" sz="850" dirty="0"/>
          </a:p>
        </p:txBody>
      </p:sp>
      <p:sp>
        <p:nvSpPr>
          <p:cNvPr id="20" name="Shape 18"/>
          <p:cNvSpPr/>
          <p:nvPr/>
        </p:nvSpPr>
        <p:spPr>
          <a:xfrm>
            <a:off x="2212848" y="2615184"/>
            <a:ext cx="1399032" cy="950976"/>
          </a:xfrm>
          <a:prstGeom prst="roundRect">
            <a:avLst>
              <a:gd name="adj" fmla="val 7692"/>
            </a:avLst>
          </a:prstGeom>
          <a:solidFill>
            <a:srgbClr val="E5F6F8"/>
          </a:solidFill>
          <a:ln w="10160">
            <a:solidFill>
              <a:srgbClr val="D7E0EC"/>
            </a:solidFill>
            <a:prstDash val="solid"/>
          </a:ln>
        </p:spPr>
      </p:sp>
      <p:sp>
        <p:nvSpPr>
          <p:cNvPr id="21" name="Shape 19"/>
          <p:cNvSpPr/>
          <p:nvPr/>
        </p:nvSpPr>
        <p:spPr>
          <a:xfrm>
            <a:off x="2231136" y="2706624"/>
            <a:ext cx="41148" cy="768096"/>
          </a:xfrm>
          <a:prstGeom prst="rect">
            <a:avLst/>
          </a:prstGeom>
          <a:solidFill>
            <a:srgbClr val="27A9C2"/>
          </a:solidFill>
          <a:ln w="12700">
            <a:solidFill>
              <a:srgbClr val="27A9C2">
                <a:alpha val="0"/>
              </a:srgbClr>
            </a:solidFill>
            <a:prstDash val="solid"/>
          </a:ln>
        </p:spPr>
      </p:sp>
      <p:sp>
        <p:nvSpPr>
          <p:cNvPr id="22" name="Text 20"/>
          <p:cNvSpPr txBox="1"/>
          <p:nvPr/>
        </p:nvSpPr>
        <p:spPr>
          <a:xfrm>
            <a:off x="2331720" y="2688336"/>
            <a:ext cx="119786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CDN / edge</a:t>
            </a:r>
            <a:endParaRPr lang="en-US" sz="1030" dirty="0"/>
          </a:p>
        </p:txBody>
      </p:sp>
      <p:sp>
        <p:nvSpPr>
          <p:cNvPr id="23" name="Text 21"/>
          <p:cNvSpPr txBox="1"/>
          <p:nvPr/>
        </p:nvSpPr>
        <p:spPr>
          <a:xfrm>
            <a:off x="2331720" y="2962656"/>
            <a:ext cx="1197864"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Cache images, CSS, JS</a:t>
            </a:r>
            <a:endParaRPr lang="en-US" sz="850" dirty="0"/>
          </a:p>
        </p:txBody>
      </p:sp>
      <p:sp>
        <p:nvSpPr>
          <p:cNvPr id="24" name="Shape 22"/>
          <p:cNvSpPr/>
          <p:nvPr/>
        </p:nvSpPr>
        <p:spPr>
          <a:xfrm>
            <a:off x="4005072" y="2615184"/>
            <a:ext cx="1792224" cy="950976"/>
          </a:xfrm>
          <a:prstGeom prst="roundRect">
            <a:avLst>
              <a:gd name="adj" fmla="val 7692"/>
            </a:avLst>
          </a:prstGeom>
          <a:solidFill>
            <a:srgbClr val="E8F0FE"/>
          </a:solidFill>
          <a:ln w="10160">
            <a:solidFill>
              <a:srgbClr val="D7E0EC"/>
            </a:solidFill>
            <a:prstDash val="solid"/>
          </a:ln>
        </p:spPr>
      </p:sp>
      <p:sp>
        <p:nvSpPr>
          <p:cNvPr id="25" name="Shape 23"/>
          <p:cNvSpPr/>
          <p:nvPr/>
        </p:nvSpPr>
        <p:spPr>
          <a:xfrm>
            <a:off x="4023360" y="2706624"/>
            <a:ext cx="41148" cy="768096"/>
          </a:xfrm>
          <a:prstGeom prst="rect">
            <a:avLst/>
          </a:prstGeom>
          <a:solidFill>
            <a:srgbClr val="2367D1"/>
          </a:solidFill>
          <a:ln w="12700">
            <a:solidFill>
              <a:srgbClr val="2367D1">
                <a:alpha val="0"/>
              </a:srgbClr>
            </a:solidFill>
            <a:prstDash val="solid"/>
          </a:ln>
        </p:spPr>
      </p:sp>
      <p:sp>
        <p:nvSpPr>
          <p:cNvPr id="26" name="Text 24"/>
          <p:cNvSpPr txBox="1"/>
          <p:nvPr/>
        </p:nvSpPr>
        <p:spPr>
          <a:xfrm>
            <a:off x="4123944" y="2688336"/>
            <a:ext cx="159105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Load balancer + API</a:t>
            </a:r>
            <a:endParaRPr lang="en-US" sz="1030" dirty="0"/>
          </a:p>
        </p:txBody>
      </p:sp>
      <p:sp>
        <p:nvSpPr>
          <p:cNvPr id="27" name="Text 25"/>
          <p:cNvSpPr txBox="1"/>
          <p:nvPr/>
        </p:nvSpPr>
        <p:spPr>
          <a:xfrm>
            <a:off x="4123944" y="2962656"/>
            <a:ext cx="1591056" cy="53949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Limits + routes traffic</a:t>
            </a:r>
            <a:endParaRPr lang="en-US" sz="850" dirty="0"/>
          </a:p>
        </p:txBody>
      </p:sp>
      <p:sp>
        <p:nvSpPr>
          <p:cNvPr id="28" name="Shape 26"/>
          <p:cNvSpPr/>
          <p:nvPr/>
        </p:nvSpPr>
        <p:spPr>
          <a:xfrm>
            <a:off x="6199632" y="2322576"/>
            <a:ext cx="1984248" cy="1554480"/>
          </a:xfrm>
          <a:prstGeom prst="roundRect">
            <a:avLst>
              <a:gd name="adj" fmla="val 4706"/>
            </a:avLst>
          </a:prstGeom>
          <a:solidFill>
            <a:srgbClr val="FFF3E2"/>
          </a:solidFill>
          <a:ln w="10160">
            <a:solidFill>
              <a:srgbClr val="D7E0EC"/>
            </a:solidFill>
            <a:prstDash val="solid"/>
          </a:ln>
        </p:spPr>
      </p:sp>
      <p:sp>
        <p:nvSpPr>
          <p:cNvPr id="29" name="Shape 27"/>
          <p:cNvSpPr/>
          <p:nvPr/>
        </p:nvSpPr>
        <p:spPr>
          <a:xfrm>
            <a:off x="6217920" y="2414016"/>
            <a:ext cx="41148" cy="1371600"/>
          </a:xfrm>
          <a:prstGeom prst="rect">
            <a:avLst/>
          </a:prstGeom>
          <a:solidFill>
            <a:srgbClr val="F2A341"/>
          </a:solidFill>
          <a:ln w="12700">
            <a:solidFill>
              <a:srgbClr val="F2A341">
                <a:alpha val="0"/>
              </a:srgbClr>
            </a:solidFill>
            <a:prstDash val="solid"/>
          </a:ln>
        </p:spPr>
      </p:sp>
      <p:sp>
        <p:nvSpPr>
          <p:cNvPr id="30" name="Text 28"/>
          <p:cNvSpPr txBox="1"/>
          <p:nvPr/>
        </p:nvSpPr>
        <p:spPr>
          <a:xfrm>
            <a:off x="6318504" y="2395728"/>
            <a:ext cx="1783080"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App instances</a:t>
            </a:r>
            <a:endParaRPr lang="en-US" sz="1030" dirty="0"/>
          </a:p>
        </p:txBody>
      </p:sp>
      <p:sp>
        <p:nvSpPr>
          <p:cNvPr id="31" name="Text 29"/>
          <p:cNvSpPr txBox="1"/>
          <p:nvPr/>
        </p:nvSpPr>
        <p:spPr>
          <a:xfrm>
            <a:off x="6318504" y="2670048"/>
            <a:ext cx="1783080" cy="114300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Catalog / search / cart</a:t>
            </a:r>
            <a:endParaRPr lang="en-US" sz="850" dirty="0"/>
          </a:p>
          <a:p>
            <a:pPr algn="l" indent="0" marL="0">
              <a:buNone/>
            </a:pPr>
            <a:r>
              <a:rPr lang="en-US" sz="850" dirty="0">
                <a:solidFill>
                  <a:srgbClr val="566A83"/>
                </a:solidFill>
                <a:latin typeface="Aptos" pitchFamily="34" charset="0"/>
                <a:ea typeface="Aptos" pitchFamily="34" charset="-122"/>
                <a:cs typeface="Aptos" pitchFamily="34" charset="-120"/>
              </a:rPr>
              <a:t>Multiple copies; autoscale</a:t>
            </a:r>
            <a:endParaRPr lang="en-US" sz="850" dirty="0"/>
          </a:p>
          <a:p>
            <a:pPr algn="l" indent="0" marL="0">
              <a:buNone/>
            </a:pPr>
            <a:r>
              <a:rPr lang="en-US" sz="850" dirty="0">
                <a:solidFill>
                  <a:srgbClr val="566A83"/>
                </a:solidFill>
                <a:latin typeface="Aptos" pitchFamily="34" charset="0"/>
                <a:ea typeface="Aptos" pitchFamily="34" charset="-122"/>
                <a:cs typeface="Aptos" pitchFamily="34" charset="-120"/>
              </a:rPr>
              <a:t>Keep instances replaceable</a:t>
            </a:r>
            <a:endParaRPr lang="en-US" sz="850" dirty="0"/>
          </a:p>
        </p:txBody>
      </p:sp>
      <p:sp>
        <p:nvSpPr>
          <p:cNvPr id="32" name="Shape 30"/>
          <p:cNvSpPr/>
          <p:nvPr/>
        </p:nvSpPr>
        <p:spPr>
          <a:xfrm>
            <a:off x="8577072" y="2157984"/>
            <a:ext cx="2706624" cy="1901952"/>
          </a:xfrm>
          <a:prstGeom prst="roundRect">
            <a:avLst>
              <a:gd name="adj" fmla="val 3846"/>
            </a:avLst>
          </a:prstGeom>
          <a:solidFill>
            <a:srgbClr val="F5F8FC"/>
          </a:solidFill>
          <a:ln w="10160">
            <a:solidFill>
              <a:srgbClr val="D7E0EC"/>
            </a:solidFill>
            <a:prstDash val="solid"/>
          </a:ln>
        </p:spPr>
      </p:sp>
      <p:sp>
        <p:nvSpPr>
          <p:cNvPr id="33" name="Shape 31"/>
          <p:cNvSpPr/>
          <p:nvPr/>
        </p:nvSpPr>
        <p:spPr>
          <a:xfrm>
            <a:off x="8759952" y="2377440"/>
            <a:ext cx="1060704" cy="731520"/>
          </a:xfrm>
          <a:prstGeom prst="roundRect">
            <a:avLst>
              <a:gd name="adj" fmla="val 10000"/>
            </a:avLst>
          </a:prstGeom>
          <a:solidFill>
            <a:srgbClr val="FFFFFF"/>
          </a:solidFill>
          <a:ln w="10160">
            <a:solidFill>
              <a:srgbClr val="D7E0EC"/>
            </a:solidFill>
            <a:prstDash val="solid"/>
          </a:ln>
        </p:spPr>
      </p:sp>
      <p:sp>
        <p:nvSpPr>
          <p:cNvPr id="34" name="Shape 32"/>
          <p:cNvSpPr/>
          <p:nvPr/>
        </p:nvSpPr>
        <p:spPr>
          <a:xfrm>
            <a:off x="8778240" y="2468880"/>
            <a:ext cx="41148" cy="548640"/>
          </a:xfrm>
          <a:prstGeom prst="rect">
            <a:avLst/>
          </a:prstGeom>
          <a:solidFill>
            <a:srgbClr val="27A9C2"/>
          </a:solidFill>
          <a:ln w="12700">
            <a:solidFill>
              <a:srgbClr val="27A9C2">
                <a:alpha val="0"/>
              </a:srgbClr>
            </a:solidFill>
            <a:prstDash val="solid"/>
          </a:ln>
        </p:spPr>
      </p:sp>
      <p:sp>
        <p:nvSpPr>
          <p:cNvPr id="35" name="Text 33"/>
          <p:cNvSpPr txBox="1"/>
          <p:nvPr/>
        </p:nvSpPr>
        <p:spPr>
          <a:xfrm>
            <a:off x="8878824" y="2450592"/>
            <a:ext cx="8595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Cache</a:t>
            </a:r>
            <a:endParaRPr lang="en-US" sz="1030" dirty="0"/>
          </a:p>
        </p:txBody>
      </p:sp>
      <p:sp>
        <p:nvSpPr>
          <p:cNvPr id="36" name="Text 34"/>
          <p:cNvSpPr txBox="1"/>
          <p:nvPr/>
        </p:nvSpPr>
        <p:spPr>
          <a:xfrm>
            <a:off x="8878824" y="2724912"/>
            <a:ext cx="859536" cy="32004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Hot reads</a:t>
            </a:r>
            <a:endParaRPr lang="en-US" sz="850" dirty="0"/>
          </a:p>
        </p:txBody>
      </p:sp>
      <p:sp>
        <p:nvSpPr>
          <p:cNvPr id="37" name="Shape 35"/>
          <p:cNvSpPr/>
          <p:nvPr/>
        </p:nvSpPr>
        <p:spPr>
          <a:xfrm>
            <a:off x="10030968" y="2377440"/>
            <a:ext cx="1060704" cy="731520"/>
          </a:xfrm>
          <a:prstGeom prst="roundRect">
            <a:avLst>
              <a:gd name="adj" fmla="val 10000"/>
            </a:avLst>
          </a:prstGeom>
          <a:solidFill>
            <a:srgbClr val="FFFFFF"/>
          </a:solidFill>
          <a:ln w="10160">
            <a:solidFill>
              <a:srgbClr val="D7E0EC"/>
            </a:solidFill>
            <a:prstDash val="solid"/>
          </a:ln>
        </p:spPr>
      </p:sp>
      <p:sp>
        <p:nvSpPr>
          <p:cNvPr id="38" name="Shape 36"/>
          <p:cNvSpPr/>
          <p:nvPr/>
        </p:nvSpPr>
        <p:spPr>
          <a:xfrm>
            <a:off x="10049256" y="2468880"/>
            <a:ext cx="41148" cy="548640"/>
          </a:xfrm>
          <a:prstGeom prst="rect">
            <a:avLst/>
          </a:prstGeom>
          <a:solidFill>
            <a:srgbClr val="329879"/>
          </a:solidFill>
          <a:ln w="12700">
            <a:solidFill>
              <a:srgbClr val="329879">
                <a:alpha val="0"/>
              </a:srgbClr>
            </a:solidFill>
            <a:prstDash val="solid"/>
          </a:ln>
        </p:spPr>
      </p:sp>
      <p:sp>
        <p:nvSpPr>
          <p:cNvPr id="39" name="Text 37"/>
          <p:cNvSpPr txBox="1"/>
          <p:nvPr/>
        </p:nvSpPr>
        <p:spPr>
          <a:xfrm>
            <a:off x="10149840" y="2450592"/>
            <a:ext cx="8595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Database</a:t>
            </a:r>
            <a:endParaRPr lang="en-US" sz="1030" dirty="0"/>
          </a:p>
        </p:txBody>
      </p:sp>
      <p:sp>
        <p:nvSpPr>
          <p:cNvPr id="40" name="Text 38"/>
          <p:cNvSpPr txBox="1"/>
          <p:nvPr/>
        </p:nvSpPr>
        <p:spPr>
          <a:xfrm>
            <a:off x="10149840" y="2724912"/>
            <a:ext cx="859536" cy="32004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Indexes + replicas</a:t>
            </a:r>
            <a:endParaRPr lang="en-US" sz="850" dirty="0"/>
          </a:p>
        </p:txBody>
      </p:sp>
      <p:sp>
        <p:nvSpPr>
          <p:cNvPr id="41" name="Shape 39"/>
          <p:cNvSpPr/>
          <p:nvPr/>
        </p:nvSpPr>
        <p:spPr>
          <a:xfrm>
            <a:off x="8759952" y="3236976"/>
            <a:ext cx="1060704" cy="640080"/>
          </a:xfrm>
          <a:prstGeom prst="roundRect">
            <a:avLst>
              <a:gd name="adj" fmla="val 11429"/>
            </a:avLst>
          </a:prstGeom>
          <a:solidFill>
            <a:srgbClr val="FFFFFF"/>
          </a:solidFill>
          <a:ln w="10160">
            <a:solidFill>
              <a:srgbClr val="D7E0EC"/>
            </a:solidFill>
            <a:prstDash val="solid"/>
          </a:ln>
        </p:spPr>
      </p:sp>
      <p:sp>
        <p:nvSpPr>
          <p:cNvPr id="42" name="Shape 40"/>
          <p:cNvSpPr/>
          <p:nvPr/>
        </p:nvSpPr>
        <p:spPr>
          <a:xfrm>
            <a:off x="8778240" y="3328416"/>
            <a:ext cx="41148" cy="457200"/>
          </a:xfrm>
          <a:prstGeom prst="rect">
            <a:avLst/>
          </a:prstGeom>
          <a:solidFill>
            <a:srgbClr val="27A9C2"/>
          </a:solidFill>
          <a:ln w="12700">
            <a:solidFill>
              <a:srgbClr val="27A9C2">
                <a:alpha val="0"/>
              </a:srgbClr>
            </a:solidFill>
            <a:prstDash val="solid"/>
          </a:ln>
        </p:spPr>
      </p:sp>
      <p:sp>
        <p:nvSpPr>
          <p:cNvPr id="43" name="Text 41"/>
          <p:cNvSpPr txBox="1"/>
          <p:nvPr/>
        </p:nvSpPr>
        <p:spPr>
          <a:xfrm>
            <a:off x="8878824" y="3310128"/>
            <a:ext cx="8595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Queue</a:t>
            </a:r>
            <a:endParaRPr lang="en-US" sz="1030" dirty="0"/>
          </a:p>
        </p:txBody>
      </p:sp>
      <p:sp>
        <p:nvSpPr>
          <p:cNvPr id="44" name="Text 42"/>
          <p:cNvSpPr txBox="1"/>
          <p:nvPr/>
        </p:nvSpPr>
        <p:spPr>
          <a:xfrm>
            <a:off x="8878824" y="3584448"/>
            <a:ext cx="859536" cy="22860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Buffer work</a:t>
            </a:r>
            <a:endParaRPr lang="en-US" sz="850" dirty="0"/>
          </a:p>
        </p:txBody>
      </p:sp>
      <p:sp>
        <p:nvSpPr>
          <p:cNvPr id="45" name="Shape 43"/>
          <p:cNvSpPr/>
          <p:nvPr/>
        </p:nvSpPr>
        <p:spPr>
          <a:xfrm>
            <a:off x="10030968" y="3236976"/>
            <a:ext cx="1060704" cy="640080"/>
          </a:xfrm>
          <a:prstGeom prst="roundRect">
            <a:avLst>
              <a:gd name="adj" fmla="val 11429"/>
            </a:avLst>
          </a:prstGeom>
          <a:solidFill>
            <a:srgbClr val="FFFFFF"/>
          </a:solidFill>
          <a:ln w="10160">
            <a:solidFill>
              <a:srgbClr val="D7E0EC"/>
            </a:solidFill>
            <a:prstDash val="solid"/>
          </a:ln>
        </p:spPr>
      </p:sp>
      <p:sp>
        <p:nvSpPr>
          <p:cNvPr id="46" name="Shape 44"/>
          <p:cNvSpPr/>
          <p:nvPr/>
        </p:nvSpPr>
        <p:spPr>
          <a:xfrm>
            <a:off x="10049256" y="3328416"/>
            <a:ext cx="41148" cy="457200"/>
          </a:xfrm>
          <a:prstGeom prst="rect">
            <a:avLst/>
          </a:prstGeom>
          <a:solidFill>
            <a:srgbClr val="F2A341"/>
          </a:solidFill>
          <a:ln w="12700">
            <a:solidFill>
              <a:srgbClr val="F2A341">
                <a:alpha val="0"/>
              </a:srgbClr>
            </a:solidFill>
            <a:prstDash val="solid"/>
          </a:ln>
        </p:spPr>
      </p:sp>
      <p:sp>
        <p:nvSpPr>
          <p:cNvPr id="47" name="Text 45"/>
          <p:cNvSpPr txBox="1"/>
          <p:nvPr/>
        </p:nvSpPr>
        <p:spPr>
          <a:xfrm>
            <a:off x="10149840" y="3310128"/>
            <a:ext cx="859536"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Workers</a:t>
            </a:r>
            <a:endParaRPr lang="en-US" sz="1030" dirty="0"/>
          </a:p>
        </p:txBody>
      </p:sp>
      <p:sp>
        <p:nvSpPr>
          <p:cNvPr id="48" name="Text 46"/>
          <p:cNvSpPr txBox="1"/>
          <p:nvPr/>
        </p:nvSpPr>
        <p:spPr>
          <a:xfrm>
            <a:off x="10149840" y="3584448"/>
            <a:ext cx="859536" cy="22860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Async tasks</a:t>
            </a:r>
            <a:endParaRPr lang="en-US" sz="850" dirty="0"/>
          </a:p>
        </p:txBody>
      </p:sp>
      <p:sp>
        <p:nvSpPr>
          <p:cNvPr id="49" name="Shape 47"/>
          <p:cNvSpPr/>
          <p:nvPr/>
        </p:nvSpPr>
        <p:spPr>
          <a:xfrm>
            <a:off x="7187184" y="3886200"/>
            <a:ext cx="914" cy="493776"/>
          </a:xfrm>
          <a:prstGeom prst="line">
            <a:avLst/>
          </a:prstGeom>
          <a:noFill/>
          <a:ln w="17780">
            <a:solidFill>
              <a:srgbClr val="27A9C2"/>
            </a:solidFill>
            <a:prstDash val="solid"/>
            <a:headEnd type="none"/>
            <a:tailEnd type="triangle"/>
          </a:ln>
        </p:spPr>
      </p:sp>
      <p:sp>
        <p:nvSpPr>
          <p:cNvPr id="50" name="Text 48"/>
          <p:cNvSpPr txBox="1"/>
          <p:nvPr/>
        </p:nvSpPr>
        <p:spPr>
          <a:xfrm>
            <a:off x="7296912" y="3977640"/>
            <a:ext cx="594360" cy="201168"/>
          </a:xfrm>
          <a:prstGeom prst="rect">
            <a:avLst/>
          </a:prstGeom>
          <a:noFill/>
          <a:ln/>
        </p:spPr>
        <p:txBody>
          <a:bodyPr wrap="square" lIns="508" tIns="508" rIns="508" bIns="508" rtlCol="0" anchor="ctr">
            <a:normAutofit/>
          </a:bodyPr>
          <a:lstStyle/>
          <a:p>
            <a:pPr algn="ctr" indent="0" marL="0">
              <a:buNone/>
            </a:pPr>
            <a:r>
              <a:rPr lang="en-US" sz="770" dirty="0">
                <a:solidFill>
                  <a:srgbClr val="27A9C2"/>
                </a:solidFill>
                <a:latin typeface="Aptos" pitchFamily="34" charset="0"/>
                <a:ea typeface="Aptos" pitchFamily="34" charset="-122"/>
                <a:cs typeface="Aptos" pitchFamily="34" charset="-120"/>
              </a:rPr>
              <a:t>events</a:t>
            </a:r>
            <a:endParaRPr lang="en-US" sz="770" dirty="0"/>
          </a:p>
        </p:txBody>
      </p:sp>
      <p:sp>
        <p:nvSpPr>
          <p:cNvPr id="51" name="Text 49"/>
          <p:cNvSpPr txBox="1"/>
          <p:nvPr/>
        </p:nvSpPr>
        <p:spPr>
          <a:xfrm>
            <a:off x="841248" y="4645152"/>
            <a:ext cx="10497312" cy="219456"/>
          </a:xfrm>
          <a:prstGeom prst="rect">
            <a:avLst/>
          </a:prstGeom>
          <a:noFill/>
          <a:ln/>
        </p:spPr>
        <p:txBody>
          <a:bodyPr wrap="square" lIns="508" tIns="508" rIns="508" bIns="508" rtlCol="0" anchor="ctr">
            <a:normAutofit/>
          </a:bodyPr>
          <a:lstStyle/>
          <a:p>
            <a:pPr algn="ctr" indent="0" marL="0">
              <a:buNone/>
            </a:pPr>
            <a:r>
              <a:rPr lang="en-US" sz="860" b="1" dirty="0">
                <a:solidFill>
                  <a:srgbClr val="14253D"/>
                </a:solidFill>
                <a:latin typeface="Aptos" pitchFamily="34" charset="0"/>
                <a:ea typeface="Aptos" pitchFamily="34" charset="-122"/>
                <a:cs typeface="Aptos" pitchFamily="34" charset="-120"/>
              </a:rPr>
              <a:t>Rate-limit overload  •  apply backpressure  •  monitor latency, errors, saturation, queue depth</a:t>
            </a:r>
            <a:endParaRPr lang="en-US" sz="860" dirty="0"/>
          </a:p>
        </p:txBody>
      </p:sp>
      <p:sp>
        <p:nvSpPr>
          <p:cNvPr id="52" name="Shape 50"/>
          <p:cNvSpPr/>
          <p:nvPr/>
        </p:nvSpPr>
        <p:spPr>
          <a:xfrm>
            <a:off x="566928" y="5394960"/>
            <a:ext cx="5413248" cy="722376"/>
          </a:xfrm>
          <a:prstGeom prst="roundRect">
            <a:avLst>
              <a:gd name="adj" fmla="val 10127"/>
            </a:avLst>
          </a:prstGeom>
          <a:solidFill>
            <a:srgbClr val="FFFFFF"/>
          </a:solidFill>
          <a:ln w="10160">
            <a:solidFill>
              <a:srgbClr val="D7E0EC"/>
            </a:solidFill>
            <a:prstDash val="solid"/>
          </a:ln>
        </p:spPr>
      </p:sp>
      <p:sp>
        <p:nvSpPr>
          <p:cNvPr id="53" name="Shape 51"/>
          <p:cNvSpPr/>
          <p:nvPr/>
        </p:nvSpPr>
        <p:spPr>
          <a:xfrm>
            <a:off x="576072" y="5504688"/>
            <a:ext cx="41148" cy="502920"/>
          </a:xfrm>
          <a:prstGeom prst="rect">
            <a:avLst/>
          </a:prstGeom>
          <a:solidFill>
            <a:srgbClr val="2367D1"/>
          </a:solidFill>
          <a:ln w="12700">
            <a:solidFill>
              <a:srgbClr val="2367D1">
                <a:alpha val="0"/>
              </a:srgbClr>
            </a:solidFill>
            <a:prstDash val="solid"/>
          </a:ln>
        </p:spPr>
      </p:sp>
      <p:sp>
        <p:nvSpPr>
          <p:cNvPr id="54" name="Text 52"/>
          <p:cNvSpPr txBox="1"/>
          <p:nvPr/>
        </p:nvSpPr>
        <p:spPr>
          <a:xfrm>
            <a:off x="722376" y="5486400"/>
            <a:ext cx="5120640" cy="237744"/>
          </a:xfrm>
          <a:prstGeom prst="rect">
            <a:avLst/>
          </a:prstGeom>
          <a:noFill/>
          <a:ln/>
        </p:spPr>
        <p:txBody>
          <a:bodyPr wrap="square" lIns="508" tIns="508" rIns="508" bIns="508" rtlCol="0" anchor="ctr">
            <a:normAutofit/>
          </a:bodyPr>
          <a:lstStyle/>
          <a:p>
            <a:pPr algn="l" indent="0" marL="0">
              <a:buNone/>
            </a:pPr>
            <a:r>
              <a:rPr lang="en-US" sz="1070" b="1" dirty="0">
                <a:solidFill>
                  <a:srgbClr val="14253D"/>
                </a:solidFill>
                <a:latin typeface="Aptos" pitchFamily="34" charset="0"/>
                <a:ea typeface="Aptos" pitchFamily="34" charset="-122"/>
                <a:cs typeface="Aptos" pitchFamily="34" charset="-120"/>
              </a:rPr>
              <a:t>Protect the critical path</a:t>
            </a:r>
            <a:endParaRPr lang="en-US" sz="1070" dirty="0"/>
          </a:p>
        </p:txBody>
      </p:sp>
      <p:sp>
        <p:nvSpPr>
          <p:cNvPr id="55" name="Text 53"/>
          <p:cNvSpPr txBox="1"/>
          <p:nvPr/>
        </p:nvSpPr>
        <p:spPr>
          <a:xfrm>
            <a:off x="722376" y="5733288"/>
            <a:ext cx="5120640" cy="274320"/>
          </a:xfrm>
          <a:prstGeom prst="rect">
            <a:avLst/>
          </a:prstGeom>
          <a:noFill/>
          <a:ln/>
        </p:spPr>
        <p:txBody>
          <a:bodyPr wrap="square" lIns="254" tIns="254" rIns="254" bIns="254" rtlCol="0" anchor="t">
            <a:normAutofit/>
          </a:bodyPr>
          <a:lstStyle/>
          <a:p>
            <a:pPr algn="l" indent="0" marL="0">
              <a:buNone/>
            </a:pPr>
            <a:r>
              <a:rPr lang="en-US" sz="840" dirty="0">
                <a:solidFill>
                  <a:srgbClr val="566A83"/>
                </a:solidFill>
                <a:latin typeface="Aptos" pitchFamily="34" charset="0"/>
                <a:ea typeface="Aptos" pitchFamily="34" charset="-122"/>
                <a:cs typeface="Aptos" pitchFamily="34" charset="-120"/>
              </a:rPr>
              <a:t>Cache safe reads, tune database queries, and reserve checkout capacity.</a:t>
            </a:r>
            <a:endParaRPr lang="en-US" sz="840" dirty="0"/>
          </a:p>
        </p:txBody>
      </p:sp>
      <p:sp>
        <p:nvSpPr>
          <p:cNvPr id="56" name="Shape 54"/>
          <p:cNvSpPr/>
          <p:nvPr/>
        </p:nvSpPr>
        <p:spPr>
          <a:xfrm>
            <a:off x="6199632" y="5394960"/>
            <a:ext cx="5422392" cy="722376"/>
          </a:xfrm>
          <a:prstGeom prst="roundRect">
            <a:avLst>
              <a:gd name="adj" fmla="val 10127"/>
            </a:avLst>
          </a:prstGeom>
          <a:solidFill>
            <a:srgbClr val="FFFFFF"/>
          </a:solidFill>
          <a:ln w="10160">
            <a:solidFill>
              <a:srgbClr val="D7E0EC"/>
            </a:solidFill>
            <a:prstDash val="solid"/>
          </a:ln>
        </p:spPr>
      </p:sp>
      <p:sp>
        <p:nvSpPr>
          <p:cNvPr id="57" name="Shape 55"/>
          <p:cNvSpPr/>
          <p:nvPr/>
        </p:nvSpPr>
        <p:spPr>
          <a:xfrm>
            <a:off x="6208776" y="5504688"/>
            <a:ext cx="41148" cy="502920"/>
          </a:xfrm>
          <a:prstGeom prst="rect">
            <a:avLst/>
          </a:prstGeom>
          <a:solidFill>
            <a:srgbClr val="F2A341"/>
          </a:solidFill>
          <a:ln w="12700">
            <a:solidFill>
              <a:srgbClr val="F2A341">
                <a:alpha val="0"/>
              </a:srgbClr>
            </a:solidFill>
            <a:prstDash val="solid"/>
          </a:ln>
        </p:spPr>
      </p:sp>
      <p:sp>
        <p:nvSpPr>
          <p:cNvPr id="58" name="Text 56"/>
          <p:cNvSpPr txBox="1"/>
          <p:nvPr/>
        </p:nvSpPr>
        <p:spPr>
          <a:xfrm>
            <a:off x="6355080" y="5486400"/>
            <a:ext cx="5129784" cy="237744"/>
          </a:xfrm>
          <a:prstGeom prst="rect">
            <a:avLst/>
          </a:prstGeom>
          <a:noFill/>
          <a:ln/>
        </p:spPr>
        <p:txBody>
          <a:bodyPr wrap="square" lIns="508" tIns="508" rIns="508" bIns="508" rtlCol="0" anchor="ctr">
            <a:normAutofit/>
          </a:bodyPr>
          <a:lstStyle/>
          <a:p>
            <a:pPr algn="l" indent="0" marL="0">
              <a:buNone/>
            </a:pPr>
            <a:r>
              <a:rPr lang="en-US" sz="1070" b="1" dirty="0">
                <a:solidFill>
                  <a:srgbClr val="14253D"/>
                </a:solidFill>
                <a:latin typeface="Aptos" pitchFamily="34" charset="0"/>
                <a:ea typeface="Aptos" pitchFamily="34" charset="-122"/>
                <a:cs typeface="Aptos" pitchFamily="34" charset="-120"/>
              </a:rPr>
              <a:t>Degrade gracefully</a:t>
            </a:r>
            <a:endParaRPr lang="en-US" sz="1070" dirty="0"/>
          </a:p>
        </p:txBody>
      </p:sp>
      <p:sp>
        <p:nvSpPr>
          <p:cNvPr id="59" name="Text 57"/>
          <p:cNvSpPr txBox="1"/>
          <p:nvPr/>
        </p:nvSpPr>
        <p:spPr>
          <a:xfrm>
            <a:off x="6355080" y="5733288"/>
            <a:ext cx="5129784" cy="274320"/>
          </a:xfrm>
          <a:prstGeom prst="rect">
            <a:avLst/>
          </a:prstGeom>
          <a:noFill/>
          <a:ln/>
        </p:spPr>
        <p:txBody>
          <a:bodyPr wrap="square" lIns="254" tIns="254" rIns="254" bIns="254" rtlCol="0" anchor="t">
            <a:normAutofit/>
          </a:bodyPr>
          <a:lstStyle/>
          <a:p>
            <a:pPr algn="l" indent="0" marL="0">
              <a:buNone/>
            </a:pPr>
            <a:r>
              <a:rPr lang="en-US" sz="840" dirty="0">
                <a:solidFill>
                  <a:srgbClr val="566A83"/>
                </a:solidFill>
                <a:latin typeface="Aptos" pitchFamily="34" charset="0"/>
                <a:ea typeface="Aptos" pitchFamily="34" charset="-122"/>
                <a:cs typeface="Aptos" pitchFamily="34" charset="-120"/>
              </a:rPr>
              <a:t>Queue non-urgent work; shed optional features before core buying flows.</a:t>
            </a:r>
            <a:endParaRPr lang="en-US" sz="840" dirty="0"/>
          </a:p>
        </p:txBody>
      </p:sp>
      <p:sp>
        <p:nvSpPr>
          <p:cNvPr id="60" name="Shape 58"/>
          <p:cNvSpPr/>
          <p:nvPr/>
        </p:nvSpPr>
        <p:spPr>
          <a:xfrm>
            <a:off x="777240" y="6126480"/>
            <a:ext cx="932688" cy="228600"/>
          </a:xfrm>
          <a:prstGeom prst="roundRect">
            <a:avLst>
              <a:gd name="adj" fmla="val 32000"/>
            </a:avLst>
          </a:prstGeom>
          <a:solidFill>
            <a:srgbClr val="E8F0FE"/>
          </a:solidFill>
          <a:ln w="10160">
            <a:solidFill>
              <a:srgbClr val="E8F0FE"/>
            </a:solidFill>
            <a:prstDash val="solid"/>
          </a:ln>
        </p:spPr>
      </p:sp>
      <p:sp>
        <p:nvSpPr>
          <p:cNvPr id="61" name="Text 59"/>
          <p:cNvSpPr txBox="1"/>
          <p:nvPr/>
        </p:nvSpPr>
        <p:spPr>
          <a:xfrm>
            <a:off x="804672" y="6144768"/>
            <a:ext cx="877824" cy="164592"/>
          </a:xfrm>
          <a:prstGeom prst="rect">
            <a:avLst/>
          </a:prstGeom>
          <a:noFill/>
          <a:ln/>
        </p:spPr>
        <p:txBody>
          <a:bodyPr wrap="square" lIns="508" tIns="508" rIns="508" bIns="508" rtlCol="0" anchor="ctr">
            <a:normAutofit/>
          </a:bodyPr>
          <a:lstStyle/>
          <a:p>
            <a:pPr algn="ctr" indent="0" marL="0">
              <a:buNone/>
            </a:pPr>
            <a:r>
              <a:rPr lang="en-US" sz="750" b="1" dirty="0">
                <a:solidFill>
                  <a:srgbClr val="2367D1"/>
                </a:solidFill>
                <a:latin typeface="Aptos" pitchFamily="34" charset="0"/>
                <a:ea typeface="Aptos" pitchFamily="34" charset="-122"/>
                <a:cs typeface="Aptos" pitchFamily="34" charset="-120"/>
              </a:rPr>
              <a:t>CDN: [D]</a:t>
            </a:r>
            <a:endParaRPr lang="en-US" sz="750" dirty="0"/>
          </a:p>
        </p:txBody>
      </p:sp>
      <p:sp>
        <p:nvSpPr>
          <p:cNvPr id="62" name="Shape 60"/>
          <p:cNvSpPr/>
          <p:nvPr/>
        </p:nvSpPr>
        <p:spPr>
          <a:xfrm>
            <a:off x="1810512" y="6126480"/>
            <a:ext cx="1088136" cy="228600"/>
          </a:xfrm>
          <a:prstGeom prst="roundRect">
            <a:avLst>
              <a:gd name="adj" fmla="val 32000"/>
            </a:avLst>
          </a:prstGeom>
          <a:solidFill>
            <a:srgbClr val="E8F0FE"/>
          </a:solidFill>
          <a:ln w="10160">
            <a:solidFill>
              <a:srgbClr val="E8F0FE"/>
            </a:solidFill>
            <a:prstDash val="solid"/>
          </a:ln>
        </p:spPr>
      </p:sp>
      <p:sp>
        <p:nvSpPr>
          <p:cNvPr id="63" name="Text 61"/>
          <p:cNvSpPr txBox="1"/>
          <p:nvPr/>
        </p:nvSpPr>
        <p:spPr>
          <a:xfrm>
            <a:off x="1837944" y="6144768"/>
            <a:ext cx="1033272" cy="164592"/>
          </a:xfrm>
          <a:prstGeom prst="rect">
            <a:avLst/>
          </a:prstGeom>
          <a:noFill/>
          <a:ln/>
        </p:spPr>
        <p:txBody>
          <a:bodyPr wrap="square" lIns="508" tIns="508" rIns="508" bIns="508" rtlCol="0" anchor="ctr">
            <a:normAutofit/>
          </a:bodyPr>
          <a:lstStyle/>
          <a:p>
            <a:pPr algn="ctr" indent="0" marL="0">
              <a:buNone/>
            </a:pPr>
            <a:r>
              <a:rPr lang="en-US" sz="750" b="1" dirty="0">
                <a:solidFill>
                  <a:srgbClr val="2367D1"/>
                </a:solidFill>
                <a:latin typeface="Aptos" pitchFamily="34" charset="0"/>
                <a:ea typeface="Aptos" pitchFamily="34" charset="-122"/>
                <a:cs typeface="Aptos" pitchFamily="34" charset="-120"/>
              </a:rPr>
              <a:t>Queues: [E]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2367D1"/>
          </a:solidFill>
          <a:ln w="12700">
            <a:solidFill>
              <a:srgbClr val="2367D1">
                <a:alpha val="0"/>
              </a:srgbClr>
            </a:solidFill>
            <a:prstDash val="solid"/>
          </a:ln>
        </p:spPr>
      </p:sp>
      <p:sp>
        <p:nvSpPr>
          <p:cNvPr id="3" name="Text 1"/>
          <p:cNvSpPr txBox="1"/>
          <p:nvPr/>
        </p:nvSpPr>
        <p:spPr>
          <a:xfrm>
            <a:off x="548640" y="283464"/>
            <a:ext cx="2926080" cy="192024"/>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WRAP-UP  •  DOCUMENTED FACTS VS. TEACHING MODEL</a:t>
            </a:r>
            <a:endParaRPr lang="en-US" sz="820" dirty="0"/>
          </a:p>
        </p:txBody>
      </p:sp>
      <p:sp>
        <p:nvSpPr>
          <p:cNvPr id="4" name="Text 2"/>
          <p:cNvSpPr txBox="1"/>
          <p:nvPr/>
        </p:nvSpPr>
        <p:spPr>
          <a:xfrm>
            <a:off x="548640" y="512064"/>
            <a:ext cx="11064240" cy="438912"/>
          </a:xfrm>
          <a:prstGeom prst="rect">
            <a:avLst/>
          </a:prstGeom>
          <a:noFill/>
          <a:ln/>
        </p:spPr>
        <p:txBody>
          <a:bodyPr wrap="square" lIns="508" tIns="508" rIns="508" bIns="508" rtlCol="0" anchor="ctr">
            <a:normAutofit/>
          </a:bodyPr>
          <a:lstStyle/>
          <a:p>
            <a:pPr algn="l" indent="0" marL="0">
              <a:buNone/>
            </a:pPr>
            <a:r>
              <a:rPr lang="en-US" sz="2200" b="1" dirty="0">
                <a:solidFill>
                  <a:srgbClr val="14253D"/>
                </a:solidFill>
                <a:latin typeface="Aptos" pitchFamily="34" charset="0"/>
                <a:ea typeface="Aptos" pitchFamily="34" charset="-122"/>
                <a:cs typeface="Aptos" pitchFamily="34" charset="-120"/>
              </a:rPr>
              <a:t>Fault Tolerance, Lessons, and References</a:t>
            </a:r>
            <a:endParaRPr lang="en-US" sz="2200" dirty="0"/>
          </a:p>
        </p:txBody>
      </p:sp>
      <p:sp>
        <p:nvSpPr>
          <p:cNvPr id="5" name="Text 3"/>
          <p:cNvSpPr txBox="1"/>
          <p:nvPr/>
        </p:nvSpPr>
        <p:spPr>
          <a:xfrm>
            <a:off x="557784" y="987552"/>
            <a:ext cx="11018520" cy="228600"/>
          </a:xfrm>
          <a:prstGeom prst="rect">
            <a:avLst/>
          </a:prstGeom>
          <a:noFill/>
          <a:ln/>
        </p:spPr>
        <p:txBody>
          <a:bodyPr wrap="square" lIns="508" tIns="508" rIns="508" bIns="508" rtlCol="0" anchor="ctr">
            <a:normAutofit/>
          </a:bodyPr>
          <a:lstStyle/>
          <a:p>
            <a:pPr algn="l" indent="0" marL="0">
              <a:buNone/>
            </a:pPr>
            <a:r>
              <a:rPr lang="en-US" sz="920" dirty="0">
                <a:solidFill>
                  <a:srgbClr val="566A83"/>
                </a:solidFill>
                <a:latin typeface="Aptos" pitchFamily="34" charset="0"/>
                <a:ea typeface="Aptos" pitchFamily="34" charset="-122"/>
                <a:cs typeface="Aptos" pitchFamily="34" charset="-120"/>
              </a:rPr>
              <a:t>Distributed systems expect partial failure; design the recovery path before the incident.</a:t>
            </a:r>
            <a:endParaRPr lang="en-US" sz="920" dirty="0"/>
          </a:p>
        </p:txBody>
      </p:sp>
      <p:sp>
        <p:nvSpPr>
          <p:cNvPr id="6" name="Shape 4"/>
          <p:cNvSpPr/>
          <p:nvPr/>
        </p:nvSpPr>
        <p:spPr>
          <a:xfrm>
            <a:off x="548640" y="6419088"/>
            <a:ext cx="11091672" cy="914"/>
          </a:xfrm>
          <a:prstGeom prst="line">
            <a:avLst/>
          </a:prstGeom>
          <a:noFill/>
          <a:ln w="10160">
            <a:solidFill>
              <a:srgbClr val="D7E0EC"/>
            </a:solidFill>
            <a:prstDash val="solid"/>
          </a:ln>
        </p:spPr>
      </p:sp>
      <p:sp>
        <p:nvSpPr>
          <p:cNvPr id="7" name="Text 5"/>
          <p:cNvSpPr txBox="1"/>
          <p:nvPr/>
        </p:nvSpPr>
        <p:spPr>
          <a:xfrm>
            <a:off x="566928" y="6492240"/>
            <a:ext cx="5760720" cy="164592"/>
          </a:xfrm>
          <a:prstGeom prst="rect">
            <a:avLst/>
          </a:prstGeom>
          <a:noFill/>
          <a:ln/>
        </p:spPr>
        <p:txBody>
          <a:bodyPr wrap="square" lIns="508" tIns="508" rIns="508" bIns="508" rtlCol="0" anchor="ctr">
            <a:normAutofit/>
          </a:bodyPr>
          <a:lstStyle/>
          <a:p>
            <a:pPr algn="l" indent="0" marL="0">
              <a:buNone/>
            </a:pPr>
            <a:r>
              <a:rPr lang="en-US" sz="730" dirty="0">
                <a:solidFill>
                  <a:srgbClr val="566A83"/>
                </a:solidFill>
                <a:latin typeface="Aptos" pitchFamily="34" charset="0"/>
                <a:ea typeface="Aptos" pitchFamily="34" charset="-122"/>
                <a:cs typeface="Aptos" pitchFamily="34" charset="-120"/>
              </a:rPr>
              <a:t>BACKEND ENGINEERING  •  BEGINNER SERIES</a:t>
            </a:r>
            <a:endParaRPr lang="en-US" sz="730" dirty="0"/>
          </a:p>
        </p:txBody>
      </p:sp>
      <p:sp>
        <p:nvSpPr>
          <p:cNvPr id="8" name="Text 6"/>
          <p:cNvSpPr txBox="1"/>
          <p:nvPr/>
        </p:nvSpPr>
        <p:spPr>
          <a:xfrm>
            <a:off x="10954512" y="6492240"/>
            <a:ext cx="640080" cy="164592"/>
          </a:xfrm>
          <a:prstGeom prst="rect">
            <a:avLst/>
          </a:prstGeom>
          <a:noFill/>
          <a:ln/>
        </p:spPr>
        <p:txBody>
          <a:bodyPr wrap="square" lIns="508" tIns="508" rIns="508" bIns="508" rtlCol="0" anchor="ctr">
            <a:normAutofit/>
          </a:bodyPr>
          <a:lstStyle/>
          <a:p>
            <a:pPr algn="r" indent="0" marL="0">
              <a:buNone/>
            </a:pPr>
            <a:r>
              <a:rPr lang="en-US" sz="760" dirty="0">
                <a:solidFill>
                  <a:srgbClr val="566A83"/>
                </a:solidFill>
                <a:latin typeface="Aptos" pitchFamily="34" charset="0"/>
                <a:ea typeface="Aptos" pitchFamily="34" charset="-122"/>
                <a:cs typeface="Aptos" pitchFamily="34" charset="-120"/>
              </a:rPr>
              <a:t>08 / 08</a:t>
            </a:r>
            <a:endParaRPr lang="en-US" sz="760" dirty="0"/>
          </a:p>
        </p:txBody>
      </p:sp>
      <p:sp>
        <p:nvSpPr>
          <p:cNvPr id="9" name="Shape 7"/>
          <p:cNvSpPr/>
          <p:nvPr/>
        </p:nvSpPr>
        <p:spPr>
          <a:xfrm>
            <a:off x="566928" y="1481328"/>
            <a:ext cx="5340096" cy="4562856"/>
          </a:xfrm>
          <a:prstGeom prst="roundRect">
            <a:avLst>
              <a:gd name="adj" fmla="val 1603"/>
            </a:avLst>
          </a:prstGeom>
          <a:solidFill>
            <a:srgbClr val="FFFFFF"/>
          </a:solidFill>
          <a:ln w="10160">
            <a:solidFill>
              <a:srgbClr val="D7E0EC"/>
            </a:solidFill>
            <a:prstDash val="solid"/>
          </a:ln>
        </p:spPr>
      </p:sp>
      <p:sp>
        <p:nvSpPr>
          <p:cNvPr id="10" name="Text 8"/>
          <p:cNvSpPr txBox="1"/>
          <p:nvPr/>
        </p:nvSpPr>
        <p:spPr>
          <a:xfrm>
            <a:off x="804672" y="1673352"/>
            <a:ext cx="2514600" cy="201168"/>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FAULT-TOLERANT CONCEPT</a:t>
            </a:r>
            <a:endParaRPr lang="en-US" sz="820" dirty="0"/>
          </a:p>
        </p:txBody>
      </p:sp>
      <p:sp>
        <p:nvSpPr>
          <p:cNvPr id="11" name="Shape 9"/>
          <p:cNvSpPr/>
          <p:nvPr/>
        </p:nvSpPr>
        <p:spPr>
          <a:xfrm>
            <a:off x="1938528" y="2715768"/>
            <a:ext cx="420624" cy="914"/>
          </a:xfrm>
          <a:prstGeom prst="line">
            <a:avLst/>
          </a:prstGeom>
          <a:noFill/>
          <a:ln w="17780">
            <a:solidFill>
              <a:srgbClr val="2367D1"/>
            </a:solidFill>
            <a:prstDash val="solid"/>
            <a:headEnd type="none"/>
            <a:tailEnd type="triangle"/>
          </a:ln>
        </p:spPr>
      </p:sp>
      <p:sp>
        <p:nvSpPr>
          <p:cNvPr id="12" name="Shape 10"/>
          <p:cNvSpPr/>
          <p:nvPr/>
        </p:nvSpPr>
        <p:spPr>
          <a:xfrm>
            <a:off x="3904488" y="2715768"/>
            <a:ext cx="374904" cy="914"/>
          </a:xfrm>
          <a:prstGeom prst="line">
            <a:avLst/>
          </a:prstGeom>
          <a:noFill/>
          <a:ln w="17780">
            <a:solidFill>
              <a:srgbClr val="2367D1"/>
            </a:solidFill>
            <a:prstDash val="solid"/>
            <a:headEnd type="none"/>
            <a:tailEnd type="triangle"/>
          </a:ln>
        </p:spPr>
      </p:sp>
      <p:sp>
        <p:nvSpPr>
          <p:cNvPr id="13" name="Shape 11"/>
          <p:cNvSpPr/>
          <p:nvPr/>
        </p:nvSpPr>
        <p:spPr>
          <a:xfrm>
            <a:off x="813816" y="2231136"/>
            <a:ext cx="1124712" cy="960120"/>
          </a:xfrm>
          <a:prstGeom prst="roundRect">
            <a:avLst>
              <a:gd name="adj" fmla="val 7619"/>
            </a:avLst>
          </a:prstGeom>
          <a:solidFill>
            <a:srgbClr val="E8F0FE"/>
          </a:solidFill>
          <a:ln w="10160">
            <a:solidFill>
              <a:srgbClr val="D7E0EC"/>
            </a:solidFill>
            <a:prstDash val="solid"/>
          </a:ln>
        </p:spPr>
      </p:sp>
      <p:sp>
        <p:nvSpPr>
          <p:cNvPr id="14" name="Shape 12"/>
          <p:cNvSpPr/>
          <p:nvPr/>
        </p:nvSpPr>
        <p:spPr>
          <a:xfrm>
            <a:off x="832104" y="2322576"/>
            <a:ext cx="41148" cy="777240"/>
          </a:xfrm>
          <a:prstGeom prst="rect">
            <a:avLst/>
          </a:prstGeom>
          <a:solidFill>
            <a:srgbClr val="2367D1"/>
          </a:solidFill>
          <a:ln w="12700">
            <a:solidFill>
              <a:srgbClr val="2367D1">
                <a:alpha val="0"/>
              </a:srgbClr>
            </a:solidFill>
            <a:prstDash val="solid"/>
          </a:ln>
        </p:spPr>
      </p:sp>
      <p:sp>
        <p:nvSpPr>
          <p:cNvPr id="15" name="Text 13"/>
          <p:cNvSpPr txBox="1"/>
          <p:nvPr/>
        </p:nvSpPr>
        <p:spPr>
          <a:xfrm>
            <a:off x="932688" y="2304288"/>
            <a:ext cx="923544"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Request</a:t>
            </a:r>
            <a:endParaRPr lang="en-US" sz="1030" dirty="0"/>
          </a:p>
        </p:txBody>
      </p:sp>
      <p:sp>
        <p:nvSpPr>
          <p:cNvPr id="16" name="Text 14"/>
          <p:cNvSpPr txBox="1"/>
          <p:nvPr/>
        </p:nvSpPr>
        <p:spPr>
          <a:xfrm>
            <a:off x="932688" y="2578608"/>
            <a:ext cx="923544" cy="54864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Health checked</a:t>
            </a:r>
            <a:endParaRPr lang="en-US" sz="850" dirty="0"/>
          </a:p>
        </p:txBody>
      </p:sp>
      <p:sp>
        <p:nvSpPr>
          <p:cNvPr id="17" name="Shape 15"/>
          <p:cNvSpPr/>
          <p:nvPr/>
        </p:nvSpPr>
        <p:spPr>
          <a:xfrm>
            <a:off x="2359152" y="2231136"/>
            <a:ext cx="1545336" cy="960120"/>
          </a:xfrm>
          <a:prstGeom prst="roundRect">
            <a:avLst>
              <a:gd name="adj" fmla="val 7619"/>
            </a:avLst>
          </a:prstGeom>
          <a:solidFill>
            <a:srgbClr val="E5F6F8"/>
          </a:solidFill>
          <a:ln w="10160">
            <a:solidFill>
              <a:srgbClr val="D7E0EC"/>
            </a:solidFill>
            <a:prstDash val="solid"/>
          </a:ln>
        </p:spPr>
      </p:sp>
      <p:sp>
        <p:nvSpPr>
          <p:cNvPr id="18" name="Shape 16"/>
          <p:cNvSpPr/>
          <p:nvPr/>
        </p:nvSpPr>
        <p:spPr>
          <a:xfrm>
            <a:off x="2377440" y="2322576"/>
            <a:ext cx="41148" cy="777240"/>
          </a:xfrm>
          <a:prstGeom prst="rect">
            <a:avLst/>
          </a:prstGeom>
          <a:solidFill>
            <a:srgbClr val="27A9C2"/>
          </a:solidFill>
          <a:ln w="12700">
            <a:solidFill>
              <a:srgbClr val="27A9C2">
                <a:alpha val="0"/>
              </a:srgbClr>
            </a:solidFill>
            <a:prstDash val="solid"/>
          </a:ln>
        </p:spPr>
      </p:sp>
      <p:sp>
        <p:nvSpPr>
          <p:cNvPr id="19" name="Text 17"/>
          <p:cNvSpPr txBox="1"/>
          <p:nvPr/>
        </p:nvSpPr>
        <p:spPr>
          <a:xfrm>
            <a:off x="2478024" y="2304288"/>
            <a:ext cx="134416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Redundant service</a:t>
            </a:r>
            <a:endParaRPr lang="en-US" sz="1030" dirty="0"/>
          </a:p>
        </p:txBody>
      </p:sp>
      <p:sp>
        <p:nvSpPr>
          <p:cNvPr id="20" name="Text 18"/>
          <p:cNvSpPr txBox="1"/>
          <p:nvPr/>
        </p:nvSpPr>
        <p:spPr>
          <a:xfrm>
            <a:off x="2478024" y="2578608"/>
            <a:ext cx="1344168" cy="54864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More than one instance</a:t>
            </a:r>
            <a:endParaRPr lang="en-US" sz="850" dirty="0"/>
          </a:p>
        </p:txBody>
      </p:sp>
      <p:sp>
        <p:nvSpPr>
          <p:cNvPr id="21" name="Shape 19"/>
          <p:cNvSpPr/>
          <p:nvPr/>
        </p:nvSpPr>
        <p:spPr>
          <a:xfrm>
            <a:off x="4279392" y="2231136"/>
            <a:ext cx="1316736" cy="960120"/>
          </a:xfrm>
          <a:prstGeom prst="roundRect">
            <a:avLst>
              <a:gd name="adj" fmla="val 7619"/>
            </a:avLst>
          </a:prstGeom>
          <a:solidFill>
            <a:srgbClr val="E8F5EF"/>
          </a:solidFill>
          <a:ln w="10160">
            <a:solidFill>
              <a:srgbClr val="D7E0EC"/>
            </a:solidFill>
            <a:prstDash val="solid"/>
          </a:ln>
        </p:spPr>
      </p:sp>
      <p:sp>
        <p:nvSpPr>
          <p:cNvPr id="22" name="Shape 20"/>
          <p:cNvSpPr/>
          <p:nvPr/>
        </p:nvSpPr>
        <p:spPr>
          <a:xfrm>
            <a:off x="4297680" y="2322576"/>
            <a:ext cx="41148" cy="777240"/>
          </a:xfrm>
          <a:prstGeom prst="rect">
            <a:avLst/>
          </a:prstGeom>
          <a:solidFill>
            <a:srgbClr val="329879"/>
          </a:solidFill>
          <a:ln w="12700">
            <a:solidFill>
              <a:srgbClr val="329879">
                <a:alpha val="0"/>
              </a:srgbClr>
            </a:solidFill>
            <a:prstDash val="solid"/>
          </a:ln>
        </p:spPr>
      </p:sp>
      <p:sp>
        <p:nvSpPr>
          <p:cNvPr id="23" name="Text 21"/>
          <p:cNvSpPr txBox="1"/>
          <p:nvPr/>
        </p:nvSpPr>
        <p:spPr>
          <a:xfrm>
            <a:off x="4398264" y="2304288"/>
            <a:ext cx="111556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Data + queue</a:t>
            </a:r>
            <a:endParaRPr lang="en-US" sz="1030" dirty="0"/>
          </a:p>
        </p:txBody>
      </p:sp>
      <p:sp>
        <p:nvSpPr>
          <p:cNvPr id="24" name="Text 22"/>
          <p:cNvSpPr txBox="1"/>
          <p:nvPr/>
        </p:nvSpPr>
        <p:spPr>
          <a:xfrm>
            <a:off x="4398264" y="2578608"/>
            <a:ext cx="1115568" cy="548640"/>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Replicas / recovery</a:t>
            </a:r>
            <a:endParaRPr lang="en-US" sz="850" dirty="0"/>
          </a:p>
        </p:txBody>
      </p:sp>
      <p:sp>
        <p:nvSpPr>
          <p:cNvPr id="25" name="Shape 23"/>
          <p:cNvSpPr/>
          <p:nvPr/>
        </p:nvSpPr>
        <p:spPr>
          <a:xfrm>
            <a:off x="3136392" y="3218688"/>
            <a:ext cx="914" cy="493776"/>
          </a:xfrm>
          <a:prstGeom prst="line">
            <a:avLst/>
          </a:prstGeom>
          <a:noFill/>
          <a:ln w="17780">
            <a:solidFill>
              <a:srgbClr val="D65D5D"/>
            </a:solidFill>
            <a:prstDash val="solid"/>
            <a:headEnd type="none"/>
            <a:tailEnd type="triangle"/>
          </a:ln>
        </p:spPr>
      </p:sp>
      <p:sp>
        <p:nvSpPr>
          <p:cNvPr id="26" name="Text 24"/>
          <p:cNvSpPr txBox="1"/>
          <p:nvPr/>
        </p:nvSpPr>
        <p:spPr>
          <a:xfrm>
            <a:off x="3246120" y="3346704"/>
            <a:ext cx="1078992" cy="201168"/>
          </a:xfrm>
          <a:prstGeom prst="rect">
            <a:avLst/>
          </a:prstGeom>
          <a:noFill/>
          <a:ln/>
        </p:spPr>
        <p:txBody>
          <a:bodyPr wrap="square" lIns="508" tIns="508" rIns="508" bIns="508" rtlCol="0" anchor="ctr">
            <a:normAutofit/>
          </a:bodyPr>
          <a:lstStyle/>
          <a:p>
            <a:pPr algn="ctr" indent="0" marL="0">
              <a:buNone/>
            </a:pPr>
            <a:r>
              <a:rPr lang="en-US" sz="770" dirty="0">
                <a:solidFill>
                  <a:srgbClr val="D65D5D"/>
                </a:solidFill>
                <a:latin typeface="Aptos" pitchFamily="34" charset="0"/>
                <a:ea typeface="Aptos" pitchFamily="34" charset="-122"/>
                <a:cs typeface="Aptos" pitchFamily="34" charset="-120"/>
              </a:rPr>
              <a:t>timeout / breaker</a:t>
            </a:r>
            <a:endParaRPr lang="en-US" sz="770" dirty="0"/>
          </a:p>
        </p:txBody>
      </p:sp>
      <p:sp>
        <p:nvSpPr>
          <p:cNvPr id="27" name="Shape 25"/>
          <p:cNvSpPr/>
          <p:nvPr/>
        </p:nvSpPr>
        <p:spPr>
          <a:xfrm>
            <a:off x="2359152" y="3712464"/>
            <a:ext cx="1545336" cy="768096"/>
          </a:xfrm>
          <a:prstGeom prst="roundRect">
            <a:avLst>
              <a:gd name="adj" fmla="val 9524"/>
            </a:avLst>
          </a:prstGeom>
          <a:solidFill>
            <a:srgbClr val="FFF3E2"/>
          </a:solidFill>
          <a:ln w="10160">
            <a:solidFill>
              <a:srgbClr val="D7E0EC"/>
            </a:solidFill>
            <a:prstDash val="solid"/>
          </a:ln>
        </p:spPr>
      </p:sp>
      <p:sp>
        <p:nvSpPr>
          <p:cNvPr id="28" name="Shape 26"/>
          <p:cNvSpPr/>
          <p:nvPr/>
        </p:nvSpPr>
        <p:spPr>
          <a:xfrm>
            <a:off x="2377440" y="3803904"/>
            <a:ext cx="41148" cy="585216"/>
          </a:xfrm>
          <a:prstGeom prst="rect">
            <a:avLst/>
          </a:prstGeom>
          <a:solidFill>
            <a:srgbClr val="F2A341"/>
          </a:solidFill>
          <a:ln w="12700">
            <a:solidFill>
              <a:srgbClr val="F2A341">
                <a:alpha val="0"/>
              </a:srgbClr>
            </a:solidFill>
            <a:prstDash val="solid"/>
          </a:ln>
        </p:spPr>
      </p:sp>
      <p:sp>
        <p:nvSpPr>
          <p:cNvPr id="29" name="Text 27"/>
          <p:cNvSpPr txBox="1"/>
          <p:nvPr/>
        </p:nvSpPr>
        <p:spPr>
          <a:xfrm>
            <a:off x="2478024" y="3785616"/>
            <a:ext cx="1344168" cy="237744"/>
          </a:xfrm>
          <a:prstGeom prst="rect">
            <a:avLst/>
          </a:prstGeom>
          <a:noFill/>
          <a:ln/>
        </p:spPr>
        <p:txBody>
          <a:bodyPr wrap="square" lIns="508" tIns="508" rIns="508" bIns="508" rtlCol="0" anchor="ctr">
            <a:normAutofit/>
          </a:bodyPr>
          <a:lstStyle/>
          <a:p>
            <a:pPr algn="l" indent="0" marL="0">
              <a:buNone/>
            </a:pPr>
            <a:r>
              <a:rPr lang="en-US" sz="1030" b="1" dirty="0">
                <a:solidFill>
                  <a:srgbClr val="14253D"/>
                </a:solidFill>
                <a:latin typeface="Aptos" pitchFamily="34" charset="0"/>
                <a:ea typeface="Aptos" pitchFamily="34" charset="-122"/>
                <a:cs typeface="Aptos" pitchFamily="34" charset="-120"/>
              </a:rPr>
              <a:t>Fallback / recovery</a:t>
            </a:r>
            <a:endParaRPr lang="en-US" sz="1030" dirty="0"/>
          </a:p>
        </p:txBody>
      </p:sp>
      <p:sp>
        <p:nvSpPr>
          <p:cNvPr id="30" name="Text 28"/>
          <p:cNvSpPr txBox="1"/>
          <p:nvPr/>
        </p:nvSpPr>
        <p:spPr>
          <a:xfrm>
            <a:off x="2478024" y="4059936"/>
            <a:ext cx="1344168" cy="356616"/>
          </a:xfrm>
          <a:prstGeom prst="rect">
            <a:avLst/>
          </a:prstGeom>
          <a:noFill/>
          <a:ln/>
        </p:spPr>
        <p:txBody>
          <a:bodyPr wrap="square" lIns="508" tIns="508" rIns="508" bIns="508" rtlCol="0" anchor="t">
            <a:normAutofit/>
          </a:bodyPr>
          <a:lstStyle/>
          <a:p>
            <a:pPr algn="l" indent="0" marL="0">
              <a:buNone/>
            </a:pPr>
            <a:r>
              <a:rPr lang="en-US" sz="850" dirty="0">
                <a:solidFill>
                  <a:srgbClr val="566A83"/>
                </a:solidFill>
                <a:latin typeface="Aptos" pitchFamily="34" charset="0"/>
                <a:ea typeface="Aptos" pitchFamily="34" charset="-122"/>
                <a:cs typeface="Aptos" pitchFamily="34" charset="-120"/>
              </a:rPr>
              <a:t>Retry later; alert operator</a:t>
            </a:r>
            <a:endParaRPr lang="en-US" sz="850" dirty="0"/>
          </a:p>
        </p:txBody>
      </p:sp>
      <p:sp>
        <p:nvSpPr>
          <p:cNvPr id="31" name="Text 29"/>
          <p:cNvSpPr txBox="1"/>
          <p:nvPr/>
        </p:nvSpPr>
        <p:spPr>
          <a:xfrm>
            <a:off x="813816" y="4672584"/>
            <a:ext cx="2194560" cy="228600"/>
          </a:xfrm>
          <a:prstGeom prst="rect">
            <a:avLst/>
          </a:prstGeom>
          <a:noFill/>
          <a:ln/>
        </p:spPr>
        <p:txBody>
          <a:bodyPr wrap="square" lIns="508" tIns="508" rIns="508" bIns="508" rtlCol="0" anchor="ctr">
            <a:normAutofit/>
          </a:bodyPr>
          <a:lstStyle/>
          <a:p>
            <a:pPr algn="l" indent="0" marL="0">
              <a:buNone/>
            </a:pPr>
            <a:r>
              <a:rPr lang="en-US" sz="1230" b="1" dirty="0">
                <a:solidFill>
                  <a:srgbClr val="14253D"/>
                </a:solidFill>
                <a:latin typeface="Aptos" pitchFamily="34" charset="0"/>
                <a:ea typeface="Aptos" pitchFamily="34" charset="-122"/>
                <a:cs typeface="Aptos" pitchFamily="34" charset="-120"/>
              </a:rPr>
              <a:t>Key takeaways</a:t>
            </a:r>
            <a:endParaRPr lang="en-US" sz="1230" dirty="0"/>
          </a:p>
        </p:txBody>
      </p:sp>
      <p:sp>
        <p:nvSpPr>
          <p:cNvPr id="32" name="Text 30"/>
          <p:cNvSpPr txBox="1"/>
          <p:nvPr/>
        </p:nvSpPr>
        <p:spPr>
          <a:xfrm>
            <a:off x="832104" y="4974336"/>
            <a:ext cx="4736592" cy="813816"/>
          </a:xfrm>
          <a:prstGeom prst="rect">
            <a:avLst/>
          </a:prstGeom>
          <a:noFill/>
          <a:ln/>
        </p:spPr>
        <p:txBody>
          <a:bodyPr wrap="square" lIns="508" tIns="508" rIns="508" bIns="508" rtlCol="0" anchor="t">
            <a:normAutofit/>
          </a:bodyPr>
          <a:lstStyle/>
          <a:p>
            <a:pPr algn="l" indent="0" marL="0">
              <a:buNone/>
            </a:pPr>
            <a:r>
              <a:rPr lang="en-US" sz="910" dirty="0">
                <a:solidFill>
                  <a:srgbClr val="566A83"/>
                </a:solidFill>
                <a:latin typeface="Aptos" pitchFamily="34" charset="0"/>
                <a:ea typeface="Aptos" pitchFamily="34" charset="-122"/>
                <a:cs typeface="Aptos" pitchFamily="34" charset="-120"/>
              </a:rPr>
              <a:t>•  Start simple; separate responsibilities clearly.</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  Scale the bottleneck, not every component.</a:t>
            </a:r>
            <a:endParaRPr lang="en-US" sz="910" dirty="0"/>
          </a:p>
          <a:p>
            <a:pPr algn="l" indent="0" marL="0">
              <a:buNone/>
            </a:pPr>
            <a:r>
              <a:rPr lang="en-US" sz="910" dirty="0">
                <a:solidFill>
                  <a:srgbClr val="566A83"/>
                </a:solidFill>
                <a:latin typeface="Aptos" pitchFamily="34" charset="0"/>
                <a:ea typeface="Aptos" pitchFamily="34" charset="-122"/>
                <a:cs typeface="Aptos" pitchFamily="34" charset="-120"/>
              </a:rPr>
              <a:t>•  Use timeouts, backoff, health checks, backups, and tested disaster recovery.</a:t>
            </a:r>
            <a:endParaRPr lang="en-US" sz="910" dirty="0"/>
          </a:p>
        </p:txBody>
      </p:sp>
      <p:sp>
        <p:nvSpPr>
          <p:cNvPr id="33" name="Shape 31"/>
          <p:cNvSpPr/>
          <p:nvPr/>
        </p:nvSpPr>
        <p:spPr>
          <a:xfrm>
            <a:off x="6126480" y="1481328"/>
            <a:ext cx="5495544" cy="4562856"/>
          </a:xfrm>
          <a:prstGeom prst="roundRect">
            <a:avLst>
              <a:gd name="adj" fmla="val 1603"/>
            </a:avLst>
          </a:prstGeom>
          <a:solidFill>
            <a:srgbClr val="FFFFFF"/>
          </a:solidFill>
          <a:ln w="10160">
            <a:solidFill>
              <a:srgbClr val="D7E0EC"/>
            </a:solidFill>
            <a:prstDash val="solid"/>
          </a:ln>
        </p:spPr>
      </p:sp>
      <p:sp>
        <p:nvSpPr>
          <p:cNvPr id="34" name="Text 32"/>
          <p:cNvSpPr txBox="1"/>
          <p:nvPr/>
        </p:nvSpPr>
        <p:spPr>
          <a:xfrm>
            <a:off x="6373368" y="1673352"/>
            <a:ext cx="2103120" cy="201168"/>
          </a:xfrm>
          <a:prstGeom prst="rect">
            <a:avLst/>
          </a:prstGeom>
          <a:noFill/>
          <a:ln/>
        </p:spPr>
        <p:txBody>
          <a:bodyPr wrap="square" lIns="508" tIns="508" rIns="508" bIns="508" rtlCol="0" anchor="ctr">
            <a:normAutofit/>
          </a:bodyPr>
          <a:lstStyle/>
          <a:p>
            <a:pPr algn="l" indent="0" marL="0">
              <a:buNone/>
            </a:pPr>
            <a:r>
              <a:rPr lang="en-US" sz="820" b="1" dirty="0">
                <a:solidFill>
                  <a:srgbClr val="2367D1"/>
                </a:solidFill>
                <a:latin typeface="Aptos" pitchFamily="34" charset="0"/>
                <a:ea typeface="Aptos" pitchFamily="34" charset="-122"/>
                <a:cs typeface="Aptos" pitchFamily="34" charset="-120"/>
              </a:rPr>
              <a:t>PUBLIC SOURCES</a:t>
            </a:r>
            <a:endParaRPr lang="en-US" sz="820" dirty="0"/>
          </a:p>
        </p:txBody>
      </p:sp>
      <p:sp>
        <p:nvSpPr>
          <p:cNvPr id="35" name="Text 33">
            <a:hlinkClick r:id="rId1" tooltip=""/>
          </p:cNvPr>
          <p:cNvSpPr txBox="1"/>
          <p:nvPr/>
        </p:nvSpPr>
        <p:spPr>
          <a:xfrm>
            <a:off x="6382512" y="2011680"/>
            <a:ext cx="4956048" cy="265176"/>
          </a:xfrm>
          <a:prstGeom prst="rect">
            <a:avLst/>
          </a:prstGeom>
          <a:noFill/>
          <a:ln/>
        </p:spPr>
        <p:txBody>
          <a:bodyPr wrap="square" lIns="508" tIns="508" rIns="508" bIns="508" rtlCol="0" anchor="ctr">
            <a:normAutofit/>
          </a:bodyPr>
          <a:lstStyle/>
          <a:p>
            <a:pPr algn="l" indent="0" marL="0">
              <a:buNone/>
            </a:pPr>
            <a:r>
              <a:rPr lang="en-US" sz="910" b="1" u="sng" dirty="0">
                <a:solidFill>
                  <a:srgbClr val="14253D"/>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[A] Amazon Builders’ Library — Timeouts, retries, and backoff with jitter</a:t>
            </a:r>
            <a:endParaRPr lang="en-US" sz="910" dirty="0"/>
          </a:p>
        </p:txBody>
      </p:sp>
      <p:sp>
        <p:nvSpPr>
          <p:cNvPr id="36" name="Text 34">
            <a:hlinkClick r:id="rId2" tooltip=""/>
          </p:cNvPr>
          <p:cNvSpPr txBox="1"/>
          <p:nvPr/>
        </p:nvSpPr>
        <p:spPr>
          <a:xfrm>
            <a:off x="6382512" y="2295144"/>
            <a:ext cx="4956048" cy="274320"/>
          </a:xfrm>
          <a:prstGeom prst="rect">
            <a:avLst/>
          </a:prstGeom>
          <a:noFill/>
          <a:ln/>
        </p:spPr>
        <p:txBody>
          <a:bodyPr wrap="square" lIns="508" tIns="508" rIns="508" bIns="508" rtlCol="0" anchor="ctr">
            <a:normAutofit/>
          </a:bodyPr>
          <a:lstStyle/>
          <a:p>
            <a:pPr algn="l" indent="0" marL="0">
              <a:buNone/>
            </a:pPr>
            <a:r>
              <a:rPr lang="en-US" sz="690" u="sng" dirty="0">
                <a:solidFill>
                  <a:srgbClr val="2367D1"/>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https://aws.amazon.com/builders-library/timeouts-retries-and-backoff-with-jitter/</a:t>
            </a:r>
            <a:endParaRPr lang="en-US" sz="690" dirty="0"/>
          </a:p>
        </p:txBody>
      </p:sp>
      <p:sp>
        <p:nvSpPr>
          <p:cNvPr id="37" name="Text 35">
            <a:hlinkClick r:id="rId3" tooltip=""/>
          </p:cNvPr>
          <p:cNvSpPr txBox="1"/>
          <p:nvPr/>
        </p:nvSpPr>
        <p:spPr>
          <a:xfrm>
            <a:off x="6382512" y="2724912"/>
            <a:ext cx="4956048" cy="265176"/>
          </a:xfrm>
          <a:prstGeom prst="rect">
            <a:avLst/>
          </a:prstGeom>
          <a:noFill/>
          <a:ln/>
        </p:spPr>
        <p:txBody>
          <a:bodyPr wrap="square" lIns="508" tIns="508" rIns="508" bIns="508" rtlCol="0" anchor="ctr">
            <a:normAutofit/>
          </a:bodyPr>
          <a:lstStyle/>
          <a:p>
            <a:pPr algn="l" indent="0" marL="0">
              <a:buNone/>
            </a:pPr>
            <a:r>
              <a:rPr lang="en-US" sz="910" b="1" u="sng" dirty="0">
                <a:solidFill>
                  <a:srgbClr val="14253D"/>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[B] AWS Well-Architected — Reliability Pillar</a:t>
            </a:r>
            <a:endParaRPr lang="en-US" sz="910" dirty="0"/>
          </a:p>
        </p:txBody>
      </p:sp>
      <p:sp>
        <p:nvSpPr>
          <p:cNvPr id="38" name="Text 36">
            <a:hlinkClick r:id="rId4" tooltip=""/>
          </p:cNvPr>
          <p:cNvSpPr txBox="1"/>
          <p:nvPr/>
        </p:nvSpPr>
        <p:spPr>
          <a:xfrm>
            <a:off x="6382512" y="3008376"/>
            <a:ext cx="4956048" cy="274320"/>
          </a:xfrm>
          <a:prstGeom prst="rect">
            <a:avLst/>
          </a:prstGeom>
          <a:noFill/>
          <a:ln/>
        </p:spPr>
        <p:txBody>
          <a:bodyPr wrap="square" lIns="508" tIns="508" rIns="508" bIns="508" rtlCol="0" anchor="ctr">
            <a:normAutofit/>
          </a:bodyPr>
          <a:lstStyle/>
          <a:p>
            <a:pPr algn="l" indent="0" marL="0">
              <a:buNone/>
            </a:pPr>
            <a:r>
              <a:rPr lang="en-US" sz="690" u="sng" dirty="0">
                <a:solidFill>
                  <a:srgbClr val="2367D1"/>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https://docs.aws.amazon.com/wellarchitected/latest/reliability-pillar/welcome.html</a:t>
            </a:r>
            <a:endParaRPr lang="en-US" sz="690" dirty="0"/>
          </a:p>
        </p:txBody>
      </p:sp>
      <p:sp>
        <p:nvSpPr>
          <p:cNvPr id="39" name="Text 37">
            <a:hlinkClick r:id="rId5" tooltip=""/>
          </p:cNvPr>
          <p:cNvSpPr txBox="1"/>
          <p:nvPr/>
        </p:nvSpPr>
        <p:spPr>
          <a:xfrm>
            <a:off x="6382512" y="3438144"/>
            <a:ext cx="4956048" cy="265176"/>
          </a:xfrm>
          <a:prstGeom prst="rect">
            <a:avLst/>
          </a:prstGeom>
          <a:noFill/>
          <a:ln/>
        </p:spPr>
        <p:txBody>
          <a:bodyPr wrap="square" lIns="508" tIns="508" rIns="508" bIns="508" rtlCol="0" anchor="ctr">
            <a:normAutofit/>
          </a:bodyPr>
          <a:lstStyle/>
          <a:p>
            <a:pPr algn="l" indent="0" marL="0">
              <a:buNone/>
            </a:pPr>
            <a:r>
              <a:rPr lang="en-US" sz="910" b="1" u="sng" dirty="0">
                <a:solidFill>
                  <a:srgbClr val="14253D"/>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[C] Amazon Dynamo — Highly Available Key-value Store (2007 paper)</a:t>
            </a:r>
            <a:endParaRPr lang="en-US" sz="910" dirty="0"/>
          </a:p>
        </p:txBody>
      </p:sp>
      <p:sp>
        <p:nvSpPr>
          <p:cNvPr id="40" name="Text 38">
            <a:hlinkClick r:id="rId6" tooltip=""/>
          </p:cNvPr>
          <p:cNvSpPr txBox="1"/>
          <p:nvPr/>
        </p:nvSpPr>
        <p:spPr>
          <a:xfrm>
            <a:off x="6382512" y="3721608"/>
            <a:ext cx="4956048" cy="274320"/>
          </a:xfrm>
          <a:prstGeom prst="rect">
            <a:avLst/>
          </a:prstGeom>
          <a:noFill/>
          <a:ln/>
        </p:spPr>
        <p:txBody>
          <a:bodyPr wrap="square" lIns="508" tIns="508" rIns="508" bIns="508" rtlCol="0" anchor="ctr">
            <a:normAutofit/>
          </a:bodyPr>
          <a:lstStyle/>
          <a:p>
            <a:pPr algn="l" indent="0" marL="0">
              <a:buNone/>
            </a:pPr>
            <a:r>
              <a:rPr lang="en-US" sz="690" u="sng" dirty="0">
                <a:solidFill>
                  <a:srgbClr val="2367D1"/>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https://www.allthingsdistributed.com/files/amazon-dynamo-sosp2007.pdf</a:t>
            </a:r>
            <a:endParaRPr lang="en-US" sz="690" dirty="0"/>
          </a:p>
        </p:txBody>
      </p:sp>
      <p:sp>
        <p:nvSpPr>
          <p:cNvPr id="41" name="Text 39">
            <a:hlinkClick r:id="rId7" tooltip=""/>
          </p:cNvPr>
          <p:cNvSpPr txBox="1"/>
          <p:nvPr/>
        </p:nvSpPr>
        <p:spPr>
          <a:xfrm>
            <a:off x="6382512" y="4151376"/>
            <a:ext cx="4956048" cy="265176"/>
          </a:xfrm>
          <a:prstGeom prst="rect">
            <a:avLst/>
          </a:prstGeom>
          <a:noFill/>
          <a:ln/>
        </p:spPr>
        <p:txBody>
          <a:bodyPr wrap="square" lIns="508" tIns="508" rIns="508" bIns="508" rtlCol="0" anchor="ctr">
            <a:normAutofit/>
          </a:bodyPr>
          <a:lstStyle/>
          <a:p>
            <a:pPr algn="l" indent="0" marL="0">
              <a:buNone/>
            </a:pPr>
            <a:r>
              <a:rPr lang="en-US" sz="910" b="1" u="sng" dirty="0">
                <a:solidFill>
                  <a:srgbClr val="14253D"/>
                </a:solidFill>
                <a:latin typeface="Aptos" pitchFamily="34" charset="0"/>
                <a:ea typeface="Aptos" pitchFamily="34" charset="-122"/>
                <a:cs typeface="Aptos" pitchFamily="34" charset="-120"/>
                <a:hlinkClick r:id="rId7" invalidUrl="" action="" tgtFrame="" tooltip="" history="1" highlightClick="0" endSnd="0">
                  <a:extLst>
                    <a:ext uri="{A12FA001-AC4F-418D-AE19-62706E023703}">
                      <ahyp:hlinkClr xmlns:ahyp="http://schemas.microsoft.com/office/drawing/2018/hyperlinkcolor" val="tx"/>
                    </a:ext>
                  </a:extLst>
                </a:hlinkClick>
              </a:rPr>
              <a:t>[D] Amazon CloudFront Developer Guide — Introduction</a:t>
            </a:r>
            <a:endParaRPr lang="en-US" sz="910" dirty="0"/>
          </a:p>
        </p:txBody>
      </p:sp>
      <p:sp>
        <p:nvSpPr>
          <p:cNvPr id="42" name="Text 40">
            <a:hlinkClick r:id="rId8" tooltip=""/>
          </p:cNvPr>
          <p:cNvSpPr txBox="1"/>
          <p:nvPr/>
        </p:nvSpPr>
        <p:spPr>
          <a:xfrm>
            <a:off x="6382512" y="4434840"/>
            <a:ext cx="4956048" cy="274320"/>
          </a:xfrm>
          <a:prstGeom prst="rect">
            <a:avLst/>
          </a:prstGeom>
          <a:noFill/>
          <a:ln/>
        </p:spPr>
        <p:txBody>
          <a:bodyPr wrap="square" lIns="508" tIns="508" rIns="508" bIns="508" rtlCol="0" anchor="ctr">
            <a:normAutofit/>
          </a:bodyPr>
          <a:lstStyle/>
          <a:p>
            <a:pPr algn="l" indent="0" marL="0">
              <a:buNone/>
            </a:pPr>
            <a:r>
              <a:rPr lang="en-US" sz="690" u="sng" dirty="0">
                <a:solidFill>
                  <a:srgbClr val="2367D1"/>
                </a:solidFill>
                <a:latin typeface="Aptos" pitchFamily="34" charset="0"/>
                <a:ea typeface="Aptos" pitchFamily="34" charset="-122"/>
                <a:cs typeface="Aptos"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https://docs.aws.amazon.com/AmazonCloudFront/latest/DeveloperGuide/Introduction.html</a:t>
            </a:r>
            <a:endParaRPr lang="en-US" sz="690" dirty="0"/>
          </a:p>
        </p:txBody>
      </p:sp>
      <p:sp>
        <p:nvSpPr>
          <p:cNvPr id="43" name="Text 41">
            <a:hlinkClick r:id="rId9" tooltip=""/>
          </p:cNvPr>
          <p:cNvSpPr txBox="1"/>
          <p:nvPr/>
        </p:nvSpPr>
        <p:spPr>
          <a:xfrm>
            <a:off x="6382512" y="4864608"/>
            <a:ext cx="4956048" cy="265176"/>
          </a:xfrm>
          <a:prstGeom prst="rect">
            <a:avLst/>
          </a:prstGeom>
          <a:noFill/>
          <a:ln/>
        </p:spPr>
        <p:txBody>
          <a:bodyPr wrap="square" lIns="508" tIns="508" rIns="508" bIns="508" rtlCol="0" anchor="ctr">
            <a:normAutofit/>
          </a:bodyPr>
          <a:lstStyle/>
          <a:p>
            <a:pPr algn="l" indent="0" marL="0">
              <a:buNone/>
            </a:pPr>
            <a:r>
              <a:rPr lang="en-US" sz="910" b="1" u="sng" dirty="0">
                <a:solidFill>
                  <a:srgbClr val="14253D"/>
                </a:solidFill>
                <a:latin typeface="Aptos" pitchFamily="34" charset="0"/>
                <a:ea typeface="Aptos" pitchFamily="34" charset="-122"/>
                <a:cs typeface="Aptos" pitchFamily="34" charset="-120"/>
                <a:hlinkClick r:id="rId9" invalidUrl="" action="" tgtFrame="" tooltip="" history="1" highlightClick="0" endSnd="0">
                  <a:extLst>
                    <a:ext uri="{A12FA001-AC4F-418D-AE19-62706E023703}">
                      <ahyp:hlinkClr xmlns:ahyp="http://schemas.microsoft.com/office/drawing/2018/hyperlinkcolor" val="tx"/>
                    </a:ext>
                  </a:extLst>
                </a:hlinkClick>
              </a:rPr>
              <a:t>[E] Amazon SQS Developer Guide — What is Amazon SQS?</a:t>
            </a:r>
            <a:endParaRPr lang="en-US" sz="910" dirty="0"/>
          </a:p>
        </p:txBody>
      </p:sp>
      <p:sp>
        <p:nvSpPr>
          <p:cNvPr id="44" name="Text 42">
            <a:hlinkClick r:id="rId10" tooltip=""/>
          </p:cNvPr>
          <p:cNvSpPr txBox="1"/>
          <p:nvPr/>
        </p:nvSpPr>
        <p:spPr>
          <a:xfrm>
            <a:off x="6382512" y="5148072"/>
            <a:ext cx="4956048" cy="274320"/>
          </a:xfrm>
          <a:prstGeom prst="rect">
            <a:avLst/>
          </a:prstGeom>
          <a:noFill/>
          <a:ln/>
        </p:spPr>
        <p:txBody>
          <a:bodyPr wrap="square" lIns="508" tIns="508" rIns="508" bIns="508" rtlCol="0" anchor="ctr">
            <a:normAutofit/>
          </a:bodyPr>
          <a:lstStyle/>
          <a:p>
            <a:pPr algn="l" indent="0" marL="0">
              <a:buNone/>
            </a:pPr>
            <a:r>
              <a:rPr lang="en-US" sz="690" u="sng" dirty="0">
                <a:solidFill>
                  <a:srgbClr val="2367D1"/>
                </a:solidFill>
                <a:latin typeface="Aptos" pitchFamily="34" charset="0"/>
                <a:ea typeface="Aptos" pitchFamily="34" charset="-122"/>
                <a:cs typeface="Apto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https://docs.aws.amazon.com/AWSSimpleQueueService/latest/SQSDeveloperGuide/welcome.html</a:t>
            </a:r>
            <a:endParaRPr lang="en-US" sz="690" dirty="0"/>
          </a:p>
        </p:txBody>
      </p:sp>
      <p:sp>
        <p:nvSpPr>
          <p:cNvPr id="45" name="Shape 43"/>
          <p:cNvSpPr/>
          <p:nvPr/>
        </p:nvSpPr>
        <p:spPr>
          <a:xfrm>
            <a:off x="566928" y="6126480"/>
            <a:ext cx="11055096" cy="219456"/>
          </a:xfrm>
          <a:prstGeom prst="roundRect">
            <a:avLst>
              <a:gd name="adj" fmla="val 33333"/>
            </a:avLst>
          </a:prstGeom>
          <a:solidFill>
            <a:srgbClr val="FFF3E2"/>
          </a:solidFill>
          <a:ln w="10160">
            <a:solidFill>
              <a:srgbClr val="FFF3E2"/>
            </a:solidFill>
            <a:prstDash val="solid"/>
          </a:ln>
        </p:spPr>
      </p:sp>
      <p:sp>
        <p:nvSpPr>
          <p:cNvPr id="46" name="Text 44"/>
          <p:cNvSpPr txBox="1"/>
          <p:nvPr/>
        </p:nvSpPr>
        <p:spPr>
          <a:xfrm>
            <a:off x="713232" y="6144768"/>
            <a:ext cx="10771632" cy="173736"/>
          </a:xfrm>
          <a:prstGeom prst="rect">
            <a:avLst/>
          </a:prstGeom>
          <a:noFill/>
          <a:ln/>
        </p:spPr>
        <p:txBody>
          <a:bodyPr wrap="square" lIns="508" tIns="508" rIns="508" bIns="508" rtlCol="0" anchor="ctr">
            <a:normAutofit/>
          </a:bodyPr>
          <a:lstStyle/>
          <a:p>
            <a:pPr algn="ctr" indent="0" marL="0">
              <a:buNone/>
            </a:pPr>
            <a:r>
              <a:rPr lang="en-US" sz="790" b="1" dirty="0">
                <a:solidFill>
                  <a:srgbClr val="84510B"/>
                </a:solidFill>
                <a:latin typeface="Aptos" pitchFamily="34" charset="0"/>
                <a:ea typeface="Aptos" pitchFamily="34" charset="-122"/>
                <a:cs typeface="Aptos" pitchFamily="34" charset="-120"/>
              </a:rPr>
              <a:t>Accuracy note: Amazon sources above document published guidance and a 2007 design paper; the architecture diagrams here are conceptual, not a verified map of Amazon production systems.</a:t>
            </a:r>
            <a:endParaRPr lang="en-US" sz="7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Backend Architecture and System Design: An Amazon E-Commerce Case Study</dc:title>
  <dc:subject>Beginner-friendly backend architecture and e-commerce system design</dc:subject>
  <dc:creator>OpenAI</dc:creator>
  <cp:lastModifiedBy>OpenAI</cp:lastModifiedBy>
  <cp:revision>1</cp:revision>
  <dcterms:created xsi:type="dcterms:W3CDTF">2026-10-23T06:49:26Z</dcterms:created>
  <dcterms:modified xsi:type="dcterms:W3CDTF">2026-10-23T06:49:26Z</dcterms:modified>
</cp:coreProperties>
</file>