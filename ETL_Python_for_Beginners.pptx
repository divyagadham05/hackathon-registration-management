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0" y="0"/>
            <a:ext cx="4206240" cy="685800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949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Aptos"/>
              </a:rPr>
              <a:t>A BEGINNER'S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949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4F7FB"/>
                </a:solidFill>
                <a:latin typeface="Aptos"/>
              </a:rPr>
              <a:t>ETL with
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657600"/>
            <a:ext cx="6126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A9B8CC"/>
                </a:solidFill>
                <a:latin typeface="Aptos"/>
              </a:rPr>
              <a:t>Turn raw data into reliable, useful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4800600"/>
            <a:ext cx="2057400" cy="438912"/>
          </a:xfrm>
          <a:prstGeom prst="roundRect">
            <a:avLst>
              <a:gd name="adj" fmla="val 12000"/>
            </a:avLst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91032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B1220"/>
                </a:solidFill>
                <a:latin typeface="Aptos"/>
              </a:rPr>
              <a:t>7 SLIDES  •  ~5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08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72A7FF"/>
                </a:solidFill>
                <a:latin typeface="Aptos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5D0BA"/>
                </a:solidFill>
                <a:latin typeface="Aptos"/>
              </a:rPr>
              <a:t>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9776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C66D"/>
                </a:solidFill>
                <a:latin typeface="Aptos"/>
              </a:rPr>
              <a:t>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93392"/>
            <a:ext cx="2651760" cy="32004"/>
          </a:xfrm>
          <a:prstGeom prst="rect">
            <a:avLst/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3227832"/>
            <a:ext cx="2651760" cy="32004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4462272"/>
            <a:ext cx="2651760" cy="32004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6144768"/>
            <a:ext cx="6766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A practical first look at data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630936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9B8CC"/>
                </a:solidFill>
                <a:latin typeface="Aptos"/>
              </a:rPr>
              <a:t>PYTHON  •  PANDAS  • 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01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B"/>
                </a:solidFill>
                <a:latin typeface="Aptos"/>
              </a:rPr>
              <a:t>ETL: three steps, one data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594360" cy="4114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9224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9B8CC"/>
                </a:solidFill>
                <a:latin typeface="Aptos"/>
              </a:rPr>
              <a:t>ETL WITH PYTHON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A7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3230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72A7FF"/>
                </a:solidFill>
                <a:latin typeface="Aptos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71216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Aptos"/>
              </a:rPr>
              <a:t>Read data from 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64408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CSV • Excel • API •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5603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9B8C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1828800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43230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35D0BA"/>
                </a:solidFill>
                <a:latin typeface="Aptos"/>
              </a:rP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871216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Aptos"/>
              </a:rPr>
              <a:t>Clean and reshape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3264408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Fix types • remove 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25603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9B8C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1828800"/>
            <a:ext cx="3337560" cy="1874519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1936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C66D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1936" y="243230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C66D"/>
                </a:solidFill>
                <a:latin typeface="Aptos"/>
              </a:rPr>
              <a:t>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2871216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Aptos"/>
              </a:rPr>
              <a:t>Save it where it is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3264408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CSV • database •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60520"/>
            <a:ext cx="10881360" cy="123444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07408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Think of ETL like preparing a meal: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1888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35D0BA"/>
                </a:solidFill>
                <a:latin typeface="Aptos"/>
              </a:rPr>
              <a:t>gather ingredients  →  prepare them  →  serve the finished dish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4243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A pipeline is simply a repeatable set of steps that moves data from A to 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02 / THE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B"/>
                </a:solidFill>
                <a:latin typeface="Aptos"/>
              </a:rPr>
              <a:t>Python is the glue between your data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594360" cy="4114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9224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9B8CC"/>
                </a:solidFill>
                <a:latin typeface="Aptos"/>
              </a:rPr>
              <a:t>ETL WITH PYTHON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4767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85415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Read tabular data, clean columns, filter rows, and write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9067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28415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Fetch data from web APIs (when your source is an API).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3367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SQLAlchemy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71416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Connect Python to many relational databases.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074920" cy="333756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15184"/>
            <a:ext cx="4389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4F7FB"/>
                </a:solidFill>
                <a:latin typeface="Aptos"/>
              </a:rPr>
              <a:t>CSV  →  pandas  → 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10128"/>
            <a:ext cx="4160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8CC"/>
                </a:solidFill>
                <a:latin typeface="Aptos"/>
              </a:rPr>
              <a:t>No server or database needed for your first pipeline.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2245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361688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Consolas"/>
              </a:rPr>
              <a:t>pip install 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8CC"/>
                </a:solidFill>
                <a:latin typeface="Aptos"/>
              </a:rPr>
              <a:t>Install only the tools your source and destination require.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9B8CC"/>
                </a:solidFill>
                <a:latin typeface="Aptos"/>
              </a:rPr>
              <a:t>Typical sources: files, APIs, spreadsheets, and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03 / FOLLOW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B"/>
                </a:solidFill>
                <a:latin typeface="Aptos"/>
              </a:rPr>
              <a:t>Your first pipeline: clean a 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594360" cy="4114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9224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9B8CC"/>
                </a:solidFill>
                <a:latin typeface="Aptos"/>
              </a:rPr>
              <a:t>ETL WITH PYTHON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537960" cy="4297680"/>
          </a:xfrm>
          <a:prstGeom prst="roundRect">
            <a:avLst>
              <a:gd name="adj" fmla="val 12000"/>
            </a:avLst>
          </a:prstGeom>
          <a:solidFill>
            <a:srgbClr val="09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29968"/>
            <a:ext cx="5989320" cy="3840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A9B8CC"/>
                </a:solidFill>
                <a:latin typeface="Consolas"/>
              </a:rPr>
              <a:t>from pathlib import Path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A9B8CC"/>
                </a:solidFill>
                <a:latin typeface="Consolas"/>
              </a:rPr>
              <a:t>import pandas as pd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A9B8CC"/>
                </a:solidFill>
                <a:latin typeface="Consolas"/>
              </a:rPr>
              <a:t> 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4F7FB"/>
                </a:solidFill>
                <a:latin typeface="Consolas"/>
              </a:rPr>
              <a:t>df = pd.read_csv("data/orders.csv")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4F7FB"/>
                </a:solidFill>
                <a:latin typeface="Consolas"/>
              </a:rPr>
              <a:t>df.columns = df.columns.str.strip().str.lower()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4F7FB"/>
                </a:solidFill>
                <a:latin typeface="Consolas"/>
              </a:rPr>
              <a:t>df = df.drop_duplicates()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4F7FB"/>
                </a:solidFill>
                <a:latin typeface="Consolas"/>
              </a:rPr>
              <a:t>df["amount"] = pd.to_numeric(df["amount"], errors="coerce")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4F7FB"/>
                </a:solidFill>
                <a:latin typeface="Consolas"/>
              </a:rPr>
              <a:t>df = df.dropna(subset=["order_id", "amount"])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A9B8CC"/>
                </a:solidFill>
                <a:latin typeface="Consolas"/>
              </a:rPr>
              <a:t> 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5D0BA"/>
                </a:solidFill>
                <a:latin typeface="Consolas"/>
              </a:rPr>
              <a:t>out = Path("output/orders_clean.csv")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5D0BA"/>
                </a:solidFill>
                <a:latin typeface="Consolas"/>
              </a:rPr>
              <a:t>out.parent.mkdir(parents=True, exist_ok=True)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5D0BA"/>
                </a:solidFill>
                <a:latin typeface="Consolas"/>
              </a:rPr>
              <a:t>df.to_csv(out, index=False)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03911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965960"/>
            <a:ext cx="3520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7FB"/>
                </a:solidFill>
                <a:latin typeface="Aptos"/>
              </a:rP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76856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Read the source file into a DataFrame.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09067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017520"/>
            <a:ext cx="3520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7FB"/>
                </a:solidFill>
                <a:latin typeface="Aptos"/>
              </a:rP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328415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Standardize headers, remove duplicate rows, convert amounts, and drop unusable rows.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69087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617720"/>
            <a:ext cx="3520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7FB"/>
                </a:solidFill>
                <a:latin typeface="Aptos"/>
              </a:rPr>
              <a:t>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928616"/>
            <a:ext cx="3474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Create the output folder and save a clean CSV.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81344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8CC"/>
                </a:solidFill>
                <a:latin typeface="Consolas"/>
              </a:rPr>
              <a:t>Install pandas first:  pip install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04 / A TINY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B"/>
                </a:solidFill>
                <a:latin typeface="Aptos"/>
              </a:rPr>
              <a:t>Transformation turns rows into usable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594360" cy="4114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9224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9B8CC"/>
                </a:solidFill>
                <a:latin typeface="Aptos"/>
              </a:rPr>
              <a:t>ETL WITH PYTHON  •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2A7FF"/>
                </a:solidFill>
                <a:latin typeface="Aptos"/>
              </a:rPr>
              <a:t>INPUT  •  orders.csv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5D0BA"/>
                </a:solidFill>
                <a:latin typeface="Aptos"/>
              </a:rPr>
              <a:t>OUTPUT  •  orders_clean.csv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663440" cy="251460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4663440" cy="50292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38658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A7FF"/>
                </a:solidFill>
                <a:latin typeface="Aptos"/>
              </a:rPr>
              <a:t>order_id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8658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A7FF"/>
                </a:solidFill>
                <a:latin typeface="Aptos"/>
              </a:rPr>
              <a:t>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9535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4F7FB"/>
                </a:solidFill>
                <a:latin typeface="Aptos"/>
              </a:rPr>
              <a:t>A101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95351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4F7FB"/>
                </a:solidFill>
                <a:latin typeface="Aptos"/>
              </a:rPr>
              <a:t>25.00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3" y="3264408"/>
            <a:ext cx="4160520" cy="10972"/>
          </a:xfrm>
          <a:prstGeom prst="rect">
            <a:avLst/>
          </a:prstGeom>
          <a:solidFill>
            <a:srgbClr val="2A3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45643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4F7FB"/>
                </a:solidFill>
                <a:latin typeface="Aptos"/>
              </a:rPr>
              <a:t>A101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45643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4F7FB"/>
                </a:solidFill>
                <a:latin typeface="Aptos"/>
              </a:rPr>
              <a:t>25.00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3" y="3767328"/>
            <a:ext cx="4160520" cy="10972"/>
          </a:xfrm>
          <a:prstGeom prst="rect">
            <a:avLst/>
          </a:prstGeom>
          <a:solidFill>
            <a:srgbClr val="2A3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95935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4F7FB"/>
                </a:solidFill>
                <a:latin typeface="Aptos"/>
              </a:rPr>
              <a:t>A102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95935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4F7FB"/>
                </a:solidFill>
                <a:latin typeface="Aptos"/>
              </a:rPr>
              <a:t>blank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40280"/>
            <a:ext cx="4663440" cy="251460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240280"/>
            <a:ext cx="4663440" cy="502920"/>
          </a:xfrm>
          <a:prstGeom prst="roundRect">
            <a:avLst>
              <a:gd name="adj" fmla="val 12000"/>
            </a:avLst>
          </a:prstGeom>
          <a:solidFill>
            <a:srgbClr val="18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238658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Aptos"/>
              </a:rPr>
              <a:t>order_id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38658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Aptos"/>
              </a:rPr>
              <a:t>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9535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4F7FB"/>
                </a:solidFill>
                <a:latin typeface="Aptos"/>
              </a:rPr>
              <a:t>A101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95351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4F7FB"/>
                </a:solidFill>
                <a:latin typeface="Aptos"/>
              </a:rPr>
              <a:t>25.00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310896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9B8CC"/>
                </a:solidFill>
                <a:latin typeface="Aptos"/>
              </a:rPr>
              <a:t>Remove duplicate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6576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9B8CC"/>
                </a:solidFill>
                <a:latin typeface="Aptos"/>
              </a:rPr>
              <a:t>Drop rows missing required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21808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C66D"/>
                </a:solidFill>
                <a:latin typeface="Aptos"/>
              </a:rPr>
              <a:t>Only remove records when the rule makes sense for your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4243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9B8CC"/>
                </a:solidFill>
                <a:latin typeface="Aptos"/>
              </a:rPr>
              <a:t>Define the cleaning rules with the people who use the data—never guess what a blank means.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05 / BEYOND THE FIRST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B"/>
                </a:solidFill>
                <a:latin typeface="Aptos"/>
              </a:rPr>
              <a:t>Good pipelines are trustworthy and repeatable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594360" cy="4114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9224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9B8CC"/>
                </a:solidFill>
                <a:latin typeface="Aptos"/>
              </a:rPr>
              <a:t>ETL WITH PYTHON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5740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A7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2082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6829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Check required columns, types, and row 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74519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7" y="205740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8B9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599" y="202082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Handle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236829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Log what failed; avoid silently skipping problems.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0896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29184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5526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Run safely again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0273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Make reruns predictable; avoid duplicate loads.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10896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329184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C66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325526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Protect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360273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Keep passwords and API keys out of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4340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52628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2A7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8970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Automate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3717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Schedule only after the pipeline works by hand.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34340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7" y="452628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5D0BA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599" y="448970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ptos"/>
              </a:rPr>
              <a:t>Check the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4837176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8CC"/>
                </a:solidFill>
                <a:latin typeface="Aptos"/>
              </a:rPr>
              <a:t>Compare input/output counts and inspect samples.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338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5D0BA"/>
                </a:solidFill>
                <a:latin typeface="Aptos"/>
              </a:rPr>
              <a:t>Start with a small file. Add checks before adding complexity.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D0BA"/>
                </a:solidFill>
                <a:latin typeface="Aptos"/>
              </a:rPr>
              <a:t>06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B"/>
                </a:solidFill>
                <a:latin typeface="Aptos"/>
              </a:rPr>
              <a:t>You now know the shape of an ETL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89888"/>
            <a:ext cx="594360" cy="41148"/>
          </a:xfrm>
          <a:prstGeom prst="rect">
            <a:avLst/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9224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9B8CC"/>
                </a:solidFill>
                <a:latin typeface="Aptos"/>
              </a:rPr>
              <a:t>ETL WITH PYTHON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44200" cy="1207008"/>
          </a:xfrm>
          <a:prstGeom prst="roundRect">
            <a:avLst>
              <a:gd name="adj" fmla="val 12000"/>
            </a:avLst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72A7FF"/>
                </a:solidFill>
                <a:latin typeface="Aptos"/>
              </a:rP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57984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9B8CC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2219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5D0BA"/>
                </a:solidFill>
                <a:latin typeface="Aptos"/>
              </a:rPr>
              <a:t>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57984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9B8CC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2219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66D"/>
                </a:solidFill>
                <a:latin typeface="Aptos"/>
              </a:rPr>
              <a:t>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4F7FB"/>
                </a:solidFill>
                <a:latin typeface="Aptos"/>
              </a:rPr>
              <a:t>Python + pandas can automate repetitive data preparation.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432511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35D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251960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7FB"/>
                </a:solidFill>
                <a:latin typeface="Aptos"/>
              </a:rPr>
              <a:t>Try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562856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Use a copy of a small CSV and document each cleaning rule.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2511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72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25196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7FB"/>
                </a:solidFill>
                <a:latin typeface="Aptos"/>
              </a:rPr>
              <a:t>Then grow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62856"/>
            <a:ext cx="4297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8CC"/>
                </a:solidFill>
                <a:latin typeface="Aptos"/>
              </a:rPr>
              <a:t>Add validation, logging, and a real destination as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42432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9B8CC"/>
                </a:solidFill>
                <a:latin typeface="Aptos"/>
              </a:rPr>
              <a:t>NEXT STEP  •  Run the example on your own sample orders.csv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